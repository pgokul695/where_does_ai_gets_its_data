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embeddedFontLst>
    <p:embeddedFont>
      <p:font typeface="Inter SemiBold"/>
      <p:regular r:id="rId35"/>
      <p:bold r:id="rId36"/>
      <p:italic r:id="rId37"/>
      <p:boldItalic r:id="rId38"/>
    </p:embeddedFont>
    <p:embeddedFont>
      <p:font typeface="Inter"/>
      <p:bold r:id="rId39"/>
      <p:boldItalic r:id="rId40"/>
    </p:embeddedFont>
    <p:embeddedFont>
      <p:font typeface="Space Grotesk Medium"/>
      <p:regular r:id="rId41"/>
      <p:bold r:id="rId42"/>
    </p:embeddedFont>
    <p:embeddedFont>
      <p:font typeface="Inter Medium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-boldItalic.fntdata"/><Relationship Id="rId20" Type="http://schemas.openxmlformats.org/officeDocument/2006/relationships/slide" Target="slides/slide15.xml"/><Relationship Id="rId42" Type="http://schemas.openxmlformats.org/officeDocument/2006/relationships/font" Target="fonts/SpaceGroteskMedium-bold.fntdata"/><Relationship Id="rId41" Type="http://schemas.openxmlformats.org/officeDocument/2006/relationships/font" Target="fonts/SpaceGroteskMedium-regular.fntdata"/><Relationship Id="rId22" Type="http://schemas.openxmlformats.org/officeDocument/2006/relationships/slide" Target="slides/slide17.xml"/><Relationship Id="rId44" Type="http://schemas.openxmlformats.org/officeDocument/2006/relationships/font" Target="fonts/InterMedium-bold.fntdata"/><Relationship Id="rId21" Type="http://schemas.openxmlformats.org/officeDocument/2006/relationships/slide" Target="slides/slide16.xml"/><Relationship Id="rId43" Type="http://schemas.openxmlformats.org/officeDocument/2006/relationships/font" Target="fonts/InterMedium-regular.fntdata"/><Relationship Id="rId24" Type="http://schemas.openxmlformats.org/officeDocument/2006/relationships/slide" Target="slides/slide19.xml"/><Relationship Id="rId46" Type="http://schemas.openxmlformats.org/officeDocument/2006/relationships/font" Target="fonts/InterMedium-boldItalic.fntdata"/><Relationship Id="rId23" Type="http://schemas.openxmlformats.org/officeDocument/2006/relationships/slide" Target="slides/slide18.xml"/><Relationship Id="rId45" Type="http://schemas.openxmlformats.org/officeDocument/2006/relationships/font" Target="fonts/InterMedium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InterSemiBold-regular.fnt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InterSemiBold-italic.fntdata"/><Relationship Id="rId14" Type="http://schemas.openxmlformats.org/officeDocument/2006/relationships/slide" Target="slides/slide9.xml"/><Relationship Id="rId36" Type="http://schemas.openxmlformats.org/officeDocument/2006/relationships/font" Target="fonts/InterSemiBold-bold.fntdata"/><Relationship Id="rId17" Type="http://schemas.openxmlformats.org/officeDocument/2006/relationships/slide" Target="slides/slide12.xml"/><Relationship Id="rId39" Type="http://schemas.openxmlformats.org/officeDocument/2006/relationships/font" Target="fonts/Inter-bold.fntdata"/><Relationship Id="rId16" Type="http://schemas.openxmlformats.org/officeDocument/2006/relationships/slide" Target="slides/slide11.xml"/><Relationship Id="rId38" Type="http://schemas.openxmlformats.org/officeDocument/2006/relationships/font" Target="fonts/InterSemiBold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95072c8c8_1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95072c8c8_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95072c8c8_0_3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95072c8c8_0_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f95072c8c8_0_5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f95072c8c8_0_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f95072c8c8_0_7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f95072c8c8_0_7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f95072c8c8_0_9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f95072c8c8_0_9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f95072c8c8_0_1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f95072c8c8_0_1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f95072c8c8_0_1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f95072c8c8_0_1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f95072c8c8_0_14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3f95072c8c8_0_1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f95072c8c8_0_16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f95072c8c8_0_16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f95072c8c8_0_18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3f95072c8c8_0_18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f95072c8c8_0_20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3f95072c8c8_0_20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f95072c8c8_0_2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" name="Google Shape;605;g3f95072c8c8_0_2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3f95072c8c8_121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8" name="Google Shape;648;g3f95072c8c8_121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3f95072c8c8_121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6" name="Google Shape;696;g3f95072c8c8_121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3f95072c8c8_121_4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3f95072c8c8_121_4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3f95072c8c8_121_6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3" name="Google Shape;783;g3f95072c8c8_121_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3f95072c8c8_121_8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7" name="Google Shape;827;g3f95072c8c8_121_8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3f95072c8c8_121_9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4" name="Google Shape;874;g3f95072c8c8_121_9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3f95072c8c8_121_1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3f95072c8c8_121_1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g3f95072c8c8_121_13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7" name="Google Shape;947;g3f95072c8c8_121_1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3f95072c8c8_121_14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1" name="Google Shape;991;g3f95072c8c8_121_14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g3f95072c8c8_121_16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5" name="Google Shape;1035;g3f95072c8c8_121_16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g3f95072c8c8_195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9" name="Google Shape;1079;g3f95072c8c8_195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g3f95072c8c8_195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3" name="Google Shape;1123;g3f95072c8c8_195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g3f95072c8c8_195_4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7" name="Google Shape;1167;g3f95072c8c8_195_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g3f95072c8c8_195_6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1" name="Google Shape;1211;g3f95072c8c8_195_6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g3f95072c8c8_195_8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9" name="Google Shape;1299;g3f95072c8c8_195_8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7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Google Shape;1338;g3f95072c8c8_195_10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9" name="Google Shape;1339;g3f95072c8c8_195_10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7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g3f95072c8c8_195_1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9" name="Google Shape;1379;g3f95072c8c8_195_1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95072c8c8_14_0)">
  <p:cSld name="Generated (g3f95072c8c8_14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1.png"/><Relationship Id="rId6" Type="http://schemas.openxmlformats.org/officeDocument/2006/relationships/image" Target="../media/image23.png"/><Relationship Id="rId7" Type="http://schemas.openxmlformats.org/officeDocument/2006/relationships/image" Target="../media/image13.png"/><Relationship Id="rId8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9" Type="http://schemas.openxmlformats.org/officeDocument/2006/relationships/image" Target="../media/image8.png"/><Relationship Id="rId5" Type="http://schemas.openxmlformats.org/officeDocument/2006/relationships/image" Target="../media/image1.png"/><Relationship Id="rId6" Type="http://schemas.openxmlformats.org/officeDocument/2006/relationships/image" Target="../media/image23.png"/><Relationship Id="rId7" Type="http://schemas.openxmlformats.org/officeDocument/2006/relationships/image" Target="../media/image13.png"/><Relationship Id="rId8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9" Type="http://schemas.openxmlformats.org/officeDocument/2006/relationships/image" Target="../media/image19.png"/><Relationship Id="rId5" Type="http://schemas.openxmlformats.org/officeDocument/2006/relationships/image" Target="../media/image23.png"/><Relationship Id="rId6" Type="http://schemas.openxmlformats.org/officeDocument/2006/relationships/image" Target="../media/image13.png"/><Relationship Id="rId7" Type="http://schemas.openxmlformats.org/officeDocument/2006/relationships/image" Target="../media/image20.png"/><Relationship Id="rId8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://where_does_ai_gets_its_data" TargetMode="External"/><Relationship Id="rId4" Type="http://schemas.openxmlformats.org/officeDocument/2006/relationships/hyperlink" Target="http://where_does_ai_gets_its_data" TargetMode="External"/><Relationship Id="rId5" Type="http://schemas.openxmlformats.org/officeDocument/2006/relationships/hyperlink" Target="https://gokulp.in" TargetMode="External"/><Relationship Id="rId6" Type="http://schemas.openxmlformats.org/officeDocument/2006/relationships/hyperlink" Target="mailto:me@gokulp.in" TargetMode="External"/><Relationship Id="rId7" Type="http://schemas.openxmlformats.org/officeDocument/2006/relationships/hyperlink" Target="https://linkedin.com/in/pgokul695" TargetMode="External"/><Relationship Id="rId8" Type="http://schemas.openxmlformats.org/officeDocument/2006/relationships/hyperlink" Target="https://github.com/pgokul695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56" name="Google Shape;56;p14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4F4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4"/>
            <p:cNvSpPr/>
            <p:nvPr/>
          </p:nvSpPr>
          <p:spPr>
            <a:xfrm>
              <a:off x="5715000" y="0"/>
              <a:ext cx="3429000" cy="5143500"/>
            </a:xfrm>
            <a:prstGeom prst="rect">
              <a:avLst/>
            </a:prstGeom>
            <a:solidFill>
              <a:srgbClr val="0044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58" name="Google Shape;58;p14"/>
            <p:cNvCxnSpPr/>
            <p:nvPr/>
          </p:nvCxnSpPr>
          <p:spPr>
            <a:xfrm>
              <a:off x="5715000" y="0"/>
              <a:ext cx="0" cy="5143500"/>
            </a:xfrm>
            <a:prstGeom prst="straightConnector1">
              <a:avLst/>
            </a:prstGeom>
            <a:solidFill>
              <a:srgbClr val="FFFFFF"/>
            </a:solidFill>
            <a:ln cap="flat" cmpd="sng" w="762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59" name="Google Shape;59;p14"/>
            <p:cNvGrpSpPr/>
            <p:nvPr/>
          </p:nvGrpSpPr>
          <p:grpSpPr>
            <a:xfrm>
              <a:off x="6153150" y="438150"/>
              <a:ext cx="457200" cy="457200"/>
              <a:chOff x="57150" y="57150"/>
              <a:chExt cx="457200" cy="457200"/>
            </a:xfrm>
          </p:grpSpPr>
          <p:sp>
            <p:nvSpPr>
              <p:cNvPr id="60" name="Google Shape;60;p14"/>
              <p:cNvSpPr/>
              <p:nvPr/>
            </p:nvSpPr>
            <p:spPr>
              <a:xfrm>
                <a:off x="57150" y="57150"/>
                <a:ext cx="76200" cy="76200"/>
              </a:xfrm>
              <a:prstGeom prst="ellipse">
                <a:avLst/>
              </a:prstGeom>
              <a:solidFill>
                <a:srgbClr val="11111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14"/>
              <p:cNvSpPr/>
              <p:nvPr/>
            </p:nvSpPr>
            <p:spPr>
              <a:xfrm>
                <a:off x="247650" y="57150"/>
                <a:ext cx="76200" cy="76200"/>
              </a:xfrm>
              <a:prstGeom prst="ellipse">
                <a:avLst/>
              </a:prstGeom>
              <a:solidFill>
                <a:srgbClr val="11111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14"/>
              <p:cNvSpPr/>
              <p:nvPr/>
            </p:nvSpPr>
            <p:spPr>
              <a:xfrm>
                <a:off x="438150" y="57150"/>
                <a:ext cx="76200" cy="76200"/>
              </a:xfrm>
              <a:prstGeom prst="ellipse">
                <a:avLst/>
              </a:prstGeom>
              <a:solidFill>
                <a:srgbClr val="11111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" name="Google Shape;63;p14"/>
              <p:cNvSpPr/>
              <p:nvPr/>
            </p:nvSpPr>
            <p:spPr>
              <a:xfrm>
                <a:off x="57150" y="247650"/>
                <a:ext cx="76200" cy="76200"/>
              </a:xfrm>
              <a:prstGeom prst="ellipse">
                <a:avLst/>
              </a:prstGeom>
              <a:solidFill>
                <a:srgbClr val="11111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" name="Google Shape;64;p14"/>
              <p:cNvSpPr/>
              <p:nvPr/>
            </p:nvSpPr>
            <p:spPr>
              <a:xfrm>
                <a:off x="247650" y="247650"/>
                <a:ext cx="76200" cy="76200"/>
              </a:xfrm>
              <a:prstGeom prst="ellipse">
                <a:avLst/>
              </a:prstGeom>
              <a:solidFill>
                <a:srgbClr val="11111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" name="Google Shape;65;p14"/>
              <p:cNvSpPr/>
              <p:nvPr/>
            </p:nvSpPr>
            <p:spPr>
              <a:xfrm>
                <a:off x="438150" y="247650"/>
                <a:ext cx="76200" cy="76200"/>
              </a:xfrm>
              <a:prstGeom prst="ellipse">
                <a:avLst/>
              </a:prstGeom>
              <a:solidFill>
                <a:srgbClr val="11111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14"/>
              <p:cNvSpPr/>
              <p:nvPr/>
            </p:nvSpPr>
            <p:spPr>
              <a:xfrm>
                <a:off x="57150" y="438150"/>
                <a:ext cx="76200" cy="76200"/>
              </a:xfrm>
              <a:prstGeom prst="ellipse">
                <a:avLst/>
              </a:prstGeom>
              <a:solidFill>
                <a:srgbClr val="11111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" name="Google Shape;67;p14"/>
              <p:cNvSpPr/>
              <p:nvPr/>
            </p:nvSpPr>
            <p:spPr>
              <a:xfrm>
                <a:off x="247650" y="438150"/>
                <a:ext cx="76200" cy="76200"/>
              </a:xfrm>
              <a:prstGeom prst="ellipse">
                <a:avLst/>
              </a:prstGeom>
              <a:solidFill>
                <a:srgbClr val="11111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p14"/>
              <p:cNvSpPr/>
              <p:nvPr/>
            </p:nvSpPr>
            <p:spPr>
              <a:xfrm>
                <a:off x="438150" y="438150"/>
                <a:ext cx="76200" cy="76200"/>
              </a:xfrm>
              <a:prstGeom prst="ellipse">
                <a:avLst/>
              </a:prstGeom>
              <a:solidFill>
                <a:srgbClr val="11111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9" name="Google Shape;69;p14"/>
            <p:cNvGrpSpPr/>
            <p:nvPr/>
          </p:nvGrpSpPr>
          <p:grpSpPr>
            <a:xfrm>
              <a:off x="8248650" y="438150"/>
              <a:ext cx="457200" cy="457200"/>
              <a:chOff x="57150" y="57150"/>
              <a:chExt cx="457200" cy="457200"/>
            </a:xfrm>
          </p:grpSpPr>
          <p:sp>
            <p:nvSpPr>
              <p:cNvPr id="70" name="Google Shape;70;p14"/>
              <p:cNvSpPr/>
              <p:nvPr/>
            </p:nvSpPr>
            <p:spPr>
              <a:xfrm>
                <a:off x="57150" y="57150"/>
                <a:ext cx="76200" cy="76200"/>
              </a:xfrm>
              <a:prstGeom prst="ellipse">
                <a:avLst/>
              </a:prstGeom>
              <a:solidFill>
                <a:srgbClr val="11111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" name="Google Shape;71;p14"/>
              <p:cNvSpPr/>
              <p:nvPr/>
            </p:nvSpPr>
            <p:spPr>
              <a:xfrm>
                <a:off x="247650" y="57150"/>
                <a:ext cx="76200" cy="76200"/>
              </a:xfrm>
              <a:prstGeom prst="ellipse">
                <a:avLst/>
              </a:prstGeom>
              <a:solidFill>
                <a:srgbClr val="11111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14"/>
              <p:cNvSpPr/>
              <p:nvPr/>
            </p:nvSpPr>
            <p:spPr>
              <a:xfrm>
                <a:off x="438150" y="57150"/>
                <a:ext cx="76200" cy="76200"/>
              </a:xfrm>
              <a:prstGeom prst="ellipse">
                <a:avLst/>
              </a:prstGeom>
              <a:solidFill>
                <a:srgbClr val="11111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14"/>
              <p:cNvSpPr/>
              <p:nvPr/>
            </p:nvSpPr>
            <p:spPr>
              <a:xfrm>
                <a:off x="57150" y="247650"/>
                <a:ext cx="76200" cy="76200"/>
              </a:xfrm>
              <a:prstGeom prst="ellipse">
                <a:avLst/>
              </a:prstGeom>
              <a:solidFill>
                <a:srgbClr val="11111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14"/>
              <p:cNvSpPr/>
              <p:nvPr/>
            </p:nvSpPr>
            <p:spPr>
              <a:xfrm>
                <a:off x="247650" y="247650"/>
                <a:ext cx="76200" cy="76200"/>
              </a:xfrm>
              <a:prstGeom prst="ellipse">
                <a:avLst/>
              </a:prstGeom>
              <a:solidFill>
                <a:srgbClr val="11111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14"/>
              <p:cNvSpPr/>
              <p:nvPr/>
            </p:nvSpPr>
            <p:spPr>
              <a:xfrm>
                <a:off x="438150" y="247650"/>
                <a:ext cx="76200" cy="76200"/>
              </a:xfrm>
              <a:prstGeom prst="ellipse">
                <a:avLst/>
              </a:prstGeom>
              <a:solidFill>
                <a:srgbClr val="11111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" name="Google Shape;76;p14"/>
              <p:cNvSpPr/>
              <p:nvPr/>
            </p:nvSpPr>
            <p:spPr>
              <a:xfrm>
                <a:off x="57150" y="438150"/>
                <a:ext cx="76200" cy="76200"/>
              </a:xfrm>
              <a:prstGeom prst="ellipse">
                <a:avLst/>
              </a:prstGeom>
              <a:solidFill>
                <a:srgbClr val="11111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" name="Google Shape;77;p14"/>
              <p:cNvSpPr/>
              <p:nvPr/>
            </p:nvSpPr>
            <p:spPr>
              <a:xfrm>
                <a:off x="247650" y="438150"/>
                <a:ext cx="76200" cy="76200"/>
              </a:xfrm>
              <a:prstGeom prst="ellipse">
                <a:avLst/>
              </a:prstGeom>
              <a:solidFill>
                <a:srgbClr val="11111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14"/>
              <p:cNvSpPr/>
              <p:nvPr/>
            </p:nvSpPr>
            <p:spPr>
              <a:xfrm>
                <a:off x="438150" y="438150"/>
                <a:ext cx="76200" cy="76200"/>
              </a:xfrm>
              <a:prstGeom prst="ellipse">
                <a:avLst/>
              </a:prstGeom>
              <a:solidFill>
                <a:srgbClr val="11111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9" name="Google Shape;79;p14"/>
            <p:cNvGrpSpPr/>
            <p:nvPr/>
          </p:nvGrpSpPr>
          <p:grpSpPr>
            <a:xfrm>
              <a:off x="6153150" y="4248150"/>
              <a:ext cx="457200" cy="457200"/>
              <a:chOff x="57150" y="57150"/>
              <a:chExt cx="457200" cy="457200"/>
            </a:xfrm>
          </p:grpSpPr>
          <p:sp>
            <p:nvSpPr>
              <p:cNvPr id="80" name="Google Shape;80;p14"/>
              <p:cNvSpPr/>
              <p:nvPr/>
            </p:nvSpPr>
            <p:spPr>
              <a:xfrm>
                <a:off x="57150" y="57150"/>
                <a:ext cx="76200" cy="76200"/>
              </a:xfrm>
              <a:prstGeom prst="ellipse">
                <a:avLst/>
              </a:prstGeom>
              <a:solidFill>
                <a:srgbClr val="11111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14"/>
              <p:cNvSpPr/>
              <p:nvPr/>
            </p:nvSpPr>
            <p:spPr>
              <a:xfrm>
                <a:off x="247650" y="57150"/>
                <a:ext cx="76200" cy="76200"/>
              </a:xfrm>
              <a:prstGeom prst="ellipse">
                <a:avLst/>
              </a:prstGeom>
              <a:solidFill>
                <a:srgbClr val="11111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" name="Google Shape;82;p14"/>
              <p:cNvSpPr/>
              <p:nvPr/>
            </p:nvSpPr>
            <p:spPr>
              <a:xfrm>
                <a:off x="438150" y="57150"/>
                <a:ext cx="76200" cy="76200"/>
              </a:xfrm>
              <a:prstGeom prst="ellipse">
                <a:avLst/>
              </a:prstGeom>
              <a:solidFill>
                <a:srgbClr val="11111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" name="Google Shape;83;p14"/>
              <p:cNvSpPr/>
              <p:nvPr/>
            </p:nvSpPr>
            <p:spPr>
              <a:xfrm>
                <a:off x="57150" y="247650"/>
                <a:ext cx="76200" cy="76200"/>
              </a:xfrm>
              <a:prstGeom prst="ellipse">
                <a:avLst/>
              </a:prstGeom>
              <a:solidFill>
                <a:srgbClr val="11111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14"/>
              <p:cNvSpPr/>
              <p:nvPr/>
            </p:nvSpPr>
            <p:spPr>
              <a:xfrm>
                <a:off x="247650" y="247650"/>
                <a:ext cx="76200" cy="76200"/>
              </a:xfrm>
              <a:prstGeom prst="ellipse">
                <a:avLst/>
              </a:prstGeom>
              <a:solidFill>
                <a:srgbClr val="11111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" name="Google Shape;85;p14"/>
              <p:cNvSpPr/>
              <p:nvPr/>
            </p:nvSpPr>
            <p:spPr>
              <a:xfrm>
                <a:off x="438150" y="247650"/>
                <a:ext cx="76200" cy="76200"/>
              </a:xfrm>
              <a:prstGeom prst="ellipse">
                <a:avLst/>
              </a:prstGeom>
              <a:solidFill>
                <a:srgbClr val="11111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" name="Google Shape;86;p14"/>
              <p:cNvSpPr/>
              <p:nvPr/>
            </p:nvSpPr>
            <p:spPr>
              <a:xfrm>
                <a:off x="57150" y="438150"/>
                <a:ext cx="76200" cy="76200"/>
              </a:xfrm>
              <a:prstGeom prst="ellipse">
                <a:avLst/>
              </a:prstGeom>
              <a:solidFill>
                <a:srgbClr val="11111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" name="Google Shape;87;p14"/>
              <p:cNvSpPr/>
              <p:nvPr/>
            </p:nvSpPr>
            <p:spPr>
              <a:xfrm>
                <a:off x="247650" y="438150"/>
                <a:ext cx="76200" cy="76200"/>
              </a:xfrm>
              <a:prstGeom prst="ellipse">
                <a:avLst/>
              </a:prstGeom>
              <a:solidFill>
                <a:srgbClr val="11111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" name="Google Shape;88;p14"/>
              <p:cNvSpPr/>
              <p:nvPr/>
            </p:nvSpPr>
            <p:spPr>
              <a:xfrm>
                <a:off x="438150" y="438150"/>
                <a:ext cx="76200" cy="76200"/>
              </a:xfrm>
              <a:prstGeom prst="ellipse">
                <a:avLst/>
              </a:prstGeom>
              <a:solidFill>
                <a:srgbClr val="11111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9" name="Google Shape;89;p14"/>
            <p:cNvGrpSpPr/>
            <p:nvPr/>
          </p:nvGrpSpPr>
          <p:grpSpPr>
            <a:xfrm>
              <a:off x="8248650" y="4248150"/>
              <a:ext cx="457200" cy="457200"/>
              <a:chOff x="57150" y="57150"/>
              <a:chExt cx="457200" cy="457200"/>
            </a:xfrm>
          </p:grpSpPr>
          <p:sp>
            <p:nvSpPr>
              <p:cNvPr id="90" name="Google Shape;90;p14"/>
              <p:cNvSpPr/>
              <p:nvPr/>
            </p:nvSpPr>
            <p:spPr>
              <a:xfrm>
                <a:off x="57150" y="57150"/>
                <a:ext cx="76200" cy="76200"/>
              </a:xfrm>
              <a:prstGeom prst="ellipse">
                <a:avLst/>
              </a:prstGeom>
              <a:solidFill>
                <a:srgbClr val="11111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" name="Google Shape;91;p14"/>
              <p:cNvSpPr/>
              <p:nvPr/>
            </p:nvSpPr>
            <p:spPr>
              <a:xfrm>
                <a:off x="247650" y="57150"/>
                <a:ext cx="76200" cy="76200"/>
              </a:xfrm>
              <a:prstGeom prst="ellipse">
                <a:avLst/>
              </a:prstGeom>
              <a:solidFill>
                <a:srgbClr val="11111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" name="Google Shape;92;p14"/>
              <p:cNvSpPr/>
              <p:nvPr/>
            </p:nvSpPr>
            <p:spPr>
              <a:xfrm>
                <a:off x="438150" y="57150"/>
                <a:ext cx="76200" cy="76200"/>
              </a:xfrm>
              <a:prstGeom prst="ellipse">
                <a:avLst/>
              </a:prstGeom>
              <a:solidFill>
                <a:srgbClr val="11111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14"/>
              <p:cNvSpPr/>
              <p:nvPr/>
            </p:nvSpPr>
            <p:spPr>
              <a:xfrm>
                <a:off x="57150" y="247650"/>
                <a:ext cx="76200" cy="76200"/>
              </a:xfrm>
              <a:prstGeom prst="ellipse">
                <a:avLst/>
              </a:prstGeom>
              <a:solidFill>
                <a:srgbClr val="11111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14"/>
              <p:cNvSpPr/>
              <p:nvPr/>
            </p:nvSpPr>
            <p:spPr>
              <a:xfrm>
                <a:off x="247650" y="247650"/>
                <a:ext cx="76200" cy="76200"/>
              </a:xfrm>
              <a:prstGeom prst="ellipse">
                <a:avLst/>
              </a:prstGeom>
              <a:solidFill>
                <a:srgbClr val="11111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" name="Google Shape;95;p14"/>
              <p:cNvSpPr/>
              <p:nvPr/>
            </p:nvSpPr>
            <p:spPr>
              <a:xfrm>
                <a:off x="438150" y="247650"/>
                <a:ext cx="76200" cy="76200"/>
              </a:xfrm>
              <a:prstGeom prst="ellipse">
                <a:avLst/>
              </a:prstGeom>
              <a:solidFill>
                <a:srgbClr val="11111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" name="Google Shape;96;p14"/>
              <p:cNvSpPr/>
              <p:nvPr/>
            </p:nvSpPr>
            <p:spPr>
              <a:xfrm>
                <a:off x="57150" y="438150"/>
                <a:ext cx="76200" cy="76200"/>
              </a:xfrm>
              <a:prstGeom prst="ellipse">
                <a:avLst/>
              </a:prstGeom>
              <a:solidFill>
                <a:srgbClr val="11111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14"/>
              <p:cNvSpPr/>
              <p:nvPr/>
            </p:nvSpPr>
            <p:spPr>
              <a:xfrm>
                <a:off x="247650" y="438150"/>
                <a:ext cx="76200" cy="76200"/>
              </a:xfrm>
              <a:prstGeom prst="ellipse">
                <a:avLst/>
              </a:prstGeom>
              <a:solidFill>
                <a:srgbClr val="11111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14"/>
              <p:cNvSpPr/>
              <p:nvPr/>
            </p:nvSpPr>
            <p:spPr>
              <a:xfrm>
                <a:off x="438150" y="438150"/>
                <a:ext cx="76200" cy="76200"/>
              </a:xfrm>
              <a:prstGeom prst="ellipse">
                <a:avLst/>
              </a:prstGeom>
              <a:solidFill>
                <a:srgbClr val="11111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9" name="Google Shape;99;p14"/>
            <p:cNvSpPr/>
            <p:nvPr/>
          </p:nvSpPr>
          <p:spPr>
            <a:xfrm>
              <a:off x="8096250" y="476250"/>
              <a:ext cx="381000" cy="3810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75000" y="45000"/>
                  </a:lnTo>
                  <a:lnTo>
                    <a:pt x="120000" y="60000"/>
                  </a:lnTo>
                  <a:lnTo>
                    <a:pt x="75000" y="75000"/>
                  </a:lnTo>
                  <a:lnTo>
                    <a:pt x="60000" y="120000"/>
                  </a:lnTo>
                  <a:lnTo>
                    <a:pt x="45000" y="75000"/>
                  </a:lnTo>
                  <a:lnTo>
                    <a:pt x="0" y="60000"/>
                  </a:lnTo>
                  <a:lnTo>
                    <a:pt x="45000" y="45000"/>
                  </a:lnTo>
                  <a:close/>
                </a:path>
              </a:pathLst>
            </a:custGeom>
            <a:solidFill>
              <a:srgbClr val="FFCC00"/>
            </a:solidFill>
            <a:ln cap="flat" cmpd="sng" w="38100">
              <a:solidFill>
                <a:srgbClr val="11111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0" name="Google Shape;100;p14"/>
            <p:cNvGrpSpPr/>
            <p:nvPr/>
          </p:nvGrpSpPr>
          <p:grpSpPr>
            <a:xfrm>
              <a:off x="7048500" y="3667125"/>
              <a:ext cx="762000" cy="666675"/>
              <a:chOff x="0" y="47625"/>
              <a:chExt cx="762000" cy="666675"/>
            </a:xfrm>
          </p:grpSpPr>
          <p:sp>
            <p:nvSpPr>
              <p:cNvPr id="101" name="Google Shape;101;p14"/>
              <p:cNvSpPr/>
              <p:nvPr/>
            </p:nvSpPr>
            <p:spPr>
              <a:xfrm>
                <a:off x="0" y="190500"/>
                <a:ext cx="762000" cy="5238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0" y="87273"/>
                    </a:lnTo>
                    <a:cubicBezTo>
                      <a:pt x="0" y="105348"/>
                      <a:pt x="26863" y="120000"/>
                      <a:pt x="60000" y="120000"/>
                    </a:cubicBezTo>
                    <a:cubicBezTo>
                      <a:pt x="93137" y="120000"/>
                      <a:pt x="120000" y="105348"/>
                      <a:pt x="120000" y="87273"/>
                    </a:cubicBezTo>
                    <a:lnTo>
                      <a:pt x="120000" y="0"/>
                    </a:lnTo>
                  </a:path>
                </a:pathLst>
              </a:custGeom>
              <a:solidFill>
                <a:srgbClr val="00E676"/>
              </a:solidFill>
              <a:ln cap="flat" cmpd="sng" w="3810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14"/>
              <p:cNvSpPr/>
              <p:nvPr/>
            </p:nvSpPr>
            <p:spPr>
              <a:xfrm>
                <a:off x="0" y="47625"/>
                <a:ext cx="762000" cy="285900"/>
              </a:xfrm>
              <a:prstGeom prst="ellipse">
                <a:avLst/>
              </a:prstGeom>
              <a:solidFill>
                <a:srgbClr val="00E676"/>
              </a:solidFill>
              <a:ln cap="flat" cmpd="sng" w="3810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" name="Google Shape;103;p14"/>
              <p:cNvSpPr/>
              <p:nvPr/>
            </p:nvSpPr>
            <p:spPr>
              <a:xfrm>
                <a:off x="0" y="238125"/>
                <a:ext cx="762000" cy="2859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3810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4" name="Google Shape;104;p14"/>
            <p:cNvSpPr/>
            <p:nvPr/>
          </p:nvSpPr>
          <p:spPr>
            <a:xfrm>
              <a:off x="190500" y="190500"/>
              <a:ext cx="8763000" cy="476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" name="Google Shape;105;p14"/>
          <p:cNvGrpSpPr/>
          <p:nvPr/>
        </p:nvGrpSpPr>
        <p:grpSpPr>
          <a:xfrm>
            <a:off x="476250" y="952500"/>
            <a:ext cx="4762500" cy="3086100"/>
            <a:chOff x="476250" y="952500"/>
            <a:chExt cx="4762500" cy="3086100"/>
          </a:xfrm>
        </p:grpSpPr>
        <p:sp>
          <p:nvSpPr>
            <p:cNvPr id="106" name="Google Shape;106;p14"/>
            <p:cNvSpPr txBox="1"/>
            <p:nvPr/>
          </p:nvSpPr>
          <p:spPr>
            <a:xfrm>
              <a:off x="476250" y="952500"/>
              <a:ext cx="47625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60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WHERE DOES AI</a:t>
              </a:r>
              <a:endParaRPr b="0" sz="3600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360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GET ITS DATA?</a:t>
              </a:r>
              <a:endParaRPr b="0" sz="3600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07" name="Google Shape;107;p14"/>
            <p:cNvSpPr txBox="1"/>
            <p:nvPr/>
          </p:nvSpPr>
          <p:spPr>
            <a:xfrm>
              <a:off x="476250" y="2571750"/>
              <a:ext cx="4762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044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FINDING, EVALUATING, AND BUILDING</a:t>
              </a:r>
              <a:endParaRPr b="1" sz="1800">
                <a:solidFill>
                  <a:srgbClr val="0044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044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DATASETS FOR MACHINE LEARNING</a:t>
              </a:r>
              <a:endParaRPr b="1" sz="1800">
                <a:solidFill>
                  <a:srgbClr val="0044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grpSp>
          <p:nvGrpSpPr>
            <p:cNvPr id="108" name="Google Shape;108;p14"/>
            <p:cNvGrpSpPr/>
            <p:nvPr/>
          </p:nvGrpSpPr>
          <p:grpSpPr>
            <a:xfrm>
              <a:off x="476250" y="3619500"/>
              <a:ext cx="2133600" cy="419100"/>
              <a:chOff x="0" y="0"/>
              <a:chExt cx="2133600" cy="419100"/>
            </a:xfrm>
          </p:grpSpPr>
          <p:sp>
            <p:nvSpPr>
              <p:cNvPr id="109" name="Google Shape;109;p14"/>
              <p:cNvSpPr/>
              <p:nvPr/>
            </p:nvSpPr>
            <p:spPr>
              <a:xfrm>
                <a:off x="38100" y="38100"/>
                <a:ext cx="2095500" cy="381000"/>
              </a:xfrm>
              <a:prstGeom prst="roundRect">
                <a:avLst>
                  <a:gd fmla="val 10000" name="adj"/>
                </a:avLst>
              </a:prstGeom>
              <a:solidFill>
                <a:srgbClr val="11111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" name="Google Shape;110;p14"/>
              <p:cNvSpPr/>
              <p:nvPr/>
            </p:nvSpPr>
            <p:spPr>
              <a:xfrm>
                <a:off x="0" y="0"/>
                <a:ext cx="2095500" cy="381000"/>
              </a:xfrm>
              <a:prstGeom prst="roundRect">
                <a:avLst>
                  <a:gd fmla="val 10000" name="adj"/>
                </a:avLst>
              </a:prstGeom>
              <a:solidFill>
                <a:srgbClr val="FFCC00"/>
              </a:solidFill>
              <a:ln cap="flat" cmpd="sng" w="28575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" name="Google Shape;111;p14"/>
              <p:cNvSpPr txBox="1"/>
              <p:nvPr/>
            </p:nvSpPr>
            <p:spPr>
              <a:xfrm>
                <a:off x="0" y="0"/>
                <a:ext cx="2095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PRESENTER: GOKUL P</a:t>
                </a:r>
                <a:endParaRPr b="1" sz="11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4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7429500" y="0"/>
            <a:ext cx="1714500" cy="5143500"/>
          </a:xfrm>
          <a:prstGeom prst="rect">
            <a:avLst/>
          </a:prstGeom>
          <a:solidFill>
            <a:srgbClr val="0044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8" name="Google Shape;118;p15"/>
          <p:cNvCxnSpPr/>
          <p:nvPr/>
        </p:nvCxnSpPr>
        <p:spPr>
          <a:xfrm>
            <a:off x="7429500" y="0"/>
            <a:ext cx="0" cy="5143500"/>
          </a:xfrm>
          <a:prstGeom prst="straightConnector1">
            <a:avLst/>
          </a:prstGeom>
          <a:solidFill>
            <a:srgbClr val="FFFFFF"/>
          </a:solidFill>
          <a:ln cap="flat" cmpd="sng" w="762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" name="Google Shape;119;p15"/>
          <p:cNvSpPr/>
          <p:nvPr/>
        </p:nvSpPr>
        <p:spPr>
          <a:xfrm>
            <a:off x="190500" y="190500"/>
            <a:ext cx="8763000" cy="4762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381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0" name="Google Shape;120;p15"/>
          <p:cNvGrpSpPr/>
          <p:nvPr/>
        </p:nvGrpSpPr>
        <p:grpSpPr>
          <a:xfrm>
            <a:off x="8058150" y="438150"/>
            <a:ext cx="457200" cy="457200"/>
            <a:chOff x="57150" y="57150"/>
            <a:chExt cx="457200" cy="457200"/>
          </a:xfrm>
        </p:grpSpPr>
        <p:sp>
          <p:nvSpPr>
            <p:cNvPr id="121" name="Google Shape;121;p15"/>
            <p:cNvSpPr/>
            <p:nvPr/>
          </p:nvSpPr>
          <p:spPr>
            <a:xfrm>
              <a:off x="57150" y="57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5"/>
            <p:cNvSpPr/>
            <p:nvPr/>
          </p:nvSpPr>
          <p:spPr>
            <a:xfrm>
              <a:off x="247650" y="57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5"/>
            <p:cNvSpPr/>
            <p:nvPr/>
          </p:nvSpPr>
          <p:spPr>
            <a:xfrm>
              <a:off x="438150" y="57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5"/>
            <p:cNvSpPr/>
            <p:nvPr/>
          </p:nvSpPr>
          <p:spPr>
            <a:xfrm>
              <a:off x="57150" y="2476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5"/>
            <p:cNvSpPr/>
            <p:nvPr/>
          </p:nvSpPr>
          <p:spPr>
            <a:xfrm>
              <a:off x="247650" y="2476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5"/>
            <p:cNvSpPr/>
            <p:nvPr/>
          </p:nvSpPr>
          <p:spPr>
            <a:xfrm>
              <a:off x="438150" y="2476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5"/>
            <p:cNvSpPr/>
            <p:nvPr/>
          </p:nvSpPr>
          <p:spPr>
            <a:xfrm>
              <a:off x="57150" y="438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5"/>
            <p:cNvSpPr/>
            <p:nvPr/>
          </p:nvSpPr>
          <p:spPr>
            <a:xfrm>
              <a:off x="247650" y="438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5"/>
            <p:cNvSpPr/>
            <p:nvPr/>
          </p:nvSpPr>
          <p:spPr>
            <a:xfrm>
              <a:off x="438150" y="438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0" name="Google Shape;130;p15"/>
          <p:cNvGrpSpPr/>
          <p:nvPr/>
        </p:nvGrpSpPr>
        <p:grpSpPr>
          <a:xfrm>
            <a:off x="7905750" y="4000500"/>
            <a:ext cx="762000" cy="714300"/>
            <a:chOff x="0" y="0"/>
            <a:chExt cx="762000" cy="714300"/>
          </a:xfrm>
        </p:grpSpPr>
        <p:sp>
          <p:nvSpPr>
            <p:cNvPr id="131" name="Google Shape;131;p15"/>
            <p:cNvSpPr/>
            <p:nvPr/>
          </p:nvSpPr>
          <p:spPr>
            <a:xfrm>
              <a:off x="0" y="0"/>
              <a:ext cx="762000" cy="714300"/>
            </a:xfrm>
            <a:custGeom>
              <a:rect b="b" l="l" r="r" t="t"/>
              <a:pathLst>
                <a:path extrusionOk="0" h="120000" w="120000">
                  <a:moveTo>
                    <a:pt x="0" y="32004"/>
                  </a:moveTo>
                  <a:lnTo>
                    <a:pt x="0" y="95997"/>
                  </a:lnTo>
                  <a:cubicBezTo>
                    <a:pt x="0" y="109247"/>
                    <a:pt x="26850" y="120000"/>
                    <a:pt x="60000" y="120000"/>
                  </a:cubicBezTo>
                  <a:cubicBezTo>
                    <a:pt x="93135" y="120000"/>
                    <a:pt x="120000" y="109247"/>
                    <a:pt x="120000" y="95997"/>
                  </a:cubicBezTo>
                  <a:lnTo>
                    <a:pt x="120000" y="0"/>
                  </a:lnTo>
                </a:path>
              </a:pathLst>
            </a:custGeom>
            <a:solidFill>
              <a:srgbClr val="00E676"/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5"/>
            <p:cNvSpPr/>
            <p:nvPr/>
          </p:nvSpPr>
          <p:spPr>
            <a:xfrm>
              <a:off x="0" y="47625"/>
              <a:ext cx="762000" cy="285900"/>
            </a:xfrm>
            <a:prstGeom prst="ellipse">
              <a:avLst/>
            </a:prstGeom>
            <a:solidFill>
              <a:srgbClr val="00E676"/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5"/>
            <p:cNvSpPr/>
            <p:nvPr/>
          </p:nvSpPr>
          <p:spPr>
            <a:xfrm>
              <a:off x="0" y="238125"/>
              <a:ext cx="762000" cy="285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4" name="Google Shape;134;p15"/>
          <p:cNvSpPr txBox="1"/>
          <p:nvPr/>
        </p:nvSpPr>
        <p:spPr>
          <a:xfrm>
            <a:off x="476250" y="428625"/>
            <a:ext cx="6667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960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rPr>
              <a:t>ROADMAP: TODAY'S ARC</a:t>
            </a:r>
            <a:endParaRPr b="0" sz="2960">
              <a:solidFill>
                <a:srgbClr val="11111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35" name="Google Shape;135;p15"/>
          <p:cNvSpPr txBox="1"/>
          <p:nvPr/>
        </p:nvSpPr>
        <p:spPr>
          <a:xfrm>
            <a:off x="476250" y="904875"/>
            <a:ext cx="6667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44FF"/>
                </a:solidFill>
                <a:latin typeface="Space Grotesk"/>
                <a:ea typeface="Space Grotesk"/>
                <a:cs typeface="Space Grotesk"/>
                <a:sym typeface="Space Grotesk"/>
              </a:rPr>
              <a:t>8 WAYS TO GET DATA — RANKED EASIEST TO HARDEST</a:t>
            </a:r>
            <a:endParaRPr b="1" sz="1200">
              <a:solidFill>
                <a:srgbClr val="0044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136" name="Google Shape;136;p15"/>
          <p:cNvGrpSpPr/>
          <p:nvPr/>
        </p:nvGrpSpPr>
        <p:grpSpPr>
          <a:xfrm>
            <a:off x="476250" y="1333500"/>
            <a:ext cx="3181500" cy="3276600"/>
            <a:chOff x="0" y="0"/>
            <a:chExt cx="3181500" cy="3276600"/>
          </a:xfrm>
        </p:grpSpPr>
        <p:sp>
          <p:nvSpPr>
            <p:cNvPr id="137" name="Google Shape;137;p15"/>
            <p:cNvSpPr/>
            <p:nvPr/>
          </p:nvSpPr>
          <p:spPr>
            <a:xfrm>
              <a:off x="0" y="0"/>
              <a:ext cx="3143400" cy="3238500"/>
            </a:xfrm>
            <a:prstGeom prst="roundRect">
              <a:avLst>
                <a:gd fmla="val 1818" name="adj"/>
              </a:avLst>
            </a:prstGeom>
            <a:solidFill>
              <a:srgbClr val="FFFFFF"/>
            </a:solidFill>
            <a:ln cap="flat" cmpd="sng" w="28575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5"/>
            <p:cNvSpPr/>
            <p:nvPr/>
          </p:nvSpPr>
          <p:spPr>
            <a:xfrm>
              <a:off x="38100" y="38100"/>
              <a:ext cx="3143400" cy="3238500"/>
            </a:xfrm>
            <a:prstGeom prst="roundRect">
              <a:avLst>
                <a:gd fmla="val 1818" name="adj"/>
              </a:avLst>
            </a:prstGeom>
            <a:solidFill>
              <a:srgbClr val="111111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9" name="Google Shape;139;p15"/>
            <p:cNvGrpSpPr/>
            <p:nvPr/>
          </p:nvGrpSpPr>
          <p:grpSpPr>
            <a:xfrm>
              <a:off x="142875" y="142875"/>
              <a:ext cx="2857500" cy="333300"/>
              <a:chOff x="0" y="0"/>
              <a:chExt cx="2857500" cy="333300"/>
            </a:xfrm>
          </p:grpSpPr>
          <p:sp>
            <p:nvSpPr>
              <p:cNvPr id="140" name="Google Shape;140;p15"/>
              <p:cNvSpPr/>
              <p:nvPr/>
            </p:nvSpPr>
            <p:spPr>
              <a:xfrm>
                <a:off x="0" y="0"/>
                <a:ext cx="2857500" cy="333300"/>
              </a:xfrm>
              <a:prstGeom prst="roundRect">
                <a:avLst>
                  <a:gd fmla="val 11428" name="adj"/>
                </a:avLst>
              </a:prstGeom>
              <a:solidFill>
                <a:srgbClr val="00E676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" name="Google Shape;141;p15"/>
              <p:cNvSpPr txBox="1"/>
              <p:nvPr/>
            </p:nvSpPr>
            <p:spPr>
              <a:xfrm>
                <a:off x="0" y="0"/>
                <a:ext cx="28575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400">
                    <a:solidFill>
                      <a:srgbClr val="111111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EASIEST TO ACQUIRE</a:t>
                </a:r>
                <a:endParaRPr b="0" sz="140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grpSp>
          <p:nvGrpSpPr>
            <p:cNvPr id="142" name="Google Shape;142;p15"/>
            <p:cNvGrpSpPr/>
            <p:nvPr/>
          </p:nvGrpSpPr>
          <p:grpSpPr>
            <a:xfrm>
              <a:off x="142875" y="619125"/>
              <a:ext cx="2857575" cy="381000"/>
              <a:chOff x="0" y="0"/>
              <a:chExt cx="2857575" cy="381000"/>
            </a:xfrm>
          </p:grpSpPr>
          <p:sp>
            <p:nvSpPr>
              <p:cNvPr id="143" name="Google Shape;143;p15"/>
              <p:cNvSpPr/>
              <p:nvPr/>
            </p:nvSpPr>
            <p:spPr>
              <a:xfrm>
                <a:off x="0" y="0"/>
                <a:ext cx="238200" cy="238200"/>
              </a:xfrm>
              <a:prstGeom prst="roundRect">
                <a:avLst>
                  <a:gd fmla="val 16000" name="adj"/>
                </a:avLst>
              </a:prstGeom>
              <a:solidFill>
                <a:srgbClr val="0044FF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" name="Google Shape;144;p15"/>
              <p:cNvSpPr txBox="1"/>
              <p:nvPr/>
            </p:nvSpPr>
            <p:spPr>
              <a:xfrm>
                <a:off x="0" y="0"/>
                <a:ext cx="2382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S1</a:t>
                </a:r>
                <a:endParaRPr b="0" sz="10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145" name="Google Shape;145;p15"/>
              <p:cNvSpPr txBox="1"/>
              <p:nvPr/>
            </p:nvSpPr>
            <p:spPr>
              <a:xfrm>
                <a:off x="333375" y="0"/>
                <a:ext cx="25242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111111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Ask an AI Model (S1)</a:t>
                </a:r>
                <a:endParaRPr b="1" sz="110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50">
                    <a:solidFill>
                      <a:srgbClr val="555555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Quick generation, synthetic seeds</a:t>
                </a:r>
                <a:endParaRPr b="0" sz="950">
                  <a:solidFill>
                    <a:srgbClr val="555555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  <p:grpSp>
          <p:nvGrpSpPr>
            <p:cNvPr id="146" name="Google Shape;146;p15"/>
            <p:cNvGrpSpPr/>
            <p:nvPr/>
          </p:nvGrpSpPr>
          <p:grpSpPr>
            <a:xfrm>
              <a:off x="142875" y="1095375"/>
              <a:ext cx="2857575" cy="381000"/>
              <a:chOff x="0" y="0"/>
              <a:chExt cx="2857575" cy="381000"/>
            </a:xfrm>
          </p:grpSpPr>
          <p:sp>
            <p:nvSpPr>
              <p:cNvPr id="147" name="Google Shape;147;p15"/>
              <p:cNvSpPr/>
              <p:nvPr/>
            </p:nvSpPr>
            <p:spPr>
              <a:xfrm>
                <a:off x="0" y="0"/>
                <a:ext cx="238200" cy="238200"/>
              </a:xfrm>
              <a:prstGeom prst="roundRect">
                <a:avLst>
                  <a:gd fmla="val 16000" name="adj"/>
                </a:avLst>
              </a:prstGeom>
              <a:solidFill>
                <a:srgbClr val="0044FF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" name="Google Shape;148;p15"/>
              <p:cNvSpPr txBox="1"/>
              <p:nvPr/>
            </p:nvSpPr>
            <p:spPr>
              <a:xfrm>
                <a:off x="0" y="0"/>
                <a:ext cx="2382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S2</a:t>
                </a:r>
                <a:endParaRPr b="0" sz="10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149" name="Google Shape;149;p15"/>
              <p:cNvSpPr txBox="1"/>
              <p:nvPr/>
            </p:nvSpPr>
            <p:spPr>
              <a:xfrm>
                <a:off x="333375" y="0"/>
                <a:ext cx="25242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111111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Pre-Built Datasets — Kaggle &amp; HF (S2)</a:t>
                </a:r>
                <a:endParaRPr b="1" sz="110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50">
                    <a:solidFill>
                      <a:srgbClr val="555555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Ready-to-use hosting hubs</a:t>
                </a:r>
                <a:endParaRPr b="0" sz="950">
                  <a:solidFill>
                    <a:srgbClr val="555555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  <p:grpSp>
          <p:nvGrpSpPr>
            <p:cNvPr id="150" name="Google Shape;150;p15"/>
            <p:cNvGrpSpPr/>
            <p:nvPr/>
          </p:nvGrpSpPr>
          <p:grpSpPr>
            <a:xfrm>
              <a:off x="142875" y="1571625"/>
              <a:ext cx="2857575" cy="381000"/>
              <a:chOff x="0" y="0"/>
              <a:chExt cx="2857575" cy="381000"/>
            </a:xfrm>
          </p:grpSpPr>
          <p:sp>
            <p:nvSpPr>
              <p:cNvPr id="151" name="Google Shape;151;p15"/>
              <p:cNvSpPr/>
              <p:nvPr/>
            </p:nvSpPr>
            <p:spPr>
              <a:xfrm>
                <a:off x="0" y="0"/>
                <a:ext cx="238200" cy="238200"/>
              </a:xfrm>
              <a:prstGeom prst="roundRect">
                <a:avLst>
                  <a:gd fmla="val 16000" name="adj"/>
                </a:avLst>
              </a:prstGeom>
              <a:solidFill>
                <a:srgbClr val="0044FF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5"/>
              <p:cNvSpPr txBox="1"/>
              <p:nvPr/>
            </p:nvSpPr>
            <p:spPr>
              <a:xfrm>
                <a:off x="0" y="0"/>
                <a:ext cx="2382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S3</a:t>
                </a:r>
                <a:endParaRPr b="0" sz="10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153" name="Google Shape;153;p15"/>
              <p:cNvSpPr txBox="1"/>
              <p:nvPr/>
            </p:nvSpPr>
            <p:spPr>
              <a:xfrm>
                <a:off x="333375" y="0"/>
                <a:ext cx="25242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111111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UCI &amp; Gov Open Data Portals (S3)</a:t>
                </a:r>
                <a:endParaRPr b="1" sz="110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50">
                    <a:solidFill>
                      <a:srgbClr val="555555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Structured public-domain stores</a:t>
                </a:r>
                <a:endParaRPr b="0" sz="950">
                  <a:solidFill>
                    <a:srgbClr val="555555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  <p:grpSp>
          <p:nvGrpSpPr>
            <p:cNvPr id="154" name="Google Shape;154;p15"/>
            <p:cNvGrpSpPr/>
            <p:nvPr/>
          </p:nvGrpSpPr>
          <p:grpSpPr>
            <a:xfrm>
              <a:off x="142875" y="2047875"/>
              <a:ext cx="2857575" cy="381000"/>
              <a:chOff x="0" y="0"/>
              <a:chExt cx="2857575" cy="381000"/>
            </a:xfrm>
          </p:grpSpPr>
          <p:sp>
            <p:nvSpPr>
              <p:cNvPr id="155" name="Google Shape;155;p15"/>
              <p:cNvSpPr/>
              <p:nvPr/>
            </p:nvSpPr>
            <p:spPr>
              <a:xfrm>
                <a:off x="0" y="0"/>
                <a:ext cx="238200" cy="238200"/>
              </a:xfrm>
              <a:prstGeom prst="roundRect">
                <a:avLst>
                  <a:gd fmla="val 16000" name="adj"/>
                </a:avLst>
              </a:prstGeom>
              <a:solidFill>
                <a:srgbClr val="0044FF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5"/>
              <p:cNvSpPr txBox="1"/>
              <p:nvPr/>
            </p:nvSpPr>
            <p:spPr>
              <a:xfrm>
                <a:off x="0" y="0"/>
                <a:ext cx="2382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S4</a:t>
                </a:r>
                <a:endParaRPr b="0" sz="10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157" name="Google Shape;157;p15"/>
              <p:cNvSpPr txBox="1"/>
              <p:nvPr/>
            </p:nvSpPr>
            <p:spPr>
              <a:xfrm>
                <a:off x="333375" y="0"/>
                <a:ext cx="25242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b="1" lang="en" sz="1100">
                    <a:solidFill>
                      <a:srgbClr val="111111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Augmentation &amp; Synthetic Gen (S4)</a:t>
                </a:r>
                <a:endParaRPr b="1" sz="110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950">
                    <a:solidFill>
                      <a:srgbClr val="555555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Engineered programmatic extensions</a:t>
                </a:r>
                <a:endParaRPr sz="950">
                  <a:solidFill>
                    <a:srgbClr val="555555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  <p:grpSp>
          <p:nvGrpSpPr>
            <p:cNvPr id="158" name="Google Shape;158;p15"/>
            <p:cNvGrpSpPr/>
            <p:nvPr/>
          </p:nvGrpSpPr>
          <p:grpSpPr>
            <a:xfrm>
              <a:off x="142875" y="2619375"/>
              <a:ext cx="2857500" cy="428700"/>
              <a:chOff x="0" y="0"/>
              <a:chExt cx="2857500" cy="428700"/>
            </a:xfrm>
          </p:grpSpPr>
          <p:sp>
            <p:nvSpPr>
              <p:cNvPr id="159" name="Google Shape;159;p15"/>
              <p:cNvSpPr/>
              <p:nvPr/>
            </p:nvSpPr>
            <p:spPr>
              <a:xfrm>
                <a:off x="0" y="0"/>
                <a:ext cx="2857500" cy="428700"/>
              </a:xfrm>
              <a:prstGeom prst="roundRect">
                <a:avLst>
                  <a:gd fmla="val 8888" name="adj"/>
                </a:avLst>
              </a:prstGeom>
              <a:solidFill>
                <a:srgbClr val="F4F4F0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" name="Google Shape;160;p15"/>
              <p:cNvSpPr txBox="1"/>
              <p:nvPr/>
            </p:nvSpPr>
            <p:spPr>
              <a:xfrm>
                <a:off x="0" y="0"/>
                <a:ext cx="28575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95250" spcFirstLastPara="1" rIns="9525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Goal: Rapid prototypes &amp; open academic benchmarks</a:t>
                </a:r>
                <a:endParaRPr b="1" sz="9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61" name="Google Shape;161;p15"/>
          <p:cNvGrpSpPr/>
          <p:nvPr/>
        </p:nvGrpSpPr>
        <p:grpSpPr>
          <a:xfrm>
            <a:off x="3905250" y="1333500"/>
            <a:ext cx="3181500" cy="3276600"/>
            <a:chOff x="0" y="0"/>
            <a:chExt cx="3181500" cy="3276600"/>
          </a:xfrm>
        </p:grpSpPr>
        <p:sp>
          <p:nvSpPr>
            <p:cNvPr id="162" name="Google Shape;162;p15"/>
            <p:cNvSpPr/>
            <p:nvPr/>
          </p:nvSpPr>
          <p:spPr>
            <a:xfrm>
              <a:off x="0" y="0"/>
              <a:ext cx="3143400" cy="3238500"/>
            </a:xfrm>
            <a:prstGeom prst="roundRect">
              <a:avLst>
                <a:gd fmla="val 1818" name="adj"/>
              </a:avLst>
            </a:prstGeom>
            <a:solidFill>
              <a:srgbClr val="FFFFFF"/>
            </a:solidFill>
            <a:ln cap="flat" cmpd="sng" w="28575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5"/>
            <p:cNvSpPr/>
            <p:nvPr/>
          </p:nvSpPr>
          <p:spPr>
            <a:xfrm>
              <a:off x="38100" y="38100"/>
              <a:ext cx="3143400" cy="3238500"/>
            </a:xfrm>
            <a:prstGeom prst="roundRect">
              <a:avLst>
                <a:gd fmla="val 1818" name="adj"/>
              </a:avLst>
            </a:prstGeom>
            <a:solidFill>
              <a:srgbClr val="111111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4" name="Google Shape;164;p15"/>
            <p:cNvGrpSpPr/>
            <p:nvPr/>
          </p:nvGrpSpPr>
          <p:grpSpPr>
            <a:xfrm>
              <a:off x="142875" y="142875"/>
              <a:ext cx="2857500" cy="333300"/>
              <a:chOff x="0" y="0"/>
              <a:chExt cx="2857500" cy="333300"/>
            </a:xfrm>
          </p:grpSpPr>
          <p:sp>
            <p:nvSpPr>
              <p:cNvPr id="165" name="Google Shape;165;p15"/>
              <p:cNvSpPr/>
              <p:nvPr/>
            </p:nvSpPr>
            <p:spPr>
              <a:xfrm>
                <a:off x="0" y="0"/>
                <a:ext cx="2857500" cy="333300"/>
              </a:xfrm>
              <a:prstGeom prst="roundRect">
                <a:avLst>
                  <a:gd fmla="val 11428" name="adj"/>
                </a:avLst>
              </a:prstGeom>
              <a:solidFill>
                <a:srgbClr val="FFCC00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5"/>
              <p:cNvSpPr txBox="1"/>
              <p:nvPr/>
            </p:nvSpPr>
            <p:spPr>
              <a:xfrm>
                <a:off x="0" y="0"/>
                <a:ext cx="28575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400">
                    <a:solidFill>
                      <a:srgbClr val="111111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HARDEST TO ACQUIRE</a:t>
                </a:r>
                <a:endParaRPr b="0" sz="140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grpSp>
          <p:nvGrpSpPr>
            <p:cNvPr id="167" name="Google Shape;167;p15"/>
            <p:cNvGrpSpPr/>
            <p:nvPr/>
          </p:nvGrpSpPr>
          <p:grpSpPr>
            <a:xfrm>
              <a:off x="142875" y="619125"/>
              <a:ext cx="2857575" cy="381000"/>
              <a:chOff x="0" y="0"/>
              <a:chExt cx="2857575" cy="381000"/>
            </a:xfrm>
          </p:grpSpPr>
          <p:sp>
            <p:nvSpPr>
              <p:cNvPr id="168" name="Google Shape;168;p15"/>
              <p:cNvSpPr/>
              <p:nvPr/>
            </p:nvSpPr>
            <p:spPr>
              <a:xfrm>
                <a:off x="0" y="0"/>
                <a:ext cx="238200" cy="238200"/>
              </a:xfrm>
              <a:prstGeom prst="roundRect">
                <a:avLst>
                  <a:gd fmla="val 16000" name="adj"/>
                </a:avLst>
              </a:prstGeom>
              <a:solidFill>
                <a:srgbClr val="0044FF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" name="Google Shape;169;p15"/>
              <p:cNvSpPr txBox="1"/>
              <p:nvPr/>
            </p:nvSpPr>
            <p:spPr>
              <a:xfrm>
                <a:off x="0" y="0"/>
                <a:ext cx="2382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S5</a:t>
                </a:r>
                <a:endParaRPr b="0" sz="10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170" name="Google Shape;170;p15"/>
              <p:cNvSpPr txBox="1"/>
              <p:nvPr/>
            </p:nvSpPr>
            <p:spPr>
              <a:xfrm>
                <a:off x="333375" y="0"/>
                <a:ext cx="25242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111111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Closed/Restricted Research (S5)</a:t>
                </a:r>
                <a:endParaRPr b="1" sz="110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50">
                    <a:solidFill>
                      <a:srgbClr val="555555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Proprietary/siloed academic vaults</a:t>
                </a:r>
                <a:endParaRPr b="0" sz="950">
                  <a:solidFill>
                    <a:srgbClr val="555555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  <p:grpSp>
          <p:nvGrpSpPr>
            <p:cNvPr id="171" name="Google Shape;171;p15"/>
            <p:cNvGrpSpPr/>
            <p:nvPr/>
          </p:nvGrpSpPr>
          <p:grpSpPr>
            <a:xfrm>
              <a:off x="142875" y="1095375"/>
              <a:ext cx="2857575" cy="381000"/>
              <a:chOff x="0" y="0"/>
              <a:chExt cx="2857575" cy="381000"/>
            </a:xfrm>
          </p:grpSpPr>
          <p:sp>
            <p:nvSpPr>
              <p:cNvPr id="172" name="Google Shape;172;p15"/>
              <p:cNvSpPr/>
              <p:nvPr/>
            </p:nvSpPr>
            <p:spPr>
              <a:xfrm>
                <a:off x="0" y="0"/>
                <a:ext cx="238200" cy="238200"/>
              </a:xfrm>
              <a:prstGeom prst="roundRect">
                <a:avLst>
                  <a:gd fmla="val 16000" name="adj"/>
                </a:avLst>
              </a:prstGeom>
              <a:solidFill>
                <a:srgbClr val="0044FF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5"/>
              <p:cNvSpPr txBox="1"/>
              <p:nvPr/>
            </p:nvSpPr>
            <p:spPr>
              <a:xfrm>
                <a:off x="0" y="0"/>
                <a:ext cx="2382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S6</a:t>
                </a:r>
                <a:endParaRPr b="0" sz="10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174" name="Google Shape;174;p15"/>
              <p:cNvSpPr txBox="1"/>
              <p:nvPr/>
            </p:nvSpPr>
            <p:spPr>
              <a:xfrm>
                <a:off x="333375" y="0"/>
                <a:ext cx="25242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b="1" lang="en" sz="1100">
                    <a:solidFill>
                      <a:srgbClr val="111111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Reverse-Engineering Papers (S6)</a:t>
                </a:r>
                <a:endParaRPr b="1" sz="110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950">
                    <a:solidFill>
                      <a:srgbClr val="555555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Recreating published source methods</a:t>
                </a:r>
                <a:endParaRPr b="1" sz="110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grpSp>
          <p:nvGrpSpPr>
            <p:cNvPr id="175" name="Google Shape;175;p15"/>
            <p:cNvGrpSpPr/>
            <p:nvPr/>
          </p:nvGrpSpPr>
          <p:grpSpPr>
            <a:xfrm>
              <a:off x="142875" y="1571625"/>
              <a:ext cx="2857575" cy="381000"/>
              <a:chOff x="0" y="0"/>
              <a:chExt cx="2857575" cy="381000"/>
            </a:xfrm>
          </p:grpSpPr>
          <p:sp>
            <p:nvSpPr>
              <p:cNvPr id="176" name="Google Shape;176;p15"/>
              <p:cNvSpPr/>
              <p:nvPr/>
            </p:nvSpPr>
            <p:spPr>
              <a:xfrm>
                <a:off x="0" y="0"/>
                <a:ext cx="238200" cy="238200"/>
              </a:xfrm>
              <a:prstGeom prst="roundRect">
                <a:avLst>
                  <a:gd fmla="val 16000" name="adj"/>
                </a:avLst>
              </a:prstGeom>
              <a:solidFill>
                <a:srgbClr val="0044FF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5"/>
              <p:cNvSpPr txBox="1"/>
              <p:nvPr/>
            </p:nvSpPr>
            <p:spPr>
              <a:xfrm>
                <a:off x="0" y="0"/>
                <a:ext cx="2382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S7</a:t>
                </a:r>
                <a:endParaRPr b="0" sz="10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178" name="Google Shape;178;p15"/>
              <p:cNvSpPr txBox="1"/>
              <p:nvPr/>
            </p:nvSpPr>
            <p:spPr>
              <a:xfrm>
                <a:off x="333375" y="0"/>
                <a:ext cx="25242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111111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Mixing Multiple Datasets (S7)</a:t>
                </a:r>
                <a:endParaRPr b="1" sz="110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50">
                    <a:solidFill>
                      <a:srgbClr val="555555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Combining disparate public sources</a:t>
                </a:r>
                <a:endParaRPr b="0" sz="950">
                  <a:solidFill>
                    <a:srgbClr val="555555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  <p:grpSp>
          <p:nvGrpSpPr>
            <p:cNvPr id="179" name="Google Shape;179;p15"/>
            <p:cNvGrpSpPr/>
            <p:nvPr/>
          </p:nvGrpSpPr>
          <p:grpSpPr>
            <a:xfrm>
              <a:off x="142875" y="2047875"/>
              <a:ext cx="2857575" cy="381000"/>
              <a:chOff x="0" y="0"/>
              <a:chExt cx="2857575" cy="381000"/>
            </a:xfrm>
          </p:grpSpPr>
          <p:sp>
            <p:nvSpPr>
              <p:cNvPr id="180" name="Google Shape;180;p15"/>
              <p:cNvSpPr/>
              <p:nvPr/>
            </p:nvSpPr>
            <p:spPr>
              <a:xfrm>
                <a:off x="0" y="0"/>
                <a:ext cx="238200" cy="238200"/>
              </a:xfrm>
              <a:prstGeom prst="roundRect">
                <a:avLst>
                  <a:gd fmla="val 16000" name="adj"/>
                </a:avLst>
              </a:prstGeom>
              <a:solidFill>
                <a:srgbClr val="0044FF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5"/>
              <p:cNvSpPr txBox="1"/>
              <p:nvPr/>
            </p:nvSpPr>
            <p:spPr>
              <a:xfrm>
                <a:off x="0" y="0"/>
                <a:ext cx="2382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S8</a:t>
                </a:r>
                <a:endParaRPr b="0" sz="10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182" name="Google Shape;182;p15"/>
              <p:cNvSpPr txBox="1"/>
              <p:nvPr/>
            </p:nvSpPr>
            <p:spPr>
              <a:xfrm>
                <a:off x="333375" y="0"/>
                <a:ext cx="25242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111111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Building Your Own From Scratch (S8)</a:t>
                </a:r>
                <a:endParaRPr b="1" sz="110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50">
                    <a:solidFill>
                      <a:srgbClr val="555555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Custom collection, labeling, &amp; pipelines</a:t>
                </a:r>
                <a:endParaRPr b="0" sz="950">
                  <a:solidFill>
                    <a:srgbClr val="555555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  <p:grpSp>
          <p:nvGrpSpPr>
            <p:cNvPr id="183" name="Google Shape;183;p15"/>
            <p:cNvGrpSpPr/>
            <p:nvPr/>
          </p:nvGrpSpPr>
          <p:grpSpPr>
            <a:xfrm>
              <a:off x="142875" y="2619375"/>
              <a:ext cx="2857500" cy="428700"/>
              <a:chOff x="0" y="0"/>
              <a:chExt cx="2857500" cy="428700"/>
            </a:xfrm>
          </p:grpSpPr>
          <p:sp>
            <p:nvSpPr>
              <p:cNvPr id="184" name="Google Shape;184;p15"/>
              <p:cNvSpPr/>
              <p:nvPr/>
            </p:nvSpPr>
            <p:spPr>
              <a:xfrm>
                <a:off x="0" y="0"/>
                <a:ext cx="2857500" cy="428700"/>
              </a:xfrm>
              <a:prstGeom prst="roundRect">
                <a:avLst>
                  <a:gd fmla="val 8888" name="adj"/>
                </a:avLst>
              </a:prstGeom>
              <a:solidFill>
                <a:srgbClr val="F4F4F0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" name="Google Shape;185;p15"/>
              <p:cNvSpPr txBox="1"/>
              <p:nvPr/>
            </p:nvSpPr>
            <p:spPr>
              <a:xfrm>
                <a:off x="0" y="0"/>
                <a:ext cx="28575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95250" spcFirstLastPara="1" rIns="9525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Closing: Navigating common pitfalls &amp; evaluation checklists</a:t>
                </a:r>
                <a:endParaRPr b="1" sz="9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sp>
        <p:nvSpPr>
          <p:cNvPr id="186" name="Google Shape;186;p15"/>
          <p:cNvSpPr txBox="1"/>
          <p:nvPr/>
        </p:nvSpPr>
        <p:spPr>
          <a:xfrm>
            <a:off x="7572375" y="1047750"/>
            <a:ext cx="14289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900">
              <a:solidFill>
                <a:srgbClr val="FFCC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1" lang="en" sz="105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"Every model is a data problem before it's a model problem."</a:t>
            </a:r>
            <a:endParaRPr b="0" i="1" sz="105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FFCC00"/>
                </a:solidFill>
                <a:latin typeface="Space Grotesk"/>
                <a:ea typeface="Space Grotesk"/>
                <a:cs typeface="Space Grotesk"/>
                <a:sym typeface="Space Grotesk"/>
              </a:rPr>
              <a:t>14M</a:t>
            </a:r>
            <a:endParaRPr b="0" sz="2400">
              <a:solidFill>
                <a:srgbClr val="FFCC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50">
                <a:solidFill>
                  <a:srgbClr val="F4F4F0"/>
                </a:solidFill>
                <a:latin typeface="Inter Medium"/>
                <a:ea typeface="Inter Medium"/>
                <a:cs typeface="Inter Medium"/>
                <a:sym typeface="Inter Medium"/>
              </a:rPr>
              <a:t>ImageNet images</a:t>
            </a:r>
            <a:endParaRPr b="0" sz="950">
              <a:solidFill>
                <a:srgbClr val="F4F4F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FFCC00"/>
                </a:solidFill>
                <a:latin typeface="Space Grotesk"/>
                <a:ea typeface="Space Grotesk"/>
                <a:cs typeface="Space Grotesk"/>
                <a:sym typeface="Space Grotesk"/>
              </a:rPr>
              <a:t>2.5 Yrs</a:t>
            </a:r>
            <a:endParaRPr b="0" sz="2400">
              <a:solidFill>
                <a:srgbClr val="FFCC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50">
                <a:solidFill>
                  <a:srgbClr val="F4F4F0"/>
                </a:solidFill>
                <a:latin typeface="Inter Medium"/>
                <a:ea typeface="Inter Medium"/>
                <a:cs typeface="Inter Medium"/>
                <a:sym typeface="Inter Medium"/>
              </a:rPr>
              <a:t>to build</a:t>
            </a:r>
            <a:endParaRPr b="0" sz="950">
              <a:solidFill>
                <a:srgbClr val="F4F4F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0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"/>
          <p:cNvSpPr/>
          <p:nvPr/>
        </p:nvSpPr>
        <p:spPr>
          <a:xfrm>
            <a:off x="7429500" y="0"/>
            <a:ext cx="1714500" cy="5143500"/>
          </a:xfrm>
          <a:prstGeom prst="rect">
            <a:avLst/>
          </a:prstGeom>
          <a:solidFill>
            <a:srgbClr val="0044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2" name="Google Shape;192;p16"/>
          <p:cNvCxnSpPr/>
          <p:nvPr/>
        </p:nvCxnSpPr>
        <p:spPr>
          <a:xfrm>
            <a:off x="7429500" y="0"/>
            <a:ext cx="0" cy="5143500"/>
          </a:xfrm>
          <a:prstGeom prst="straightConnector1">
            <a:avLst/>
          </a:prstGeom>
          <a:solidFill>
            <a:srgbClr val="FFFFFF"/>
          </a:solidFill>
          <a:ln cap="flat" cmpd="sng" w="762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3" name="Google Shape;193;p16"/>
          <p:cNvSpPr/>
          <p:nvPr/>
        </p:nvSpPr>
        <p:spPr>
          <a:xfrm>
            <a:off x="190500" y="190500"/>
            <a:ext cx="8763000" cy="4762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381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4" name="Google Shape;194;p16"/>
          <p:cNvGrpSpPr/>
          <p:nvPr/>
        </p:nvGrpSpPr>
        <p:grpSpPr>
          <a:xfrm>
            <a:off x="8058150" y="438150"/>
            <a:ext cx="457200" cy="457200"/>
            <a:chOff x="57150" y="57150"/>
            <a:chExt cx="457200" cy="457200"/>
          </a:xfrm>
        </p:grpSpPr>
        <p:sp>
          <p:nvSpPr>
            <p:cNvPr id="195" name="Google Shape;195;p16"/>
            <p:cNvSpPr/>
            <p:nvPr/>
          </p:nvSpPr>
          <p:spPr>
            <a:xfrm>
              <a:off x="57150" y="57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6"/>
            <p:cNvSpPr/>
            <p:nvPr/>
          </p:nvSpPr>
          <p:spPr>
            <a:xfrm>
              <a:off x="247650" y="57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6"/>
            <p:cNvSpPr/>
            <p:nvPr/>
          </p:nvSpPr>
          <p:spPr>
            <a:xfrm>
              <a:off x="438150" y="57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6"/>
            <p:cNvSpPr/>
            <p:nvPr/>
          </p:nvSpPr>
          <p:spPr>
            <a:xfrm>
              <a:off x="57150" y="2476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6"/>
            <p:cNvSpPr/>
            <p:nvPr/>
          </p:nvSpPr>
          <p:spPr>
            <a:xfrm>
              <a:off x="247650" y="2476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6"/>
            <p:cNvSpPr/>
            <p:nvPr/>
          </p:nvSpPr>
          <p:spPr>
            <a:xfrm>
              <a:off x="438150" y="2476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6"/>
            <p:cNvSpPr/>
            <p:nvPr/>
          </p:nvSpPr>
          <p:spPr>
            <a:xfrm>
              <a:off x="57150" y="438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6"/>
            <p:cNvSpPr/>
            <p:nvPr/>
          </p:nvSpPr>
          <p:spPr>
            <a:xfrm>
              <a:off x="247650" y="438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16"/>
            <p:cNvSpPr/>
            <p:nvPr/>
          </p:nvSpPr>
          <p:spPr>
            <a:xfrm>
              <a:off x="438150" y="438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4" name="Google Shape;204;p16"/>
          <p:cNvGrpSpPr/>
          <p:nvPr/>
        </p:nvGrpSpPr>
        <p:grpSpPr>
          <a:xfrm>
            <a:off x="7905750" y="4000500"/>
            <a:ext cx="762000" cy="714300"/>
            <a:chOff x="0" y="0"/>
            <a:chExt cx="762000" cy="714300"/>
          </a:xfrm>
        </p:grpSpPr>
        <p:sp>
          <p:nvSpPr>
            <p:cNvPr id="205" name="Google Shape;205;p16"/>
            <p:cNvSpPr/>
            <p:nvPr/>
          </p:nvSpPr>
          <p:spPr>
            <a:xfrm>
              <a:off x="0" y="0"/>
              <a:ext cx="762000" cy="714300"/>
            </a:xfrm>
            <a:custGeom>
              <a:rect b="b" l="l" r="r" t="t"/>
              <a:pathLst>
                <a:path extrusionOk="0" h="120000" w="120000">
                  <a:moveTo>
                    <a:pt x="0" y="32000"/>
                  </a:moveTo>
                  <a:lnTo>
                    <a:pt x="0" y="96000"/>
                  </a:lnTo>
                  <a:cubicBezTo>
                    <a:pt x="0" y="108800"/>
                    <a:pt x="27000" y="120000"/>
                    <a:pt x="60000" y="120000"/>
                  </a:cubicBezTo>
                  <a:cubicBezTo>
                    <a:pt x="93000" y="120000"/>
                    <a:pt x="120000" y="108800"/>
                    <a:pt x="120000" y="96000"/>
                  </a:cubicBezTo>
                  <a:lnTo>
                    <a:pt x="120000" y="0"/>
                  </a:lnTo>
                </a:path>
              </a:pathLst>
            </a:custGeom>
            <a:solidFill>
              <a:srgbClr val="00E676"/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6"/>
            <p:cNvSpPr/>
            <p:nvPr/>
          </p:nvSpPr>
          <p:spPr>
            <a:xfrm>
              <a:off x="0" y="47625"/>
              <a:ext cx="762000" cy="285900"/>
            </a:xfrm>
            <a:prstGeom prst="ellipse">
              <a:avLst/>
            </a:prstGeom>
            <a:solidFill>
              <a:srgbClr val="00E676"/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6"/>
            <p:cNvSpPr/>
            <p:nvPr/>
          </p:nvSpPr>
          <p:spPr>
            <a:xfrm>
              <a:off x="0" y="238125"/>
              <a:ext cx="762000" cy="285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8" name="Google Shape;208;p16"/>
          <p:cNvSpPr txBox="1"/>
          <p:nvPr/>
        </p:nvSpPr>
        <p:spPr>
          <a:xfrm>
            <a:off x="476250" y="428625"/>
            <a:ext cx="6667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960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rPr>
              <a:t>SOURCE 1: ASK AN AI MODEL</a:t>
            </a:r>
            <a:endParaRPr b="0" sz="2960">
              <a:solidFill>
                <a:srgbClr val="11111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209" name="Google Shape;209;p16"/>
          <p:cNvGrpSpPr/>
          <p:nvPr/>
        </p:nvGrpSpPr>
        <p:grpSpPr>
          <a:xfrm>
            <a:off x="3905250" y="1333500"/>
            <a:ext cx="3181500" cy="3276600"/>
            <a:chOff x="0" y="0"/>
            <a:chExt cx="3181500" cy="3276600"/>
          </a:xfrm>
        </p:grpSpPr>
        <p:sp>
          <p:nvSpPr>
            <p:cNvPr id="210" name="Google Shape;210;p16"/>
            <p:cNvSpPr/>
            <p:nvPr/>
          </p:nvSpPr>
          <p:spPr>
            <a:xfrm>
              <a:off x="0" y="0"/>
              <a:ext cx="3143400" cy="3238500"/>
            </a:xfrm>
            <a:prstGeom prst="roundRect">
              <a:avLst>
                <a:gd fmla="val 1818" name="adj"/>
              </a:avLst>
            </a:prstGeom>
            <a:solidFill>
              <a:srgbClr val="FFFFFF"/>
            </a:solidFill>
            <a:ln cap="flat" cmpd="sng" w="28575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6"/>
            <p:cNvSpPr/>
            <p:nvPr/>
          </p:nvSpPr>
          <p:spPr>
            <a:xfrm>
              <a:off x="38100" y="38100"/>
              <a:ext cx="3143400" cy="3238500"/>
            </a:xfrm>
            <a:prstGeom prst="roundRect">
              <a:avLst>
                <a:gd fmla="val 1818" name="adj"/>
              </a:avLst>
            </a:prstGeom>
            <a:solidFill>
              <a:srgbClr val="111111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2" name="Google Shape;212;p16"/>
            <p:cNvGrpSpPr/>
            <p:nvPr/>
          </p:nvGrpSpPr>
          <p:grpSpPr>
            <a:xfrm>
              <a:off x="142875" y="142875"/>
              <a:ext cx="2857500" cy="333300"/>
              <a:chOff x="0" y="0"/>
              <a:chExt cx="2857500" cy="333300"/>
            </a:xfrm>
          </p:grpSpPr>
          <p:sp>
            <p:nvSpPr>
              <p:cNvPr id="213" name="Google Shape;213;p16"/>
              <p:cNvSpPr/>
              <p:nvPr/>
            </p:nvSpPr>
            <p:spPr>
              <a:xfrm>
                <a:off x="0" y="0"/>
                <a:ext cx="2857500" cy="333300"/>
              </a:xfrm>
              <a:prstGeom prst="roundRect">
                <a:avLst>
                  <a:gd fmla="val 11428" name="adj"/>
                </a:avLst>
              </a:prstGeom>
              <a:solidFill>
                <a:srgbClr val="FFCC00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p16"/>
              <p:cNvSpPr txBox="1"/>
              <p:nvPr/>
            </p:nvSpPr>
            <p:spPr>
              <a:xfrm>
                <a:off x="0" y="0"/>
                <a:ext cx="28575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35">
                    <a:solidFill>
                      <a:srgbClr val="111111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STRATEGY &amp; VELOCITY</a:t>
                </a:r>
                <a:endParaRPr b="0" sz="935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sp>
          <p:nvSpPr>
            <p:cNvPr id="215" name="Google Shape;215;p16"/>
            <p:cNvSpPr txBox="1"/>
            <p:nvPr/>
          </p:nvSpPr>
          <p:spPr>
            <a:xfrm>
              <a:off x="476250" y="714375"/>
              <a:ext cx="25242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25">
                  <a:solidFill>
                    <a:srgbClr val="55555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BEST USED FOR</a:t>
              </a:r>
              <a:endParaRPr b="1" sz="925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1111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Prototyping downstream pipelines before production data is sourced</a:t>
              </a:r>
              <a:endParaRPr b="0" sz="105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16" name="Google Shape;216;p16"/>
            <p:cNvSpPr txBox="1"/>
            <p:nvPr/>
          </p:nvSpPr>
          <p:spPr>
            <a:xfrm>
              <a:off x="476250" y="1524000"/>
              <a:ext cx="25242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25">
                  <a:solidFill>
                    <a:srgbClr val="55555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ENGINEERING VALUE</a:t>
              </a:r>
              <a:endParaRPr b="1" sz="825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11111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Perfect for verifying system architecture and testing code end-to-end</a:t>
              </a:r>
              <a:endParaRPr b="0" sz="95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217" name="Google Shape;217;p16"/>
            <p:cNvGrpSpPr/>
            <p:nvPr/>
          </p:nvGrpSpPr>
          <p:grpSpPr>
            <a:xfrm>
              <a:off x="142875" y="2476500"/>
              <a:ext cx="2857500" cy="619200"/>
              <a:chOff x="0" y="0"/>
              <a:chExt cx="2857500" cy="619200"/>
            </a:xfrm>
          </p:grpSpPr>
          <p:sp>
            <p:nvSpPr>
              <p:cNvPr id="218" name="Google Shape;218;p16"/>
              <p:cNvSpPr/>
              <p:nvPr/>
            </p:nvSpPr>
            <p:spPr>
              <a:xfrm>
                <a:off x="0" y="0"/>
                <a:ext cx="2857500" cy="619200"/>
              </a:xfrm>
              <a:prstGeom prst="roundRect">
                <a:avLst>
                  <a:gd fmla="val 6153" name="adj"/>
                </a:avLst>
              </a:prstGeom>
              <a:solidFill>
                <a:srgbClr val="0044FF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16"/>
              <p:cNvSpPr txBox="1"/>
              <p:nvPr/>
            </p:nvSpPr>
            <p:spPr>
              <a:xfrm>
                <a:off x="0" y="0"/>
                <a:ext cx="28575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142875" spcFirstLastPara="1" rIns="142875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625">
                    <a:solidFill>
                      <a:srgbClr val="FFCC00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TIME TO FIRST DATASET</a:t>
                </a:r>
                <a:endParaRPr b="1" sz="625">
                  <a:solidFill>
                    <a:srgbClr val="FFCC00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160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SECONDS</a:t>
                </a:r>
                <a:endParaRPr b="0" sz="16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</p:grpSp>
      <p:sp>
        <p:nvSpPr>
          <p:cNvPr id="220" name="Google Shape;220;p16"/>
          <p:cNvSpPr txBox="1"/>
          <p:nvPr/>
        </p:nvSpPr>
        <p:spPr>
          <a:xfrm>
            <a:off x="7572375" y="1047750"/>
            <a:ext cx="14289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935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"Every model is a data problem before it's a model problem."</a:t>
            </a:r>
            <a:endParaRPr b="0" i="1" sz="935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FFCC00"/>
                </a:solidFill>
                <a:latin typeface="Space Grotesk"/>
                <a:ea typeface="Space Grotesk"/>
                <a:cs typeface="Space Grotesk"/>
                <a:sym typeface="Space Grotesk"/>
              </a:rPr>
              <a:t>S1</a:t>
            </a:r>
            <a:endParaRPr b="0" sz="2600">
              <a:solidFill>
                <a:srgbClr val="FFCC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F4F4F0"/>
                </a:solidFill>
                <a:latin typeface="Inter Medium"/>
                <a:ea typeface="Inter Medium"/>
                <a:cs typeface="Inter Medium"/>
                <a:sym typeface="Inter Medium"/>
              </a:rPr>
              <a:t>Roadmap Rank</a:t>
            </a:r>
            <a:endParaRPr b="0" sz="900">
              <a:solidFill>
                <a:srgbClr val="F4F4F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FFCC00"/>
                </a:solidFill>
                <a:latin typeface="Space Grotesk"/>
                <a:ea typeface="Space Grotesk"/>
                <a:cs typeface="Space Grotesk"/>
                <a:sym typeface="Space Grotesk"/>
              </a:rPr>
              <a:t>Instant</a:t>
            </a:r>
            <a:endParaRPr b="0" sz="2600">
              <a:solidFill>
                <a:srgbClr val="FFCC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F4F4F0"/>
                </a:solidFill>
                <a:latin typeface="Inter Medium"/>
                <a:ea typeface="Inter Medium"/>
                <a:cs typeface="Inter Medium"/>
                <a:sym typeface="Inter Medium"/>
              </a:rPr>
              <a:t>Generation</a:t>
            </a:r>
            <a:endParaRPr b="0" sz="900">
              <a:solidFill>
                <a:srgbClr val="F4F4F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221" name="Google Shape;221;p16"/>
          <p:cNvGrpSpPr/>
          <p:nvPr/>
        </p:nvGrpSpPr>
        <p:grpSpPr>
          <a:xfrm>
            <a:off x="476250" y="1333500"/>
            <a:ext cx="3181500" cy="3276600"/>
            <a:chOff x="0" y="0"/>
            <a:chExt cx="3181500" cy="3276600"/>
          </a:xfrm>
        </p:grpSpPr>
        <p:sp>
          <p:nvSpPr>
            <p:cNvPr id="222" name="Google Shape;222;p16"/>
            <p:cNvSpPr/>
            <p:nvPr/>
          </p:nvSpPr>
          <p:spPr>
            <a:xfrm>
              <a:off x="0" y="0"/>
              <a:ext cx="3143400" cy="3238500"/>
            </a:xfrm>
            <a:prstGeom prst="roundRect">
              <a:avLst>
                <a:gd fmla="val 1818" name="adj"/>
              </a:avLst>
            </a:prstGeom>
            <a:solidFill>
              <a:srgbClr val="FFFFFF"/>
            </a:solidFill>
            <a:ln cap="flat" cmpd="sng" w="28575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6"/>
            <p:cNvSpPr/>
            <p:nvPr/>
          </p:nvSpPr>
          <p:spPr>
            <a:xfrm>
              <a:off x="38100" y="38100"/>
              <a:ext cx="3143400" cy="3238500"/>
            </a:xfrm>
            <a:prstGeom prst="roundRect">
              <a:avLst>
                <a:gd fmla="val 1818" name="adj"/>
              </a:avLst>
            </a:prstGeom>
            <a:solidFill>
              <a:srgbClr val="111111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4" name="Google Shape;224;p16"/>
            <p:cNvGrpSpPr/>
            <p:nvPr/>
          </p:nvGrpSpPr>
          <p:grpSpPr>
            <a:xfrm>
              <a:off x="142875" y="142875"/>
              <a:ext cx="2857500" cy="333300"/>
              <a:chOff x="0" y="0"/>
              <a:chExt cx="2857500" cy="333300"/>
            </a:xfrm>
          </p:grpSpPr>
          <p:sp>
            <p:nvSpPr>
              <p:cNvPr id="225" name="Google Shape;225;p16"/>
              <p:cNvSpPr/>
              <p:nvPr/>
            </p:nvSpPr>
            <p:spPr>
              <a:xfrm>
                <a:off x="0" y="0"/>
                <a:ext cx="2857500" cy="333300"/>
              </a:xfrm>
              <a:prstGeom prst="roundRect">
                <a:avLst>
                  <a:gd fmla="val 11428" name="adj"/>
                </a:avLst>
              </a:prstGeom>
              <a:solidFill>
                <a:srgbClr val="00E676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6"/>
              <p:cNvSpPr txBox="1"/>
              <p:nvPr/>
            </p:nvSpPr>
            <p:spPr>
              <a:xfrm>
                <a:off x="0" y="0"/>
                <a:ext cx="28575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35">
                    <a:solidFill>
                      <a:srgbClr val="111111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S1: EASIEST TO ACQUIRE</a:t>
                </a:r>
                <a:endParaRPr b="0" sz="935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grpSp>
          <p:nvGrpSpPr>
            <p:cNvPr id="227" name="Google Shape;227;p16"/>
            <p:cNvGrpSpPr/>
            <p:nvPr/>
          </p:nvGrpSpPr>
          <p:grpSpPr>
            <a:xfrm>
              <a:off x="142875" y="619125"/>
              <a:ext cx="2857575" cy="381000"/>
              <a:chOff x="0" y="0"/>
              <a:chExt cx="2857575" cy="381000"/>
            </a:xfrm>
          </p:grpSpPr>
          <p:sp>
            <p:nvSpPr>
              <p:cNvPr id="228" name="Google Shape;228;p16"/>
              <p:cNvSpPr/>
              <p:nvPr/>
            </p:nvSpPr>
            <p:spPr>
              <a:xfrm>
                <a:off x="0" y="0"/>
                <a:ext cx="238200" cy="238200"/>
              </a:xfrm>
              <a:prstGeom prst="roundRect">
                <a:avLst>
                  <a:gd fmla="val 16000" name="adj"/>
                </a:avLst>
              </a:prstGeom>
              <a:solidFill>
                <a:srgbClr val="0044FF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" name="Google Shape;229;p16"/>
              <p:cNvSpPr txBox="1"/>
              <p:nvPr/>
            </p:nvSpPr>
            <p:spPr>
              <a:xfrm>
                <a:off x="0" y="0"/>
                <a:ext cx="2382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625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S1</a:t>
                </a:r>
                <a:endParaRPr b="0" sz="625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230" name="Google Shape;230;p16"/>
              <p:cNvSpPr txBox="1"/>
              <p:nvPr/>
            </p:nvSpPr>
            <p:spPr>
              <a:xfrm>
                <a:off x="333375" y="0"/>
                <a:ext cx="25242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25">
                    <a:solidFill>
                      <a:srgbClr val="555555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WHAT IT IS</a:t>
                </a:r>
                <a:endParaRPr b="1" sz="825">
                  <a:solidFill>
                    <a:srgbClr val="555555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950">
                    <a:solidFill>
                      <a:srgbClr val="111111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Prompt a model directly to create custom datasets</a:t>
                </a:r>
                <a:endParaRPr b="0" sz="950">
                  <a:solidFill>
                    <a:srgbClr val="111111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sp>
          <p:nvSpPr>
            <p:cNvPr id="231" name="Google Shape;231;p16"/>
            <p:cNvSpPr txBox="1"/>
            <p:nvPr/>
          </p:nvSpPr>
          <p:spPr>
            <a:xfrm>
              <a:off x="476250" y="1333500"/>
              <a:ext cx="25242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25">
                  <a:solidFill>
                    <a:srgbClr val="55555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THE METHOD</a:t>
              </a:r>
              <a:endParaRPr b="1" sz="625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1" lang="en" sz="1250">
                  <a:solidFill>
                    <a:srgbClr val="333333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"Generate me a synthetic CSV dataset for X with N rows..."</a:t>
              </a:r>
              <a:endParaRPr b="0" i="1" sz="1250">
                <a:solidFill>
                  <a:srgbClr val="333333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32" name="Google Shape;232;p16"/>
            <p:cNvSpPr txBox="1"/>
            <p:nvPr/>
          </p:nvSpPr>
          <p:spPr>
            <a:xfrm>
              <a:off x="476250" y="2095500"/>
              <a:ext cx="2524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935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233" name="Google Shape;233;p16"/>
            <p:cNvGrpSpPr/>
            <p:nvPr/>
          </p:nvGrpSpPr>
          <p:grpSpPr>
            <a:xfrm>
              <a:off x="142875" y="2714625"/>
              <a:ext cx="2857500" cy="381000"/>
              <a:chOff x="0" y="0"/>
              <a:chExt cx="2857500" cy="381000"/>
            </a:xfrm>
          </p:grpSpPr>
          <p:sp>
            <p:nvSpPr>
              <p:cNvPr id="234" name="Google Shape;234;p16"/>
              <p:cNvSpPr/>
              <p:nvPr/>
            </p:nvSpPr>
            <p:spPr>
              <a:xfrm>
                <a:off x="0" y="0"/>
                <a:ext cx="2857500" cy="381000"/>
              </a:xfrm>
              <a:prstGeom prst="roundRect">
                <a:avLst>
                  <a:gd fmla="val 10000" name="adj"/>
                </a:avLst>
              </a:prstGeom>
              <a:solidFill>
                <a:srgbClr val="F4F4F0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16"/>
              <p:cNvSpPr txBox="1"/>
              <p:nvPr/>
            </p:nvSpPr>
            <p:spPr>
              <a:xfrm>
                <a:off x="0" y="0"/>
                <a:ext cx="2857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95250" spcFirstLastPara="1" rIns="9525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b="1" lang="en" sz="625">
                    <a:solidFill>
                      <a:srgbClr val="555555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WHERE TO GO</a:t>
                </a:r>
                <a:endParaRPr b="1" sz="625">
                  <a:solidFill>
                    <a:srgbClr val="555555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935">
                    <a:solidFill>
                      <a:srgbClr val="111111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claude.ai, chatgpt.com, gemini.google.com</a:t>
                </a:r>
                <a:endParaRPr b="1" sz="9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0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7"/>
          <p:cNvSpPr/>
          <p:nvPr/>
        </p:nvSpPr>
        <p:spPr>
          <a:xfrm>
            <a:off x="7429500" y="0"/>
            <a:ext cx="1714500" cy="5143500"/>
          </a:xfrm>
          <a:prstGeom prst="rect">
            <a:avLst/>
          </a:prstGeom>
          <a:solidFill>
            <a:srgbClr val="0044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1" name="Google Shape;241;p17"/>
          <p:cNvCxnSpPr/>
          <p:nvPr/>
        </p:nvCxnSpPr>
        <p:spPr>
          <a:xfrm>
            <a:off x="7429500" y="0"/>
            <a:ext cx="0" cy="5143500"/>
          </a:xfrm>
          <a:prstGeom prst="straightConnector1">
            <a:avLst/>
          </a:prstGeom>
          <a:solidFill>
            <a:srgbClr val="FFFFFF"/>
          </a:solidFill>
          <a:ln cap="flat" cmpd="sng" w="762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2" name="Google Shape;242;p17"/>
          <p:cNvSpPr/>
          <p:nvPr/>
        </p:nvSpPr>
        <p:spPr>
          <a:xfrm>
            <a:off x="190500" y="190500"/>
            <a:ext cx="8763000" cy="4762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381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3" name="Google Shape;243;p17"/>
          <p:cNvGrpSpPr/>
          <p:nvPr/>
        </p:nvGrpSpPr>
        <p:grpSpPr>
          <a:xfrm>
            <a:off x="8058150" y="438150"/>
            <a:ext cx="457200" cy="457200"/>
            <a:chOff x="57150" y="57150"/>
            <a:chExt cx="457200" cy="457200"/>
          </a:xfrm>
        </p:grpSpPr>
        <p:sp>
          <p:nvSpPr>
            <p:cNvPr id="244" name="Google Shape;244;p17"/>
            <p:cNvSpPr/>
            <p:nvPr/>
          </p:nvSpPr>
          <p:spPr>
            <a:xfrm>
              <a:off x="57150" y="57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7"/>
            <p:cNvSpPr/>
            <p:nvPr/>
          </p:nvSpPr>
          <p:spPr>
            <a:xfrm>
              <a:off x="247650" y="57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7"/>
            <p:cNvSpPr/>
            <p:nvPr/>
          </p:nvSpPr>
          <p:spPr>
            <a:xfrm>
              <a:off x="438150" y="57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7"/>
            <p:cNvSpPr/>
            <p:nvPr/>
          </p:nvSpPr>
          <p:spPr>
            <a:xfrm>
              <a:off x="57150" y="2476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7"/>
            <p:cNvSpPr/>
            <p:nvPr/>
          </p:nvSpPr>
          <p:spPr>
            <a:xfrm>
              <a:off x="247650" y="2476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7"/>
            <p:cNvSpPr/>
            <p:nvPr/>
          </p:nvSpPr>
          <p:spPr>
            <a:xfrm>
              <a:off x="438150" y="2476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7"/>
            <p:cNvSpPr/>
            <p:nvPr/>
          </p:nvSpPr>
          <p:spPr>
            <a:xfrm>
              <a:off x="57150" y="438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7"/>
            <p:cNvSpPr/>
            <p:nvPr/>
          </p:nvSpPr>
          <p:spPr>
            <a:xfrm>
              <a:off x="247650" y="438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7"/>
            <p:cNvSpPr/>
            <p:nvPr/>
          </p:nvSpPr>
          <p:spPr>
            <a:xfrm>
              <a:off x="438150" y="438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3" name="Google Shape;253;p17"/>
          <p:cNvGrpSpPr/>
          <p:nvPr/>
        </p:nvGrpSpPr>
        <p:grpSpPr>
          <a:xfrm>
            <a:off x="7905750" y="4000500"/>
            <a:ext cx="762000" cy="714300"/>
            <a:chOff x="0" y="0"/>
            <a:chExt cx="762000" cy="714300"/>
          </a:xfrm>
        </p:grpSpPr>
        <p:sp>
          <p:nvSpPr>
            <p:cNvPr id="254" name="Google Shape;254;p17"/>
            <p:cNvSpPr/>
            <p:nvPr/>
          </p:nvSpPr>
          <p:spPr>
            <a:xfrm>
              <a:off x="0" y="0"/>
              <a:ext cx="762000" cy="714300"/>
            </a:xfrm>
            <a:custGeom>
              <a:rect b="b" l="l" r="r" t="t"/>
              <a:pathLst>
                <a:path extrusionOk="0" h="120000" w="120000">
                  <a:moveTo>
                    <a:pt x="0" y="32000"/>
                  </a:moveTo>
                  <a:lnTo>
                    <a:pt x="0" y="96000"/>
                  </a:lnTo>
                  <a:cubicBezTo>
                    <a:pt x="0" y="108800"/>
                    <a:pt x="27000" y="120000"/>
                    <a:pt x="60000" y="120000"/>
                  </a:cubicBezTo>
                  <a:cubicBezTo>
                    <a:pt x="93000" y="120000"/>
                    <a:pt x="120000" y="108800"/>
                    <a:pt x="120000" y="96000"/>
                  </a:cubicBezTo>
                  <a:lnTo>
                    <a:pt x="120000" y="0"/>
                  </a:lnTo>
                </a:path>
              </a:pathLst>
            </a:custGeom>
            <a:solidFill>
              <a:srgbClr val="00E676"/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7"/>
            <p:cNvSpPr/>
            <p:nvPr/>
          </p:nvSpPr>
          <p:spPr>
            <a:xfrm>
              <a:off x="0" y="47625"/>
              <a:ext cx="762000" cy="285900"/>
            </a:xfrm>
            <a:prstGeom prst="ellipse">
              <a:avLst/>
            </a:prstGeom>
            <a:solidFill>
              <a:srgbClr val="00E676"/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7"/>
            <p:cNvSpPr/>
            <p:nvPr/>
          </p:nvSpPr>
          <p:spPr>
            <a:xfrm>
              <a:off x="0" y="238125"/>
              <a:ext cx="762000" cy="285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7" name="Google Shape;257;p17"/>
          <p:cNvSpPr txBox="1"/>
          <p:nvPr/>
        </p:nvSpPr>
        <p:spPr>
          <a:xfrm>
            <a:off x="476250" y="428625"/>
            <a:ext cx="6667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800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rPr>
              <a:t>SOURCE 1: PROS &amp; CONS</a:t>
            </a:r>
            <a:endParaRPr b="0" sz="2800">
              <a:solidFill>
                <a:srgbClr val="11111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258" name="Google Shape;258;p17"/>
          <p:cNvGrpSpPr/>
          <p:nvPr/>
        </p:nvGrpSpPr>
        <p:grpSpPr>
          <a:xfrm>
            <a:off x="476250" y="1143000"/>
            <a:ext cx="3181500" cy="3467100"/>
            <a:chOff x="0" y="0"/>
            <a:chExt cx="3181500" cy="3467100"/>
          </a:xfrm>
        </p:grpSpPr>
        <p:sp>
          <p:nvSpPr>
            <p:cNvPr id="259" name="Google Shape;259;p17"/>
            <p:cNvSpPr/>
            <p:nvPr/>
          </p:nvSpPr>
          <p:spPr>
            <a:xfrm>
              <a:off x="0" y="0"/>
              <a:ext cx="3143400" cy="3429000"/>
            </a:xfrm>
            <a:prstGeom prst="roundRect">
              <a:avLst>
                <a:gd fmla="val 1818" name="adj"/>
              </a:avLst>
            </a:prstGeom>
            <a:solidFill>
              <a:srgbClr val="FFFFFF"/>
            </a:solidFill>
            <a:ln cap="flat" cmpd="sng" w="28575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17"/>
            <p:cNvSpPr/>
            <p:nvPr/>
          </p:nvSpPr>
          <p:spPr>
            <a:xfrm>
              <a:off x="38100" y="38100"/>
              <a:ext cx="3143400" cy="3429000"/>
            </a:xfrm>
            <a:prstGeom prst="roundRect">
              <a:avLst>
                <a:gd fmla="val 1818" name="adj"/>
              </a:avLst>
            </a:prstGeom>
            <a:solidFill>
              <a:srgbClr val="111111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1" name="Google Shape;261;p17"/>
            <p:cNvGrpSpPr/>
            <p:nvPr/>
          </p:nvGrpSpPr>
          <p:grpSpPr>
            <a:xfrm>
              <a:off x="142875" y="142875"/>
              <a:ext cx="2857500" cy="333300"/>
              <a:chOff x="0" y="0"/>
              <a:chExt cx="2857500" cy="333300"/>
            </a:xfrm>
          </p:grpSpPr>
          <p:sp>
            <p:nvSpPr>
              <p:cNvPr id="262" name="Google Shape;262;p17"/>
              <p:cNvSpPr/>
              <p:nvPr/>
            </p:nvSpPr>
            <p:spPr>
              <a:xfrm>
                <a:off x="0" y="0"/>
                <a:ext cx="2857500" cy="333300"/>
              </a:xfrm>
              <a:prstGeom prst="roundRect">
                <a:avLst>
                  <a:gd fmla="val 11428" name="adj"/>
                </a:avLst>
              </a:prstGeom>
              <a:solidFill>
                <a:srgbClr val="00E676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" name="Google Shape;263;p17"/>
              <p:cNvSpPr txBox="1"/>
              <p:nvPr/>
            </p:nvSpPr>
            <p:spPr>
              <a:xfrm>
                <a:off x="0" y="0"/>
                <a:ext cx="28575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111111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ADVANTAGES / PROS</a:t>
                </a:r>
                <a:endParaRPr b="0" sz="110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grpSp>
          <p:nvGrpSpPr>
            <p:cNvPr id="264" name="Google Shape;264;p17"/>
            <p:cNvGrpSpPr/>
            <p:nvPr/>
          </p:nvGrpSpPr>
          <p:grpSpPr>
            <a:xfrm>
              <a:off x="142875" y="619125"/>
              <a:ext cx="238200" cy="238200"/>
              <a:chOff x="0" y="0"/>
              <a:chExt cx="238200" cy="238200"/>
            </a:xfrm>
          </p:grpSpPr>
          <p:sp>
            <p:nvSpPr>
              <p:cNvPr id="265" name="Google Shape;265;p17"/>
              <p:cNvSpPr/>
              <p:nvPr/>
            </p:nvSpPr>
            <p:spPr>
              <a:xfrm>
                <a:off x="0" y="0"/>
                <a:ext cx="238200" cy="238200"/>
              </a:xfrm>
              <a:prstGeom prst="roundRect">
                <a:avLst>
                  <a:gd fmla="val 16000" name="adj"/>
                </a:avLst>
              </a:prstGeom>
              <a:solidFill>
                <a:srgbClr val="0044FF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7"/>
              <p:cNvSpPr txBox="1"/>
              <p:nvPr/>
            </p:nvSpPr>
            <p:spPr>
              <a:xfrm>
                <a:off x="0" y="0"/>
                <a:ext cx="2382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+</a:t>
                </a:r>
                <a:endParaRPr b="0" sz="10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sp>
          <p:nvSpPr>
            <p:cNvPr id="267" name="Google Shape;267;p17"/>
            <p:cNvSpPr txBox="1"/>
            <p:nvPr/>
          </p:nvSpPr>
          <p:spPr>
            <a:xfrm>
              <a:off x="476250" y="619125"/>
              <a:ext cx="25242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1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Where AI Generation Excels</a:t>
              </a:r>
              <a:endParaRPr b="0" sz="1310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-308848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111111"/>
                </a:buClr>
                <a:buSzPts val="1264"/>
                <a:buFont typeface="Inter"/>
                <a:buChar char="●"/>
              </a:pPr>
              <a:r>
                <a:rPr b="1" lang="en" sz="1264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Instant &amp; custom:</a:t>
              </a:r>
              <a:r>
                <a:rPr b="0" lang="en" sz="1264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Zero setup needed to get a fully customized schema without licensing restrictions.</a:t>
              </a:r>
              <a:endParaRPr b="0" sz="1264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308848" lvl="0" marL="457200" rtl="0" algn="l">
                <a:spcBef>
                  <a:spcPts val="900"/>
                </a:spcBef>
                <a:spcAft>
                  <a:spcPts val="1125"/>
                </a:spcAft>
                <a:buClr>
                  <a:srgbClr val="111111"/>
                </a:buClr>
                <a:buSzPts val="1264"/>
                <a:buFont typeface="Inter"/>
                <a:buChar char="●"/>
              </a:pPr>
              <a:r>
                <a:rPr b="1" lang="en" sz="1264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Stress-testing:</a:t>
              </a:r>
              <a:r>
                <a:rPr b="0" lang="en" sz="1264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Ideal for testing and verifying engineering pipelines before production data becomes ready.</a:t>
              </a:r>
              <a:endParaRPr b="0" sz="1264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268" name="Google Shape;268;p17"/>
          <p:cNvGrpSpPr/>
          <p:nvPr/>
        </p:nvGrpSpPr>
        <p:grpSpPr>
          <a:xfrm>
            <a:off x="3905250" y="1143000"/>
            <a:ext cx="3181500" cy="3467100"/>
            <a:chOff x="0" y="0"/>
            <a:chExt cx="3181500" cy="3467100"/>
          </a:xfrm>
        </p:grpSpPr>
        <p:sp>
          <p:nvSpPr>
            <p:cNvPr id="269" name="Google Shape;269;p17"/>
            <p:cNvSpPr/>
            <p:nvPr/>
          </p:nvSpPr>
          <p:spPr>
            <a:xfrm>
              <a:off x="0" y="0"/>
              <a:ext cx="3143400" cy="3429000"/>
            </a:xfrm>
            <a:prstGeom prst="roundRect">
              <a:avLst>
                <a:gd fmla="val 1818" name="adj"/>
              </a:avLst>
            </a:prstGeom>
            <a:solidFill>
              <a:srgbClr val="FFFFFF"/>
            </a:solidFill>
            <a:ln cap="flat" cmpd="sng" w="28575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7"/>
            <p:cNvSpPr/>
            <p:nvPr/>
          </p:nvSpPr>
          <p:spPr>
            <a:xfrm>
              <a:off x="38100" y="38100"/>
              <a:ext cx="3143400" cy="3429000"/>
            </a:xfrm>
            <a:prstGeom prst="roundRect">
              <a:avLst>
                <a:gd fmla="val 1818" name="adj"/>
              </a:avLst>
            </a:prstGeom>
            <a:solidFill>
              <a:srgbClr val="111111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71" name="Google Shape;271;p17"/>
            <p:cNvGrpSpPr/>
            <p:nvPr/>
          </p:nvGrpSpPr>
          <p:grpSpPr>
            <a:xfrm>
              <a:off x="142875" y="142875"/>
              <a:ext cx="2857500" cy="333300"/>
              <a:chOff x="0" y="0"/>
              <a:chExt cx="2857500" cy="333300"/>
            </a:xfrm>
          </p:grpSpPr>
          <p:sp>
            <p:nvSpPr>
              <p:cNvPr id="272" name="Google Shape;272;p17"/>
              <p:cNvSpPr/>
              <p:nvPr/>
            </p:nvSpPr>
            <p:spPr>
              <a:xfrm>
                <a:off x="0" y="0"/>
                <a:ext cx="2857500" cy="333300"/>
              </a:xfrm>
              <a:prstGeom prst="roundRect">
                <a:avLst>
                  <a:gd fmla="val 11428" name="adj"/>
                </a:avLst>
              </a:prstGeom>
              <a:solidFill>
                <a:srgbClr val="FFCC00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17"/>
              <p:cNvSpPr txBox="1"/>
              <p:nvPr/>
            </p:nvSpPr>
            <p:spPr>
              <a:xfrm>
                <a:off x="0" y="0"/>
                <a:ext cx="28575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111111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DISADVANTAGES / CONS</a:t>
                </a:r>
                <a:endParaRPr b="0" sz="110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grpSp>
          <p:nvGrpSpPr>
            <p:cNvPr id="274" name="Google Shape;274;p17"/>
            <p:cNvGrpSpPr/>
            <p:nvPr/>
          </p:nvGrpSpPr>
          <p:grpSpPr>
            <a:xfrm>
              <a:off x="142875" y="619125"/>
              <a:ext cx="238200" cy="238200"/>
              <a:chOff x="0" y="0"/>
              <a:chExt cx="238200" cy="238200"/>
            </a:xfrm>
          </p:grpSpPr>
          <p:sp>
            <p:nvSpPr>
              <p:cNvPr id="275" name="Google Shape;275;p17"/>
              <p:cNvSpPr/>
              <p:nvPr/>
            </p:nvSpPr>
            <p:spPr>
              <a:xfrm>
                <a:off x="0" y="0"/>
                <a:ext cx="238200" cy="238200"/>
              </a:xfrm>
              <a:prstGeom prst="roundRect">
                <a:avLst>
                  <a:gd fmla="val 16000" name="adj"/>
                </a:avLst>
              </a:prstGeom>
              <a:solidFill>
                <a:srgbClr val="111111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" name="Google Shape;276;p17"/>
              <p:cNvSpPr txBox="1"/>
              <p:nvPr/>
            </p:nvSpPr>
            <p:spPr>
              <a:xfrm>
                <a:off x="0" y="0"/>
                <a:ext cx="2382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-</a:t>
                </a:r>
                <a:endParaRPr b="0" sz="10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sp>
          <p:nvSpPr>
            <p:cNvPr id="277" name="Google Shape;277;p17"/>
            <p:cNvSpPr txBox="1"/>
            <p:nvPr/>
          </p:nvSpPr>
          <p:spPr>
            <a:xfrm>
              <a:off x="476250" y="619125"/>
              <a:ext cx="25242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1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Inherent Structural Limits</a:t>
              </a:r>
              <a:endParaRPr b="0" sz="1110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-296148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111111"/>
                </a:buClr>
                <a:buSzPts val="1064"/>
                <a:buFont typeface="Inter"/>
                <a:buChar char="●"/>
              </a:pPr>
              <a:r>
                <a:rPr b="1" lang="en" sz="1064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Artificial distribution:</a:t>
              </a:r>
              <a:r>
                <a:rPr b="0" lang="en" sz="1064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The model does not understand the underlying true statistical distribution.</a:t>
              </a:r>
              <a:endParaRPr b="0" sz="1064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96148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111111"/>
                </a:buClr>
                <a:buSzPts val="1064"/>
                <a:buFont typeface="Inter"/>
                <a:buChar char="●"/>
              </a:pPr>
              <a:r>
                <a:rPr b="1" lang="en" sz="1064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Hallucinated logic:</a:t>
              </a:r>
              <a:r>
                <a:rPr b="0" lang="en" sz="1064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Can hallucinate highly implausible correlations that superficially look valid.</a:t>
              </a:r>
              <a:endParaRPr b="0" sz="1064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96148" lvl="0" marL="457200" rtl="0" algn="l">
                <a:spcBef>
                  <a:spcPts val="900"/>
                </a:spcBef>
                <a:spcAft>
                  <a:spcPts val="1125"/>
                </a:spcAft>
                <a:buClr>
                  <a:srgbClr val="111111"/>
                </a:buClr>
                <a:buSzPts val="1064"/>
                <a:buFont typeface="Inter"/>
                <a:buChar char="●"/>
              </a:pPr>
              <a:r>
                <a:rPr b="1" lang="en" sz="1064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Not for performance:</a:t>
              </a:r>
              <a:r>
                <a:rPr b="0" lang="en" sz="1064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Never usable as empirical evidence of real-world model accuracy.</a:t>
              </a:r>
              <a:endParaRPr b="0" sz="1064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278" name="Google Shape;278;p17"/>
          <p:cNvSpPr txBox="1"/>
          <p:nvPr/>
        </p:nvSpPr>
        <p:spPr>
          <a:xfrm>
            <a:off x="7572375" y="1047750"/>
            <a:ext cx="14289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95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"Every model is a data problem before it's a model problem."</a:t>
            </a:r>
            <a:endParaRPr b="0" i="1" sz="95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i="1" lang="en" sz="2600">
                <a:solidFill>
                  <a:srgbClr val="FFCC00"/>
                </a:solidFill>
                <a:latin typeface="Space Grotesk"/>
                <a:ea typeface="Space Grotesk"/>
                <a:cs typeface="Space Grotesk"/>
                <a:sym typeface="Space Grotesk"/>
              </a:rPr>
              <a:t>S1</a:t>
            </a:r>
            <a:endParaRPr b="0" i="1" sz="2600">
              <a:solidFill>
                <a:srgbClr val="FFCC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900">
                <a:solidFill>
                  <a:srgbClr val="F4F4F0"/>
                </a:solidFill>
                <a:latin typeface="Inter Medium"/>
                <a:ea typeface="Inter Medium"/>
                <a:cs typeface="Inter Medium"/>
                <a:sym typeface="Inter Medium"/>
              </a:rPr>
              <a:t>Synthetic Source</a:t>
            </a:r>
            <a:endParaRPr b="0" i="1" sz="900">
              <a:solidFill>
                <a:srgbClr val="F4F4F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t/>
            </a:r>
            <a:endParaRPr b="0" i="1" sz="900">
              <a:solidFill>
                <a:srgbClr val="F4F4F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0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8"/>
          <p:cNvSpPr/>
          <p:nvPr/>
        </p:nvSpPr>
        <p:spPr>
          <a:xfrm>
            <a:off x="7429500" y="0"/>
            <a:ext cx="1714500" cy="5143500"/>
          </a:xfrm>
          <a:prstGeom prst="rect">
            <a:avLst/>
          </a:prstGeom>
          <a:solidFill>
            <a:srgbClr val="0044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4" name="Google Shape;284;p18"/>
          <p:cNvCxnSpPr/>
          <p:nvPr/>
        </p:nvCxnSpPr>
        <p:spPr>
          <a:xfrm>
            <a:off x="7429500" y="0"/>
            <a:ext cx="0" cy="5143500"/>
          </a:xfrm>
          <a:prstGeom prst="straightConnector1">
            <a:avLst/>
          </a:prstGeom>
          <a:solidFill>
            <a:srgbClr val="FFFFFF"/>
          </a:solidFill>
          <a:ln cap="flat" cmpd="sng" w="762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5" name="Google Shape;285;p18"/>
          <p:cNvSpPr/>
          <p:nvPr/>
        </p:nvSpPr>
        <p:spPr>
          <a:xfrm>
            <a:off x="190500" y="190500"/>
            <a:ext cx="8763000" cy="4762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381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6" name="Google Shape;286;p18"/>
          <p:cNvGrpSpPr/>
          <p:nvPr/>
        </p:nvGrpSpPr>
        <p:grpSpPr>
          <a:xfrm>
            <a:off x="8058150" y="438150"/>
            <a:ext cx="457200" cy="457200"/>
            <a:chOff x="57150" y="57150"/>
            <a:chExt cx="457200" cy="457200"/>
          </a:xfrm>
        </p:grpSpPr>
        <p:sp>
          <p:nvSpPr>
            <p:cNvPr id="287" name="Google Shape;287;p18"/>
            <p:cNvSpPr/>
            <p:nvPr/>
          </p:nvSpPr>
          <p:spPr>
            <a:xfrm>
              <a:off x="57150" y="57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8"/>
            <p:cNvSpPr/>
            <p:nvPr/>
          </p:nvSpPr>
          <p:spPr>
            <a:xfrm>
              <a:off x="247650" y="57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18"/>
            <p:cNvSpPr/>
            <p:nvPr/>
          </p:nvSpPr>
          <p:spPr>
            <a:xfrm>
              <a:off x="438150" y="57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18"/>
            <p:cNvSpPr/>
            <p:nvPr/>
          </p:nvSpPr>
          <p:spPr>
            <a:xfrm>
              <a:off x="57150" y="2476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8"/>
            <p:cNvSpPr/>
            <p:nvPr/>
          </p:nvSpPr>
          <p:spPr>
            <a:xfrm>
              <a:off x="247650" y="2476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18"/>
            <p:cNvSpPr/>
            <p:nvPr/>
          </p:nvSpPr>
          <p:spPr>
            <a:xfrm>
              <a:off x="438150" y="2476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18"/>
            <p:cNvSpPr/>
            <p:nvPr/>
          </p:nvSpPr>
          <p:spPr>
            <a:xfrm>
              <a:off x="57150" y="438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18"/>
            <p:cNvSpPr/>
            <p:nvPr/>
          </p:nvSpPr>
          <p:spPr>
            <a:xfrm>
              <a:off x="247650" y="438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18"/>
            <p:cNvSpPr/>
            <p:nvPr/>
          </p:nvSpPr>
          <p:spPr>
            <a:xfrm>
              <a:off x="438150" y="438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6" name="Google Shape;296;p18"/>
          <p:cNvGrpSpPr/>
          <p:nvPr/>
        </p:nvGrpSpPr>
        <p:grpSpPr>
          <a:xfrm>
            <a:off x="7905750" y="4000500"/>
            <a:ext cx="762000" cy="714300"/>
            <a:chOff x="0" y="0"/>
            <a:chExt cx="762000" cy="714300"/>
          </a:xfrm>
        </p:grpSpPr>
        <p:sp>
          <p:nvSpPr>
            <p:cNvPr id="297" name="Google Shape;297;p18"/>
            <p:cNvSpPr/>
            <p:nvPr/>
          </p:nvSpPr>
          <p:spPr>
            <a:xfrm>
              <a:off x="0" y="0"/>
              <a:ext cx="762000" cy="714300"/>
            </a:xfrm>
            <a:custGeom>
              <a:rect b="b" l="l" r="r" t="t"/>
              <a:pathLst>
                <a:path extrusionOk="0" h="120000" w="120000">
                  <a:moveTo>
                    <a:pt x="0" y="32000"/>
                  </a:moveTo>
                  <a:lnTo>
                    <a:pt x="0" y="96000"/>
                  </a:lnTo>
                  <a:cubicBezTo>
                    <a:pt x="0" y="108800"/>
                    <a:pt x="27000" y="120000"/>
                    <a:pt x="60000" y="120000"/>
                  </a:cubicBezTo>
                  <a:cubicBezTo>
                    <a:pt x="93000" y="120000"/>
                    <a:pt x="120000" y="108800"/>
                    <a:pt x="120000" y="96000"/>
                  </a:cubicBezTo>
                  <a:lnTo>
                    <a:pt x="120000" y="0"/>
                  </a:lnTo>
                </a:path>
              </a:pathLst>
            </a:custGeom>
            <a:solidFill>
              <a:srgbClr val="00E676"/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18"/>
            <p:cNvSpPr/>
            <p:nvPr/>
          </p:nvSpPr>
          <p:spPr>
            <a:xfrm>
              <a:off x="0" y="0"/>
              <a:ext cx="762000" cy="285900"/>
            </a:xfrm>
            <a:prstGeom prst="ellipse">
              <a:avLst/>
            </a:prstGeom>
            <a:solidFill>
              <a:srgbClr val="00E676"/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18"/>
            <p:cNvSpPr/>
            <p:nvPr/>
          </p:nvSpPr>
          <p:spPr>
            <a:xfrm>
              <a:off x="0" y="190500"/>
              <a:ext cx="762000" cy="285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0" name="Google Shape;300;p18"/>
          <p:cNvSpPr txBox="1"/>
          <p:nvPr/>
        </p:nvSpPr>
        <p:spPr>
          <a:xfrm>
            <a:off x="476250" y="428625"/>
            <a:ext cx="6667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960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rPr>
              <a:t>SOURCE 2: PRE-BUILT DATASETS</a:t>
            </a:r>
            <a:endParaRPr b="0" sz="2960">
              <a:solidFill>
                <a:srgbClr val="11111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301" name="Google Shape;301;p18"/>
          <p:cNvGrpSpPr/>
          <p:nvPr/>
        </p:nvGrpSpPr>
        <p:grpSpPr>
          <a:xfrm>
            <a:off x="476250" y="1333500"/>
            <a:ext cx="3181500" cy="3276600"/>
            <a:chOff x="0" y="0"/>
            <a:chExt cx="3181500" cy="3276600"/>
          </a:xfrm>
        </p:grpSpPr>
        <p:sp>
          <p:nvSpPr>
            <p:cNvPr id="302" name="Google Shape;302;p18"/>
            <p:cNvSpPr/>
            <p:nvPr/>
          </p:nvSpPr>
          <p:spPr>
            <a:xfrm>
              <a:off x="0" y="0"/>
              <a:ext cx="3143400" cy="3238500"/>
            </a:xfrm>
            <a:prstGeom prst="roundRect">
              <a:avLst>
                <a:gd fmla="val 1818" name="adj"/>
              </a:avLst>
            </a:prstGeom>
            <a:solidFill>
              <a:srgbClr val="FFFFFF"/>
            </a:solidFill>
            <a:ln cap="flat" cmpd="sng" w="28575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8"/>
            <p:cNvSpPr/>
            <p:nvPr/>
          </p:nvSpPr>
          <p:spPr>
            <a:xfrm>
              <a:off x="38100" y="38100"/>
              <a:ext cx="3143400" cy="3238500"/>
            </a:xfrm>
            <a:prstGeom prst="roundRect">
              <a:avLst>
                <a:gd fmla="val 1818" name="adj"/>
              </a:avLst>
            </a:prstGeom>
            <a:solidFill>
              <a:srgbClr val="111111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04" name="Google Shape;304;p18"/>
            <p:cNvGrpSpPr/>
            <p:nvPr/>
          </p:nvGrpSpPr>
          <p:grpSpPr>
            <a:xfrm>
              <a:off x="142875" y="142875"/>
              <a:ext cx="2857500" cy="333300"/>
              <a:chOff x="0" y="0"/>
              <a:chExt cx="2857500" cy="333300"/>
            </a:xfrm>
          </p:grpSpPr>
          <p:sp>
            <p:nvSpPr>
              <p:cNvPr id="305" name="Google Shape;305;p18"/>
              <p:cNvSpPr/>
              <p:nvPr/>
            </p:nvSpPr>
            <p:spPr>
              <a:xfrm>
                <a:off x="0" y="0"/>
                <a:ext cx="2857500" cy="333300"/>
              </a:xfrm>
              <a:prstGeom prst="roundRect">
                <a:avLst>
                  <a:gd fmla="val 11428" name="adj"/>
                </a:avLst>
              </a:prstGeom>
              <a:solidFill>
                <a:srgbClr val="00E676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" name="Google Shape;306;p18"/>
              <p:cNvSpPr txBox="1"/>
              <p:nvPr/>
            </p:nvSpPr>
            <p:spPr>
              <a:xfrm>
                <a:off x="0" y="0"/>
                <a:ext cx="28575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111111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S2: ACQUISITION HUB</a:t>
                </a:r>
                <a:endParaRPr b="0" sz="110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grpSp>
          <p:nvGrpSpPr>
            <p:cNvPr id="307" name="Google Shape;307;p18"/>
            <p:cNvGrpSpPr/>
            <p:nvPr/>
          </p:nvGrpSpPr>
          <p:grpSpPr>
            <a:xfrm>
              <a:off x="142875" y="619125"/>
              <a:ext cx="238200" cy="238200"/>
              <a:chOff x="0" y="0"/>
              <a:chExt cx="238200" cy="238200"/>
            </a:xfrm>
          </p:grpSpPr>
          <p:sp>
            <p:nvSpPr>
              <p:cNvPr id="308" name="Google Shape;308;p18"/>
              <p:cNvSpPr/>
              <p:nvPr/>
            </p:nvSpPr>
            <p:spPr>
              <a:xfrm>
                <a:off x="0" y="0"/>
                <a:ext cx="238200" cy="238200"/>
              </a:xfrm>
              <a:prstGeom prst="roundRect">
                <a:avLst>
                  <a:gd fmla="val 16000" name="adj"/>
                </a:avLst>
              </a:prstGeom>
              <a:solidFill>
                <a:srgbClr val="0044FF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" name="Google Shape;309;p18"/>
              <p:cNvSpPr txBox="1"/>
              <p:nvPr/>
            </p:nvSpPr>
            <p:spPr>
              <a:xfrm>
                <a:off x="0" y="0"/>
                <a:ext cx="2382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S2</a:t>
                </a:r>
                <a:endParaRPr b="0" sz="10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sp>
          <p:nvSpPr>
            <p:cNvPr id="310" name="Google Shape;310;p18"/>
            <p:cNvSpPr txBox="1"/>
            <p:nvPr/>
          </p:nvSpPr>
          <p:spPr>
            <a:xfrm>
              <a:off x="476250" y="619125"/>
              <a:ext cx="2524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48">
                  <a:solidFill>
                    <a:srgbClr val="55555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THE CHANNELS</a:t>
              </a:r>
              <a:endParaRPr b="1" sz="648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11111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Kaggle &amp; </a:t>
              </a:r>
              <a:r>
                <a:rPr lang="en" sz="1000">
                  <a:solidFill>
                    <a:srgbClr val="11111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Hugging Face</a:t>
              </a:r>
              <a:r>
                <a:rPr b="0" lang="en" sz="1000">
                  <a:solidFill>
                    <a:srgbClr val="11111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 Datasets</a:t>
              </a:r>
              <a:endParaRPr b="0" sz="100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311" name="Google Shape;311;p18"/>
            <p:cNvSpPr txBox="1"/>
            <p:nvPr/>
          </p:nvSpPr>
          <p:spPr>
            <a:xfrm>
              <a:off x="476250" y="1238250"/>
              <a:ext cx="25242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48">
                  <a:solidFill>
                    <a:srgbClr val="55555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THE METHOD</a:t>
              </a:r>
              <a:endParaRPr b="1" sz="748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i="1" lang="en" sz="979">
                  <a:solidFill>
                    <a:srgbClr val="333333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Search/filter by task, size, or license → kaggle datasets download or load_dataset()</a:t>
              </a:r>
              <a:endParaRPr b="0" i="1" sz="979">
                <a:solidFill>
                  <a:srgbClr val="333333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312" name="Google Shape;312;p18"/>
            <p:cNvSpPr txBox="1"/>
            <p:nvPr/>
          </p:nvSpPr>
          <p:spPr>
            <a:xfrm>
              <a:off x="476250" y="1952625"/>
              <a:ext cx="25242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48">
                  <a:solidFill>
                    <a:srgbClr val="55555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WHERE TO GO</a:t>
              </a:r>
              <a:endParaRPr b="1" sz="648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044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kaggle.com/datasets</a:t>
              </a:r>
              <a:br>
                <a:rPr b="0" lang="en" sz="1000">
                  <a:solidFill>
                    <a:srgbClr val="0044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</a:br>
              <a:r>
                <a:rPr b="0" lang="en" sz="1000">
                  <a:solidFill>
                    <a:srgbClr val="0044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huggingface.co/datasets</a:t>
              </a:r>
              <a:endParaRPr b="0" sz="1000">
                <a:solidFill>
                  <a:srgbClr val="0044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313" name="Google Shape;313;p18"/>
            <p:cNvGrpSpPr/>
            <p:nvPr/>
          </p:nvGrpSpPr>
          <p:grpSpPr>
            <a:xfrm>
              <a:off x="142875" y="2714625"/>
              <a:ext cx="2857500" cy="381000"/>
              <a:chOff x="0" y="0"/>
              <a:chExt cx="2857500" cy="381000"/>
            </a:xfrm>
          </p:grpSpPr>
          <p:sp>
            <p:nvSpPr>
              <p:cNvPr id="314" name="Google Shape;314;p18"/>
              <p:cNvSpPr/>
              <p:nvPr/>
            </p:nvSpPr>
            <p:spPr>
              <a:xfrm>
                <a:off x="0" y="0"/>
                <a:ext cx="2857500" cy="381000"/>
              </a:xfrm>
              <a:prstGeom prst="roundRect">
                <a:avLst>
                  <a:gd fmla="val 10000" name="adj"/>
                </a:avLst>
              </a:prstGeom>
              <a:solidFill>
                <a:srgbClr val="F4F4F0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" name="Google Shape;315;p18"/>
              <p:cNvSpPr txBox="1"/>
              <p:nvPr/>
            </p:nvSpPr>
            <p:spPr>
              <a:xfrm>
                <a:off x="0" y="0"/>
                <a:ext cx="2857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95250" spcFirstLastPara="1" rIns="9525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79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Instant setup via standard CLI/API tools</a:t>
                </a:r>
                <a:endParaRPr b="1" sz="879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316" name="Google Shape;316;p18"/>
          <p:cNvGrpSpPr/>
          <p:nvPr/>
        </p:nvGrpSpPr>
        <p:grpSpPr>
          <a:xfrm>
            <a:off x="3905250" y="1333500"/>
            <a:ext cx="3181500" cy="3276600"/>
            <a:chOff x="0" y="0"/>
            <a:chExt cx="3181500" cy="3276600"/>
          </a:xfrm>
        </p:grpSpPr>
        <p:sp>
          <p:nvSpPr>
            <p:cNvPr id="317" name="Google Shape;317;p18"/>
            <p:cNvSpPr/>
            <p:nvPr/>
          </p:nvSpPr>
          <p:spPr>
            <a:xfrm>
              <a:off x="0" y="0"/>
              <a:ext cx="3143400" cy="3238500"/>
            </a:xfrm>
            <a:prstGeom prst="roundRect">
              <a:avLst>
                <a:gd fmla="val 1818" name="adj"/>
              </a:avLst>
            </a:prstGeom>
            <a:solidFill>
              <a:srgbClr val="FFFFFF"/>
            </a:solidFill>
            <a:ln cap="flat" cmpd="sng" w="28575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18"/>
            <p:cNvSpPr/>
            <p:nvPr/>
          </p:nvSpPr>
          <p:spPr>
            <a:xfrm>
              <a:off x="38100" y="38100"/>
              <a:ext cx="3143400" cy="3238500"/>
            </a:xfrm>
            <a:prstGeom prst="roundRect">
              <a:avLst>
                <a:gd fmla="val 1818" name="adj"/>
              </a:avLst>
            </a:prstGeom>
            <a:solidFill>
              <a:srgbClr val="111111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19" name="Google Shape;319;p18"/>
            <p:cNvGrpSpPr/>
            <p:nvPr/>
          </p:nvGrpSpPr>
          <p:grpSpPr>
            <a:xfrm>
              <a:off x="142875" y="142875"/>
              <a:ext cx="2857500" cy="333300"/>
              <a:chOff x="0" y="0"/>
              <a:chExt cx="2857500" cy="333300"/>
            </a:xfrm>
          </p:grpSpPr>
          <p:sp>
            <p:nvSpPr>
              <p:cNvPr id="320" name="Google Shape;320;p18"/>
              <p:cNvSpPr/>
              <p:nvPr/>
            </p:nvSpPr>
            <p:spPr>
              <a:xfrm>
                <a:off x="0" y="0"/>
                <a:ext cx="2857500" cy="333300"/>
              </a:xfrm>
              <a:prstGeom prst="roundRect">
                <a:avLst>
                  <a:gd fmla="val 11428" name="adj"/>
                </a:avLst>
              </a:prstGeom>
              <a:solidFill>
                <a:srgbClr val="FFCC00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" name="Google Shape;321;p18"/>
              <p:cNvSpPr txBox="1"/>
              <p:nvPr/>
            </p:nvSpPr>
            <p:spPr>
              <a:xfrm>
                <a:off x="0" y="0"/>
                <a:ext cx="28575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111111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STRATEGY &amp; UTILITY</a:t>
                </a:r>
                <a:endParaRPr b="0" sz="110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sp>
          <p:nvSpPr>
            <p:cNvPr id="322" name="Google Shape;322;p18"/>
            <p:cNvSpPr txBox="1"/>
            <p:nvPr/>
          </p:nvSpPr>
          <p:spPr>
            <a:xfrm>
              <a:off x="476250" y="714375"/>
              <a:ext cx="25242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48">
                  <a:solidFill>
                    <a:srgbClr val="55555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BEST USED FOR</a:t>
              </a:r>
              <a:endParaRPr b="1" sz="648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1111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Standard, well-defined machine learning problems and baseline models</a:t>
              </a:r>
              <a:endParaRPr b="0" sz="105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323" name="Google Shape;323;p18"/>
            <p:cNvSpPr txBox="1"/>
            <p:nvPr/>
          </p:nvSpPr>
          <p:spPr>
            <a:xfrm>
              <a:off x="476250" y="1524000"/>
              <a:ext cx="25242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48">
                  <a:solidFill>
                    <a:srgbClr val="55555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COMMUNITY ADVANTAGE</a:t>
              </a:r>
              <a:endParaRPr b="1" sz="648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1111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Vetted licenses, open peer reviews, and easily reproducible research benchmarks</a:t>
              </a:r>
              <a:endParaRPr b="0" sz="105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324" name="Google Shape;324;p18"/>
            <p:cNvGrpSpPr/>
            <p:nvPr/>
          </p:nvGrpSpPr>
          <p:grpSpPr>
            <a:xfrm>
              <a:off x="142875" y="2476500"/>
              <a:ext cx="2857500" cy="619200"/>
              <a:chOff x="0" y="0"/>
              <a:chExt cx="2857500" cy="619200"/>
            </a:xfrm>
          </p:grpSpPr>
          <p:sp>
            <p:nvSpPr>
              <p:cNvPr id="325" name="Google Shape;325;p18"/>
              <p:cNvSpPr/>
              <p:nvPr/>
            </p:nvSpPr>
            <p:spPr>
              <a:xfrm>
                <a:off x="0" y="0"/>
                <a:ext cx="2857500" cy="619200"/>
              </a:xfrm>
              <a:prstGeom prst="roundRect">
                <a:avLst>
                  <a:gd fmla="val 6153" name="adj"/>
                </a:avLst>
              </a:prstGeom>
              <a:solidFill>
                <a:srgbClr val="0044FF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" name="Google Shape;326;p18"/>
              <p:cNvSpPr txBox="1"/>
              <p:nvPr/>
            </p:nvSpPr>
            <p:spPr>
              <a:xfrm>
                <a:off x="0" y="0"/>
                <a:ext cx="28575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142875" spcFirstLastPara="1" rIns="142875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648">
                    <a:solidFill>
                      <a:srgbClr val="FFCC00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TIME TO FIRST DATASET</a:t>
                </a:r>
                <a:endParaRPr b="1" sz="648">
                  <a:solidFill>
                    <a:srgbClr val="FFCC00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indent="0" lvl="0" marL="0" rtl="0" algn="l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MINUTES</a:t>
                </a:r>
                <a:endParaRPr b="0" sz="15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</p:grpSp>
      <p:sp>
        <p:nvSpPr>
          <p:cNvPr id="327" name="Google Shape;327;p18"/>
          <p:cNvSpPr txBox="1"/>
          <p:nvPr/>
        </p:nvSpPr>
        <p:spPr>
          <a:xfrm>
            <a:off x="7572375" y="1047750"/>
            <a:ext cx="14289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935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"Every model is a data problem before it's a model problem."</a:t>
            </a:r>
            <a:endParaRPr b="0" i="1" sz="935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FFCC00"/>
                </a:solidFill>
                <a:latin typeface="Space Grotesk"/>
                <a:ea typeface="Space Grotesk"/>
                <a:cs typeface="Space Grotesk"/>
                <a:sym typeface="Space Grotesk"/>
              </a:rPr>
              <a:t>S2</a:t>
            </a:r>
            <a:endParaRPr b="0" sz="2600">
              <a:solidFill>
                <a:srgbClr val="FFCC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F4F4F0"/>
                </a:solidFill>
                <a:latin typeface="Inter Medium"/>
                <a:ea typeface="Inter Medium"/>
                <a:cs typeface="Inter Medium"/>
                <a:sym typeface="Inter Medium"/>
              </a:rPr>
              <a:t>Roadmap Rank</a:t>
            </a:r>
            <a:endParaRPr b="0" sz="900">
              <a:solidFill>
                <a:srgbClr val="F4F4F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FFCC00"/>
                </a:solidFill>
                <a:latin typeface="Space Grotesk"/>
                <a:ea typeface="Space Grotesk"/>
                <a:cs typeface="Space Grotesk"/>
                <a:sym typeface="Space Grotesk"/>
              </a:rPr>
              <a:t>Minutes</a:t>
            </a:r>
            <a:endParaRPr b="0" sz="2400">
              <a:solidFill>
                <a:srgbClr val="FFCC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1125"/>
              </a:spcAft>
              <a:buNone/>
            </a:pPr>
            <a:r>
              <a:rPr b="0" lang="en" sz="900">
                <a:solidFill>
                  <a:srgbClr val="F4F4F0"/>
                </a:solidFill>
                <a:latin typeface="Inter Medium"/>
                <a:ea typeface="Inter Medium"/>
                <a:cs typeface="Inter Medium"/>
                <a:sym typeface="Inter Medium"/>
              </a:rPr>
              <a:t>Acquisition</a:t>
            </a:r>
            <a:endParaRPr b="0" sz="900">
              <a:solidFill>
                <a:srgbClr val="F4F4F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4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9"/>
          <p:cNvSpPr/>
          <p:nvPr/>
        </p:nvSpPr>
        <p:spPr>
          <a:xfrm>
            <a:off x="7429500" y="0"/>
            <a:ext cx="1714500" cy="5143500"/>
          </a:xfrm>
          <a:prstGeom prst="rect">
            <a:avLst/>
          </a:prstGeom>
          <a:solidFill>
            <a:srgbClr val="0044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4" name="Google Shape;334;p19"/>
          <p:cNvCxnSpPr/>
          <p:nvPr/>
        </p:nvCxnSpPr>
        <p:spPr>
          <a:xfrm>
            <a:off x="7429500" y="0"/>
            <a:ext cx="0" cy="5143500"/>
          </a:xfrm>
          <a:prstGeom prst="straightConnector1">
            <a:avLst/>
          </a:prstGeom>
          <a:solidFill>
            <a:srgbClr val="FFFFFF"/>
          </a:solidFill>
          <a:ln cap="flat" cmpd="sng" w="762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5" name="Google Shape;335;p19"/>
          <p:cNvSpPr/>
          <p:nvPr/>
        </p:nvSpPr>
        <p:spPr>
          <a:xfrm>
            <a:off x="190500" y="190500"/>
            <a:ext cx="8763000" cy="4762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381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6" name="Google Shape;336;p19"/>
          <p:cNvGrpSpPr/>
          <p:nvPr/>
        </p:nvGrpSpPr>
        <p:grpSpPr>
          <a:xfrm>
            <a:off x="8058150" y="438150"/>
            <a:ext cx="457200" cy="457200"/>
            <a:chOff x="57150" y="57150"/>
            <a:chExt cx="457200" cy="457200"/>
          </a:xfrm>
        </p:grpSpPr>
        <p:sp>
          <p:nvSpPr>
            <p:cNvPr id="337" name="Google Shape;337;p19"/>
            <p:cNvSpPr/>
            <p:nvPr/>
          </p:nvSpPr>
          <p:spPr>
            <a:xfrm>
              <a:off x="57150" y="57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19"/>
            <p:cNvSpPr/>
            <p:nvPr/>
          </p:nvSpPr>
          <p:spPr>
            <a:xfrm>
              <a:off x="247650" y="57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19"/>
            <p:cNvSpPr/>
            <p:nvPr/>
          </p:nvSpPr>
          <p:spPr>
            <a:xfrm>
              <a:off x="438150" y="57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19"/>
            <p:cNvSpPr/>
            <p:nvPr/>
          </p:nvSpPr>
          <p:spPr>
            <a:xfrm>
              <a:off x="57150" y="2476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19"/>
            <p:cNvSpPr/>
            <p:nvPr/>
          </p:nvSpPr>
          <p:spPr>
            <a:xfrm>
              <a:off x="247650" y="2476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19"/>
            <p:cNvSpPr/>
            <p:nvPr/>
          </p:nvSpPr>
          <p:spPr>
            <a:xfrm>
              <a:off x="438150" y="2476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19"/>
            <p:cNvSpPr/>
            <p:nvPr/>
          </p:nvSpPr>
          <p:spPr>
            <a:xfrm>
              <a:off x="57150" y="438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19"/>
            <p:cNvSpPr/>
            <p:nvPr/>
          </p:nvSpPr>
          <p:spPr>
            <a:xfrm>
              <a:off x="247650" y="438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19"/>
            <p:cNvSpPr/>
            <p:nvPr/>
          </p:nvSpPr>
          <p:spPr>
            <a:xfrm>
              <a:off x="438150" y="438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6" name="Google Shape;346;p19"/>
          <p:cNvGrpSpPr/>
          <p:nvPr/>
        </p:nvGrpSpPr>
        <p:grpSpPr>
          <a:xfrm>
            <a:off x="7905750" y="4000500"/>
            <a:ext cx="762000" cy="713400"/>
            <a:chOff x="0" y="0"/>
            <a:chExt cx="762000" cy="713400"/>
          </a:xfrm>
        </p:grpSpPr>
        <p:sp>
          <p:nvSpPr>
            <p:cNvPr id="347" name="Google Shape;347;p19"/>
            <p:cNvSpPr/>
            <p:nvPr/>
          </p:nvSpPr>
          <p:spPr>
            <a:xfrm>
              <a:off x="0" y="0"/>
              <a:ext cx="762000" cy="713400"/>
            </a:xfrm>
            <a:custGeom>
              <a:rect b="b" l="l" r="r" t="t"/>
              <a:pathLst>
                <a:path extrusionOk="0" h="120000" w="120000">
                  <a:moveTo>
                    <a:pt x="0" y="31883"/>
                  </a:moveTo>
                  <a:lnTo>
                    <a:pt x="0" y="95968"/>
                  </a:lnTo>
                  <a:cubicBezTo>
                    <a:pt x="0" y="108785"/>
                    <a:pt x="27000" y="120000"/>
                    <a:pt x="60000" y="120000"/>
                  </a:cubicBezTo>
                  <a:cubicBezTo>
                    <a:pt x="93000" y="120000"/>
                    <a:pt x="120000" y="108785"/>
                    <a:pt x="120000" y="95968"/>
                  </a:cubicBezTo>
                  <a:lnTo>
                    <a:pt x="120000" y="0"/>
                  </a:lnTo>
                </a:path>
              </a:pathLst>
            </a:custGeom>
            <a:solidFill>
              <a:srgbClr val="00E676"/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19"/>
            <p:cNvSpPr/>
            <p:nvPr/>
          </p:nvSpPr>
          <p:spPr>
            <a:xfrm>
              <a:off x="0" y="0"/>
              <a:ext cx="762000" cy="285900"/>
            </a:xfrm>
            <a:prstGeom prst="ellipse">
              <a:avLst/>
            </a:prstGeom>
            <a:solidFill>
              <a:srgbClr val="00E676"/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19"/>
            <p:cNvSpPr/>
            <p:nvPr/>
          </p:nvSpPr>
          <p:spPr>
            <a:xfrm>
              <a:off x="0" y="190500"/>
              <a:ext cx="762000" cy="285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0" name="Google Shape;350;p19"/>
          <p:cNvSpPr txBox="1"/>
          <p:nvPr/>
        </p:nvSpPr>
        <p:spPr>
          <a:xfrm>
            <a:off x="476250" y="428625"/>
            <a:ext cx="6667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800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rPr>
              <a:t>SOURCE 2: PROS &amp; CONS</a:t>
            </a:r>
            <a:endParaRPr b="0" sz="2800">
              <a:solidFill>
                <a:srgbClr val="11111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351" name="Google Shape;351;p19"/>
          <p:cNvGrpSpPr/>
          <p:nvPr/>
        </p:nvGrpSpPr>
        <p:grpSpPr>
          <a:xfrm>
            <a:off x="476250" y="1143000"/>
            <a:ext cx="3181500" cy="3467100"/>
            <a:chOff x="0" y="0"/>
            <a:chExt cx="3181500" cy="3467100"/>
          </a:xfrm>
        </p:grpSpPr>
        <p:sp>
          <p:nvSpPr>
            <p:cNvPr id="352" name="Google Shape;352;p19"/>
            <p:cNvSpPr/>
            <p:nvPr/>
          </p:nvSpPr>
          <p:spPr>
            <a:xfrm>
              <a:off x="0" y="0"/>
              <a:ext cx="3143400" cy="3429000"/>
            </a:xfrm>
            <a:prstGeom prst="roundRect">
              <a:avLst>
                <a:gd fmla="val 1818" name="adj"/>
              </a:avLst>
            </a:prstGeom>
            <a:solidFill>
              <a:srgbClr val="FFFFFF"/>
            </a:solidFill>
            <a:ln cap="flat" cmpd="sng" w="28575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19"/>
            <p:cNvSpPr/>
            <p:nvPr/>
          </p:nvSpPr>
          <p:spPr>
            <a:xfrm>
              <a:off x="38100" y="38100"/>
              <a:ext cx="3143400" cy="3429000"/>
            </a:xfrm>
            <a:prstGeom prst="roundRect">
              <a:avLst>
                <a:gd fmla="val 1818" name="adj"/>
              </a:avLst>
            </a:prstGeom>
            <a:solidFill>
              <a:srgbClr val="111111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54" name="Google Shape;354;p19"/>
            <p:cNvGrpSpPr/>
            <p:nvPr/>
          </p:nvGrpSpPr>
          <p:grpSpPr>
            <a:xfrm>
              <a:off x="142875" y="142875"/>
              <a:ext cx="2857500" cy="333300"/>
              <a:chOff x="0" y="0"/>
              <a:chExt cx="2857500" cy="333300"/>
            </a:xfrm>
          </p:grpSpPr>
          <p:sp>
            <p:nvSpPr>
              <p:cNvPr id="355" name="Google Shape;355;p19"/>
              <p:cNvSpPr/>
              <p:nvPr/>
            </p:nvSpPr>
            <p:spPr>
              <a:xfrm>
                <a:off x="0" y="0"/>
                <a:ext cx="2857500" cy="333300"/>
              </a:xfrm>
              <a:prstGeom prst="roundRect">
                <a:avLst>
                  <a:gd fmla="val 11428" name="adj"/>
                </a:avLst>
              </a:prstGeom>
              <a:solidFill>
                <a:srgbClr val="00E676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" name="Google Shape;356;p19"/>
              <p:cNvSpPr txBox="1"/>
              <p:nvPr/>
            </p:nvSpPr>
            <p:spPr>
              <a:xfrm>
                <a:off x="0" y="0"/>
                <a:ext cx="28575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111111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ADVANTAGES / PROS</a:t>
                </a:r>
                <a:endParaRPr b="0" sz="110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grpSp>
          <p:nvGrpSpPr>
            <p:cNvPr id="357" name="Google Shape;357;p19"/>
            <p:cNvGrpSpPr/>
            <p:nvPr/>
          </p:nvGrpSpPr>
          <p:grpSpPr>
            <a:xfrm>
              <a:off x="142875" y="619125"/>
              <a:ext cx="238200" cy="238200"/>
              <a:chOff x="0" y="0"/>
              <a:chExt cx="238200" cy="238200"/>
            </a:xfrm>
          </p:grpSpPr>
          <p:sp>
            <p:nvSpPr>
              <p:cNvPr id="358" name="Google Shape;358;p19"/>
              <p:cNvSpPr/>
              <p:nvPr/>
            </p:nvSpPr>
            <p:spPr>
              <a:xfrm>
                <a:off x="0" y="0"/>
                <a:ext cx="238200" cy="238200"/>
              </a:xfrm>
              <a:prstGeom prst="roundRect">
                <a:avLst>
                  <a:gd fmla="val 16000" name="adj"/>
                </a:avLst>
              </a:prstGeom>
              <a:solidFill>
                <a:srgbClr val="0044FF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" name="Google Shape;359;p19"/>
              <p:cNvSpPr txBox="1"/>
              <p:nvPr/>
            </p:nvSpPr>
            <p:spPr>
              <a:xfrm>
                <a:off x="0" y="0"/>
                <a:ext cx="2382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+</a:t>
                </a:r>
                <a:endParaRPr b="0" sz="11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sp>
          <p:nvSpPr>
            <p:cNvPr id="360" name="Google Shape;360;p19"/>
            <p:cNvSpPr txBox="1"/>
            <p:nvPr/>
          </p:nvSpPr>
          <p:spPr>
            <a:xfrm>
              <a:off x="476250" y="619125"/>
              <a:ext cx="25242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55555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COMMUNITY BENEFIT</a:t>
              </a:r>
              <a:endParaRPr b="1" sz="850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-307975" lvl="0" marL="457200" rtl="0" algn="l">
                <a:spcBef>
                  <a:spcPts val="675"/>
                </a:spcBef>
                <a:spcAft>
                  <a:spcPts val="0"/>
                </a:spcAft>
                <a:buClr>
                  <a:srgbClr val="111111"/>
                </a:buClr>
                <a:buSzPts val="1250"/>
                <a:buFont typeface="Inter"/>
                <a:buChar char="●"/>
              </a:pPr>
              <a:r>
                <a:rPr b="1" lang="en" sz="12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Huge selection:</a:t>
              </a:r>
              <a:r>
                <a:rPr b="0" lang="en" sz="125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Access to community-vetted materials, notebooks, discussions, and competitive leaderboards.</a:t>
              </a:r>
              <a:endParaRPr b="0" sz="1250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307975" lvl="0" marL="457200" rtl="0" algn="l">
                <a:spcBef>
                  <a:spcPts val="900"/>
                </a:spcBef>
                <a:spcAft>
                  <a:spcPts val="900"/>
                </a:spcAft>
                <a:buClr>
                  <a:srgbClr val="111111"/>
                </a:buClr>
                <a:buSzPts val="1250"/>
                <a:buFont typeface="Inter"/>
                <a:buChar char="●"/>
              </a:pPr>
              <a:r>
                <a:rPr b="1" lang="en" sz="12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Instant ingestion:</a:t>
              </a:r>
              <a:r>
                <a:rPr b="0" lang="en" sz="125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One-line loaders that often ship with a baseline benchmark pre-configured.</a:t>
              </a:r>
              <a:endParaRPr b="0" sz="1250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361" name="Google Shape;361;p19"/>
          <p:cNvGrpSpPr/>
          <p:nvPr/>
        </p:nvGrpSpPr>
        <p:grpSpPr>
          <a:xfrm>
            <a:off x="3905250" y="1143000"/>
            <a:ext cx="3181500" cy="3467100"/>
            <a:chOff x="0" y="0"/>
            <a:chExt cx="3181500" cy="3467100"/>
          </a:xfrm>
        </p:grpSpPr>
        <p:sp>
          <p:nvSpPr>
            <p:cNvPr id="362" name="Google Shape;362;p19"/>
            <p:cNvSpPr/>
            <p:nvPr/>
          </p:nvSpPr>
          <p:spPr>
            <a:xfrm>
              <a:off x="0" y="0"/>
              <a:ext cx="3143400" cy="3429000"/>
            </a:xfrm>
            <a:prstGeom prst="roundRect">
              <a:avLst>
                <a:gd fmla="val 1818" name="adj"/>
              </a:avLst>
            </a:prstGeom>
            <a:solidFill>
              <a:srgbClr val="FFFFFF"/>
            </a:solidFill>
            <a:ln cap="flat" cmpd="sng" w="28575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19"/>
            <p:cNvSpPr/>
            <p:nvPr/>
          </p:nvSpPr>
          <p:spPr>
            <a:xfrm>
              <a:off x="38100" y="38100"/>
              <a:ext cx="3143400" cy="3429000"/>
            </a:xfrm>
            <a:prstGeom prst="roundRect">
              <a:avLst>
                <a:gd fmla="val 1818" name="adj"/>
              </a:avLst>
            </a:prstGeom>
            <a:solidFill>
              <a:srgbClr val="111111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64" name="Google Shape;364;p19"/>
            <p:cNvGrpSpPr/>
            <p:nvPr/>
          </p:nvGrpSpPr>
          <p:grpSpPr>
            <a:xfrm>
              <a:off x="142875" y="142875"/>
              <a:ext cx="2857500" cy="333300"/>
              <a:chOff x="0" y="0"/>
              <a:chExt cx="2857500" cy="333300"/>
            </a:xfrm>
          </p:grpSpPr>
          <p:sp>
            <p:nvSpPr>
              <p:cNvPr id="365" name="Google Shape;365;p19"/>
              <p:cNvSpPr/>
              <p:nvPr/>
            </p:nvSpPr>
            <p:spPr>
              <a:xfrm>
                <a:off x="0" y="0"/>
                <a:ext cx="2857500" cy="333300"/>
              </a:xfrm>
              <a:prstGeom prst="roundRect">
                <a:avLst>
                  <a:gd fmla="val 11428" name="adj"/>
                </a:avLst>
              </a:prstGeom>
              <a:solidFill>
                <a:srgbClr val="FFCC00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" name="Google Shape;366;p19"/>
              <p:cNvSpPr txBox="1"/>
              <p:nvPr/>
            </p:nvSpPr>
            <p:spPr>
              <a:xfrm>
                <a:off x="0" y="0"/>
                <a:ext cx="28575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111111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DISADVANTAGES / CONS</a:t>
                </a:r>
                <a:endParaRPr b="0" sz="110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grpSp>
          <p:nvGrpSpPr>
            <p:cNvPr id="367" name="Google Shape;367;p19"/>
            <p:cNvGrpSpPr/>
            <p:nvPr/>
          </p:nvGrpSpPr>
          <p:grpSpPr>
            <a:xfrm>
              <a:off x="142875" y="619125"/>
              <a:ext cx="238200" cy="238200"/>
              <a:chOff x="0" y="0"/>
              <a:chExt cx="238200" cy="238200"/>
            </a:xfrm>
          </p:grpSpPr>
          <p:sp>
            <p:nvSpPr>
              <p:cNvPr id="368" name="Google Shape;368;p19"/>
              <p:cNvSpPr/>
              <p:nvPr/>
            </p:nvSpPr>
            <p:spPr>
              <a:xfrm>
                <a:off x="0" y="0"/>
                <a:ext cx="238200" cy="238200"/>
              </a:xfrm>
              <a:prstGeom prst="roundRect">
                <a:avLst>
                  <a:gd fmla="val 16000" name="adj"/>
                </a:avLst>
              </a:prstGeom>
              <a:solidFill>
                <a:srgbClr val="111111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" name="Google Shape;369;p19"/>
              <p:cNvSpPr txBox="1"/>
              <p:nvPr/>
            </p:nvSpPr>
            <p:spPr>
              <a:xfrm>
                <a:off x="0" y="0"/>
                <a:ext cx="2382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-</a:t>
                </a:r>
                <a:endParaRPr b="0" sz="11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sp>
          <p:nvSpPr>
            <p:cNvPr id="370" name="Google Shape;370;p19"/>
            <p:cNvSpPr txBox="1"/>
            <p:nvPr/>
          </p:nvSpPr>
          <p:spPr>
            <a:xfrm>
              <a:off x="476250" y="619125"/>
              <a:ext cx="25242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55555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INHERENT LIMITS</a:t>
              </a:r>
              <a:endParaRPr b="1" sz="850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-307975" lvl="0" marL="457200" rtl="0" algn="l">
                <a:spcBef>
                  <a:spcPts val="675"/>
                </a:spcBef>
                <a:spcAft>
                  <a:spcPts val="0"/>
                </a:spcAft>
                <a:buClr>
                  <a:srgbClr val="111111"/>
                </a:buClr>
                <a:buSzPts val="1250"/>
                <a:buFont typeface="Inter"/>
                <a:buChar char="●"/>
              </a:pPr>
              <a:r>
                <a:rPr b="1" lang="en" sz="12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Highly overused:</a:t>
              </a:r>
              <a:r>
                <a:rPr b="0" lang="en" sz="125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Popular sets are heavily saturated; some are already baked inside pretrained models.</a:t>
              </a:r>
              <a:endParaRPr b="0" sz="1250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307975" lvl="0" marL="457200" rtl="0" algn="l">
                <a:spcBef>
                  <a:spcPts val="900"/>
                </a:spcBef>
                <a:spcAft>
                  <a:spcPts val="900"/>
                </a:spcAft>
                <a:buClr>
                  <a:srgbClr val="111111"/>
                </a:buClr>
                <a:buSzPts val="1250"/>
                <a:buFont typeface="Inter"/>
                <a:buChar char="●"/>
              </a:pPr>
              <a:r>
                <a:rPr b="1" lang="en" sz="12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Variable quality:</a:t>
              </a:r>
              <a:r>
                <a:rPr b="0" lang="en" sz="125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Inconsistent quality controls and vague license clarity vary greatly set-to-set.</a:t>
              </a:r>
              <a:endParaRPr b="0" sz="1250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371" name="Google Shape;371;p19"/>
          <p:cNvSpPr txBox="1"/>
          <p:nvPr/>
        </p:nvSpPr>
        <p:spPr>
          <a:xfrm>
            <a:off x="7572375" y="1047750"/>
            <a:ext cx="14289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95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"Every model is a data problem before it's a model problem."</a:t>
            </a:r>
            <a:endParaRPr b="0" i="1" sz="95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FFC400"/>
                </a:solidFill>
                <a:latin typeface="Space Grotesk"/>
                <a:ea typeface="Space Grotesk"/>
                <a:cs typeface="Space Grotesk"/>
                <a:sym typeface="Space Grotesk"/>
              </a:rPr>
              <a:t>S2</a:t>
            </a:r>
            <a:endParaRPr b="0" sz="2600">
              <a:solidFill>
                <a:srgbClr val="FFC4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F4F4F0"/>
                </a:solidFill>
                <a:latin typeface="Inter Medium"/>
                <a:ea typeface="Inter Medium"/>
                <a:cs typeface="Inter Medium"/>
                <a:sym typeface="Inter Medium"/>
              </a:rPr>
              <a:t>Acquisition Hub</a:t>
            </a:r>
            <a:endParaRPr b="0" sz="900">
              <a:solidFill>
                <a:srgbClr val="F4F4F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FFC400"/>
                </a:solidFill>
                <a:latin typeface="Space Grotesk"/>
                <a:ea typeface="Space Grotesk"/>
                <a:cs typeface="Space Grotesk"/>
                <a:sym typeface="Space Grotesk"/>
              </a:rPr>
              <a:t>Public</a:t>
            </a:r>
            <a:endParaRPr b="0" sz="2600">
              <a:solidFill>
                <a:srgbClr val="FFC4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F4F4F0"/>
                </a:solidFill>
                <a:latin typeface="Inter Medium"/>
                <a:ea typeface="Inter Medium"/>
                <a:cs typeface="Inter Medium"/>
                <a:sym typeface="Inter Medium"/>
              </a:rPr>
              <a:t>Benchmarks</a:t>
            </a:r>
            <a:endParaRPr b="0" sz="900">
              <a:solidFill>
                <a:srgbClr val="F4F4F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0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0"/>
          <p:cNvSpPr/>
          <p:nvPr/>
        </p:nvSpPr>
        <p:spPr>
          <a:xfrm>
            <a:off x="7429500" y="0"/>
            <a:ext cx="1714500" cy="5143500"/>
          </a:xfrm>
          <a:prstGeom prst="rect">
            <a:avLst/>
          </a:prstGeom>
          <a:solidFill>
            <a:srgbClr val="0044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77" name="Google Shape;377;p20"/>
          <p:cNvCxnSpPr/>
          <p:nvPr/>
        </p:nvCxnSpPr>
        <p:spPr>
          <a:xfrm>
            <a:off x="7429500" y="0"/>
            <a:ext cx="0" cy="5143500"/>
          </a:xfrm>
          <a:prstGeom prst="straightConnector1">
            <a:avLst/>
          </a:prstGeom>
          <a:solidFill>
            <a:srgbClr val="FFFFFF"/>
          </a:solidFill>
          <a:ln cap="flat" cmpd="sng" w="762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8" name="Google Shape;378;p20"/>
          <p:cNvSpPr/>
          <p:nvPr/>
        </p:nvSpPr>
        <p:spPr>
          <a:xfrm>
            <a:off x="190500" y="190500"/>
            <a:ext cx="8763000" cy="4762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381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9" name="Google Shape;379;p20"/>
          <p:cNvGrpSpPr/>
          <p:nvPr/>
        </p:nvGrpSpPr>
        <p:grpSpPr>
          <a:xfrm>
            <a:off x="8058150" y="438150"/>
            <a:ext cx="457200" cy="457200"/>
            <a:chOff x="57150" y="57150"/>
            <a:chExt cx="457200" cy="457200"/>
          </a:xfrm>
        </p:grpSpPr>
        <p:sp>
          <p:nvSpPr>
            <p:cNvPr id="380" name="Google Shape;380;p20"/>
            <p:cNvSpPr/>
            <p:nvPr/>
          </p:nvSpPr>
          <p:spPr>
            <a:xfrm>
              <a:off x="57150" y="57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20"/>
            <p:cNvSpPr/>
            <p:nvPr/>
          </p:nvSpPr>
          <p:spPr>
            <a:xfrm>
              <a:off x="247650" y="57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20"/>
            <p:cNvSpPr/>
            <p:nvPr/>
          </p:nvSpPr>
          <p:spPr>
            <a:xfrm>
              <a:off x="438150" y="57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20"/>
            <p:cNvSpPr/>
            <p:nvPr/>
          </p:nvSpPr>
          <p:spPr>
            <a:xfrm>
              <a:off x="57150" y="2476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20"/>
            <p:cNvSpPr/>
            <p:nvPr/>
          </p:nvSpPr>
          <p:spPr>
            <a:xfrm>
              <a:off x="247650" y="2476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20"/>
            <p:cNvSpPr/>
            <p:nvPr/>
          </p:nvSpPr>
          <p:spPr>
            <a:xfrm>
              <a:off x="438150" y="2476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20"/>
            <p:cNvSpPr/>
            <p:nvPr/>
          </p:nvSpPr>
          <p:spPr>
            <a:xfrm>
              <a:off x="57150" y="438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20"/>
            <p:cNvSpPr/>
            <p:nvPr/>
          </p:nvSpPr>
          <p:spPr>
            <a:xfrm>
              <a:off x="247650" y="438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20"/>
            <p:cNvSpPr/>
            <p:nvPr/>
          </p:nvSpPr>
          <p:spPr>
            <a:xfrm>
              <a:off x="438150" y="438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9" name="Google Shape;389;p20"/>
          <p:cNvGrpSpPr/>
          <p:nvPr/>
        </p:nvGrpSpPr>
        <p:grpSpPr>
          <a:xfrm>
            <a:off x="7905750" y="4000500"/>
            <a:ext cx="762000" cy="714300"/>
            <a:chOff x="0" y="0"/>
            <a:chExt cx="762000" cy="714300"/>
          </a:xfrm>
        </p:grpSpPr>
        <p:sp>
          <p:nvSpPr>
            <p:cNvPr id="390" name="Google Shape;390;p20"/>
            <p:cNvSpPr/>
            <p:nvPr/>
          </p:nvSpPr>
          <p:spPr>
            <a:xfrm>
              <a:off x="0" y="0"/>
              <a:ext cx="762000" cy="714300"/>
            </a:xfrm>
            <a:custGeom>
              <a:rect b="b" l="l" r="r" t="t"/>
              <a:pathLst>
                <a:path extrusionOk="0" h="120000" w="120000">
                  <a:moveTo>
                    <a:pt x="0" y="31999"/>
                  </a:moveTo>
                  <a:lnTo>
                    <a:pt x="0" y="96002"/>
                  </a:lnTo>
                  <a:cubicBezTo>
                    <a:pt x="0" y="108799"/>
                    <a:pt x="27000" y="120000"/>
                    <a:pt x="60000" y="120000"/>
                  </a:cubicBezTo>
                  <a:cubicBezTo>
                    <a:pt x="93000" y="120000"/>
                    <a:pt x="120000" y="108799"/>
                    <a:pt x="120000" y="96002"/>
                  </a:cubicBezTo>
                  <a:lnTo>
                    <a:pt x="120000" y="0"/>
                  </a:lnTo>
                </a:path>
              </a:pathLst>
            </a:custGeom>
            <a:solidFill>
              <a:srgbClr val="00E676"/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20"/>
            <p:cNvSpPr/>
            <p:nvPr/>
          </p:nvSpPr>
          <p:spPr>
            <a:xfrm>
              <a:off x="0" y="47625"/>
              <a:ext cx="762000" cy="285900"/>
            </a:xfrm>
            <a:prstGeom prst="ellipse">
              <a:avLst/>
            </a:prstGeom>
            <a:solidFill>
              <a:srgbClr val="00E676"/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20"/>
            <p:cNvSpPr/>
            <p:nvPr/>
          </p:nvSpPr>
          <p:spPr>
            <a:xfrm>
              <a:off x="0" y="238125"/>
              <a:ext cx="762000" cy="285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3" name="Google Shape;393;p20"/>
          <p:cNvSpPr txBox="1"/>
          <p:nvPr/>
        </p:nvSpPr>
        <p:spPr>
          <a:xfrm>
            <a:off x="476250" y="428625"/>
            <a:ext cx="6667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800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rPr>
              <a:t>SOURCE 3: UCI &amp; GOV PORTALS</a:t>
            </a:r>
            <a:endParaRPr b="0" sz="2800">
              <a:solidFill>
                <a:srgbClr val="11111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394" name="Google Shape;394;p20"/>
          <p:cNvGrpSpPr/>
          <p:nvPr/>
        </p:nvGrpSpPr>
        <p:grpSpPr>
          <a:xfrm>
            <a:off x="476250" y="1143000"/>
            <a:ext cx="3181500" cy="3467100"/>
            <a:chOff x="0" y="0"/>
            <a:chExt cx="3181500" cy="3467100"/>
          </a:xfrm>
        </p:grpSpPr>
        <p:sp>
          <p:nvSpPr>
            <p:cNvPr id="395" name="Google Shape;395;p20"/>
            <p:cNvSpPr/>
            <p:nvPr/>
          </p:nvSpPr>
          <p:spPr>
            <a:xfrm>
              <a:off x="0" y="0"/>
              <a:ext cx="3143400" cy="3429000"/>
            </a:xfrm>
            <a:prstGeom prst="roundRect">
              <a:avLst>
                <a:gd fmla="val 1818" name="adj"/>
              </a:avLst>
            </a:prstGeom>
            <a:solidFill>
              <a:srgbClr val="FFFFFF"/>
            </a:solidFill>
            <a:ln cap="flat" cmpd="sng" w="28575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20"/>
            <p:cNvSpPr/>
            <p:nvPr/>
          </p:nvSpPr>
          <p:spPr>
            <a:xfrm>
              <a:off x="38100" y="38100"/>
              <a:ext cx="3143400" cy="3429000"/>
            </a:xfrm>
            <a:prstGeom prst="roundRect">
              <a:avLst>
                <a:gd fmla="val 1818" name="adj"/>
              </a:avLst>
            </a:prstGeom>
            <a:solidFill>
              <a:srgbClr val="111111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97" name="Google Shape;397;p20"/>
            <p:cNvGrpSpPr/>
            <p:nvPr/>
          </p:nvGrpSpPr>
          <p:grpSpPr>
            <a:xfrm>
              <a:off x="142875" y="142875"/>
              <a:ext cx="2857500" cy="333300"/>
              <a:chOff x="0" y="0"/>
              <a:chExt cx="2857500" cy="333300"/>
            </a:xfrm>
          </p:grpSpPr>
          <p:sp>
            <p:nvSpPr>
              <p:cNvPr id="398" name="Google Shape;398;p20"/>
              <p:cNvSpPr/>
              <p:nvPr/>
            </p:nvSpPr>
            <p:spPr>
              <a:xfrm>
                <a:off x="0" y="0"/>
                <a:ext cx="2857500" cy="333300"/>
              </a:xfrm>
              <a:prstGeom prst="roundRect">
                <a:avLst>
                  <a:gd fmla="val 11428" name="adj"/>
                </a:avLst>
              </a:prstGeom>
              <a:solidFill>
                <a:srgbClr val="00E676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" name="Google Shape;399;p20"/>
              <p:cNvSpPr txBox="1"/>
              <p:nvPr/>
            </p:nvSpPr>
            <p:spPr>
              <a:xfrm>
                <a:off x="0" y="0"/>
                <a:ext cx="28575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111111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S3: OPEN PUBLIC DOMAINS</a:t>
                </a:r>
                <a:endParaRPr b="0" sz="110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grpSp>
          <p:nvGrpSpPr>
            <p:cNvPr id="400" name="Google Shape;400;p20"/>
            <p:cNvGrpSpPr/>
            <p:nvPr/>
          </p:nvGrpSpPr>
          <p:grpSpPr>
            <a:xfrm>
              <a:off x="142875" y="619125"/>
              <a:ext cx="238200" cy="238200"/>
              <a:chOff x="0" y="0"/>
              <a:chExt cx="238200" cy="238200"/>
            </a:xfrm>
          </p:grpSpPr>
          <p:sp>
            <p:nvSpPr>
              <p:cNvPr id="401" name="Google Shape;401;p20"/>
              <p:cNvSpPr/>
              <p:nvPr/>
            </p:nvSpPr>
            <p:spPr>
              <a:xfrm>
                <a:off x="0" y="0"/>
                <a:ext cx="238200" cy="238200"/>
              </a:xfrm>
              <a:prstGeom prst="roundRect">
                <a:avLst>
                  <a:gd fmla="val 16000" name="adj"/>
                </a:avLst>
              </a:prstGeom>
              <a:solidFill>
                <a:srgbClr val="0044FF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" name="Google Shape;402;p20"/>
              <p:cNvSpPr txBox="1"/>
              <p:nvPr/>
            </p:nvSpPr>
            <p:spPr>
              <a:xfrm>
                <a:off x="0" y="0"/>
                <a:ext cx="2382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S3</a:t>
                </a:r>
                <a:endParaRPr b="0" sz="10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sp>
          <p:nvSpPr>
            <p:cNvPr id="403" name="Google Shape;403;p20"/>
            <p:cNvSpPr txBox="1"/>
            <p:nvPr/>
          </p:nvSpPr>
          <p:spPr>
            <a:xfrm>
              <a:off x="476250" y="619125"/>
              <a:ext cx="25242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01">
                  <a:solidFill>
                    <a:srgbClr val="55555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THE CHANNELS</a:t>
              </a:r>
              <a:endParaRPr b="1" sz="601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UCI &amp; Public Gov Repositories</a:t>
              </a:r>
              <a:endParaRPr b="0" sz="1100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404" name="Google Shape;404;p20"/>
            <p:cNvSpPr txBox="1"/>
            <p:nvPr/>
          </p:nvSpPr>
          <p:spPr>
            <a:xfrm>
              <a:off x="476250" y="1238250"/>
              <a:ext cx="25242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01">
                  <a:solidFill>
                    <a:srgbClr val="55555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THE METHOD</a:t>
              </a:r>
              <a:endParaRPr b="1" sz="701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i="1" lang="en" sz="1071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UCI for canonical small ML sets; gov portals for real-world civic, economic, or health data</a:t>
              </a:r>
              <a:endParaRPr b="0" i="1" sz="1071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405" name="Google Shape;405;p20"/>
            <p:cNvSpPr txBox="1"/>
            <p:nvPr/>
          </p:nvSpPr>
          <p:spPr>
            <a:xfrm>
              <a:off x="476250" y="1952625"/>
              <a:ext cx="25242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01">
                  <a:solidFill>
                    <a:srgbClr val="55555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WHERE TO GO</a:t>
              </a:r>
              <a:endParaRPr b="1" sz="601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971">
                  <a:solidFill>
                    <a:srgbClr val="0044FF"/>
                  </a:solidFill>
                  <a:latin typeface="Inter"/>
                  <a:ea typeface="Inter"/>
                  <a:cs typeface="Inter"/>
                  <a:sym typeface="Inter"/>
                </a:rPr>
                <a:t>archive.ics.uci.edu</a:t>
              </a:r>
              <a:br>
                <a:rPr b="1" lang="en" sz="971">
                  <a:solidFill>
                    <a:srgbClr val="0044FF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1" lang="en" sz="971">
                  <a:solidFill>
                    <a:srgbClr val="0044FF"/>
                  </a:solidFill>
                  <a:latin typeface="Inter"/>
                  <a:ea typeface="Inter"/>
                  <a:cs typeface="Inter"/>
                  <a:sym typeface="Inter"/>
                </a:rPr>
                <a:t>data.gov · data.gov.in · data.europa.eu</a:t>
              </a:r>
              <a:endParaRPr b="1" sz="971">
                <a:solidFill>
                  <a:srgbClr val="0044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406" name="Google Shape;406;p20"/>
            <p:cNvGrpSpPr/>
            <p:nvPr/>
          </p:nvGrpSpPr>
          <p:grpSpPr>
            <a:xfrm>
              <a:off x="142875" y="2714625"/>
              <a:ext cx="2857500" cy="381000"/>
              <a:chOff x="0" y="0"/>
              <a:chExt cx="2857500" cy="381000"/>
            </a:xfrm>
          </p:grpSpPr>
          <p:sp>
            <p:nvSpPr>
              <p:cNvPr id="407" name="Google Shape;407;p20"/>
              <p:cNvSpPr/>
              <p:nvPr/>
            </p:nvSpPr>
            <p:spPr>
              <a:xfrm>
                <a:off x="0" y="0"/>
                <a:ext cx="2857500" cy="381000"/>
              </a:xfrm>
              <a:prstGeom prst="roundRect">
                <a:avLst>
                  <a:gd fmla="val 10000" name="adj"/>
                </a:avLst>
              </a:prstGeom>
              <a:solidFill>
                <a:srgbClr val="F4F4F0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" name="Google Shape;408;p20"/>
              <p:cNvSpPr txBox="1"/>
              <p:nvPr/>
            </p:nvSpPr>
            <p:spPr>
              <a:xfrm>
                <a:off x="0" y="0"/>
                <a:ext cx="2857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95250" spcFirstLastPara="1" rIns="9525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Classic sets or real-world civic domains</a:t>
                </a:r>
                <a:endParaRPr b="1" sz="9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409" name="Google Shape;409;p20"/>
          <p:cNvGrpSpPr/>
          <p:nvPr/>
        </p:nvGrpSpPr>
        <p:grpSpPr>
          <a:xfrm>
            <a:off x="3905250" y="1143000"/>
            <a:ext cx="3181500" cy="3467100"/>
            <a:chOff x="0" y="0"/>
            <a:chExt cx="3181500" cy="3467100"/>
          </a:xfrm>
        </p:grpSpPr>
        <p:sp>
          <p:nvSpPr>
            <p:cNvPr id="410" name="Google Shape;410;p20"/>
            <p:cNvSpPr/>
            <p:nvPr/>
          </p:nvSpPr>
          <p:spPr>
            <a:xfrm>
              <a:off x="0" y="0"/>
              <a:ext cx="3143400" cy="3429000"/>
            </a:xfrm>
            <a:prstGeom prst="roundRect">
              <a:avLst>
                <a:gd fmla="val 1818" name="adj"/>
              </a:avLst>
            </a:prstGeom>
            <a:solidFill>
              <a:srgbClr val="FFFFFF"/>
            </a:solidFill>
            <a:ln cap="flat" cmpd="sng" w="28575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20"/>
            <p:cNvSpPr/>
            <p:nvPr/>
          </p:nvSpPr>
          <p:spPr>
            <a:xfrm>
              <a:off x="38100" y="38100"/>
              <a:ext cx="3143400" cy="3429000"/>
            </a:xfrm>
            <a:prstGeom prst="roundRect">
              <a:avLst>
                <a:gd fmla="val 1818" name="adj"/>
              </a:avLst>
            </a:prstGeom>
            <a:solidFill>
              <a:srgbClr val="111111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12" name="Google Shape;412;p20"/>
            <p:cNvGrpSpPr/>
            <p:nvPr/>
          </p:nvGrpSpPr>
          <p:grpSpPr>
            <a:xfrm>
              <a:off x="142875" y="142875"/>
              <a:ext cx="2857500" cy="333300"/>
              <a:chOff x="0" y="0"/>
              <a:chExt cx="2857500" cy="333300"/>
            </a:xfrm>
          </p:grpSpPr>
          <p:sp>
            <p:nvSpPr>
              <p:cNvPr id="413" name="Google Shape;413;p20"/>
              <p:cNvSpPr/>
              <p:nvPr/>
            </p:nvSpPr>
            <p:spPr>
              <a:xfrm>
                <a:off x="0" y="0"/>
                <a:ext cx="2857500" cy="333300"/>
              </a:xfrm>
              <a:prstGeom prst="roundRect">
                <a:avLst>
                  <a:gd fmla="val 11428" name="adj"/>
                </a:avLst>
              </a:prstGeom>
              <a:solidFill>
                <a:srgbClr val="FFCC00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" name="Google Shape;414;p20"/>
              <p:cNvSpPr txBox="1"/>
              <p:nvPr/>
            </p:nvSpPr>
            <p:spPr>
              <a:xfrm>
                <a:off x="0" y="0"/>
                <a:ext cx="28575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111111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STRATEGY &amp; UTILITY</a:t>
                </a:r>
                <a:endParaRPr b="0" sz="110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sp>
          <p:nvSpPr>
            <p:cNvPr id="415" name="Google Shape;415;p20"/>
            <p:cNvSpPr txBox="1"/>
            <p:nvPr/>
          </p:nvSpPr>
          <p:spPr>
            <a:xfrm>
              <a:off x="476250" y="714375"/>
              <a:ext cx="25242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1">
                  <a:solidFill>
                    <a:srgbClr val="55555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BEST USED FOR</a:t>
              </a:r>
              <a:endParaRPr b="1" sz="801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1171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Learning classics (UCI) or grounded real-world domains (gov data)</a:t>
              </a:r>
              <a:endParaRPr b="1" sz="1171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16" name="Google Shape;416;p20"/>
            <p:cNvSpPr txBox="1"/>
            <p:nvPr/>
          </p:nvSpPr>
          <p:spPr>
            <a:xfrm>
              <a:off x="476250" y="1524000"/>
              <a:ext cx="25242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01">
                  <a:solidFill>
                    <a:srgbClr val="55555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DATA CHARACTERISTICS</a:t>
              </a:r>
              <a:endParaRPr b="1" sz="701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1071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Highly vetted statistical frameworks (UCI) paired with massive unvetted real-world civic tracking</a:t>
              </a:r>
              <a:endParaRPr b="1" sz="1071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417" name="Google Shape;417;p20"/>
            <p:cNvGrpSpPr/>
            <p:nvPr/>
          </p:nvGrpSpPr>
          <p:grpSpPr>
            <a:xfrm>
              <a:off x="142875" y="2476500"/>
              <a:ext cx="2857500" cy="619200"/>
              <a:chOff x="0" y="0"/>
              <a:chExt cx="2857500" cy="619200"/>
            </a:xfrm>
          </p:grpSpPr>
          <p:sp>
            <p:nvSpPr>
              <p:cNvPr id="418" name="Google Shape;418;p20"/>
              <p:cNvSpPr/>
              <p:nvPr/>
            </p:nvSpPr>
            <p:spPr>
              <a:xfrm>
                <a:off x="0" y="0"/>
                <a:ext cx="2857500" cy="619200"/>
              </a:xfrm>
              <a:prstGeom prst="roundRect">
                <a:avLst>
                  <a:gd fmla="val 6153" name="adj"/>
                </a:avLst>
              </a:prstGeom>
              <a:solidFill>
                <a:srgbClr val="0044FF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" name="Google Shape;419;p20"/>
              <p:cNvSpPr txBox="1"/>
              <p:nvPr/>
            </p:nvSpPr>
            <p:spPr>
              <a:xfrm>
                <a:off x="0" y="0"/>
                <a:ext cx="28575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142875" spcFirstLastPara="1" rIns="142875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601">
                    <a:solidFill>
                      <a:srgbClr val="FFCC00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TIME TO FIRST DATASET</a:t>
                </a:r>
                <a:endParaRPr b="1" sz="601">
                  <a:solidFill>
                    <a:srgbClr val="FFCC00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MINUTES *</a:t>
                </a:r>
                <a:endParaRPr b="0" sz="15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</p:grpSp>
      <p:sp>
        <p:nvSpPr>
          <p:cNvPr id="420" name="Google Shape;420;p20"/>
          <p:cNvSpPr txBox="1"/>
          <p:nvPr/>
        </p:nvSpPr>
        <p:spPr>
          <a:xfrm>
            <a:off x="7572375" y="1047750"/>
            <a:ext cx="14289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95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"Every model is a data problem before it's a model problem."</a:t>
            </a:r>
            <a:endParaRPr b="0" i="1" sz="95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844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FFCC00"/>
                </a:solidFill>
                <a:latin typeface="Space Grotesk"/>
                <a:ea typeface="Space Grotesk"/>
                <a:cs typeface="Space Grotesk"/>
                <a:sym typeface="Space Grotesk"/>
              </a:rPr>
              <a:t>S3</a:t>
            </a:r>
            <a:endParaRPr b="0" sz="2600">
              <a:solidFill>
                <a:srgbClr val="FFCC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113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F4F4F0"/>
                </a:solidFill>
                <a:latin typeface="Inter Medium"/>
                <a:ea typeface="Inter Medium"/>
                <a:cs typeface="Inter Medium"/>
                <a:sym typeface="Inter Medium"/>
              </a:rPr>
              <a:t>Roadmap Rank</a:t>
            </a:r>
            <a:endParaRPr b="0" sz="900">
              <a:solidFill>
                <a:srgbClr val="F4F4F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844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FFCC00"/>
                </a:solidFill>
                <a:latin typeface="Space Grotesk"/>
                <a:ea typeface="Space Grotesk"/>
                <a:cs typeface="Space Grotesk"/>
                <a:sym typeface="Space Grotesk"/>
              </a:rPr>
              <a:t>Minutes</a:t>
            </a:r>
            <a:endParaRPr b="0" sz="2600">
              <a:solidFill>
                <a:srgbClr val="FFCC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113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F4F4F0"/>
                </a:solidFill>
                <a:latin typeface="Inter Medium"/>
                <a:ea typeface="Inter Medium"/>
                <a:cs typeface="Inter Medium"/>
                <a:sym typeface="Inter Medium"/>
              </a:rPr>
              <a:t>Acquisition</a:t>
            </a:r>
            <a:endParaRPr b="0" sz="900">
              <a:solidFill>
                <a:srgbClr val="F4F4F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281"/>
              </a:spcBef>
              <a:spcAft>
                <a:spcPts val="0"/>
              </a:spcAft>
              <a:buNone/>
            </a:pPr>
            <a:r>
              <a:rPr b="0" lang="en" sz="700">
                <a:solidFill>
                  <a:srgbClr val="FFCC00"/>
                </a:solidFill>
                <a:latin typeface="Inter Medium"/>
                <a:ea typeface="Inter Medium"/>
                <a:cs typeface="Inter Medium"/>
                <a:sym typeface="Inter Medium"/>
              </a:rPr>
              <a:t>* More browsing required to filter domains</a:t>
            </a:r>
            <a:endParaRPr b="0" sz="700">
              <a:solidFill>
                <a:srgbClr val="FFCC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0"/>
        </a:solid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1"/>
          <p:cNvSpPr/>
          <p:nvPr/>
        </p:nvSpPr>
        <p:spPr>
          <a:xfrm>
            <a:off x="7429500" y="0"/>
            <a:ext cx="1714500" cy="5143500"/>
          </a:xfrm>
          <a:prstGeom prst="rect">
            <a:avLst/>
          </a:prstGeom>
          <a:solidFill>
            <a:srgbClr val="0044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26" name="Google Shape;426;p21"/>
          <p:cNvCxnSpPr/>
          <p:nvPr/>
        </p:nvCxnSpPr>
        <p:spPr>
          <a:xfrm>
            <a:off x="7429500" y="0"/>
            <a:ext cx="0" cy="5143500"/>
          </a:xfrm>
          <a:prstGeom prst="straightConnector1">
            <a:avLst/>
          </a:prstGeom>
          <a:solidFill>
            <a:srgbClr val="FFFFFF"/>
          </a:solidFill>
          <a:ln cap="flat" cmpd="sng" w="762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7" name="Google Shape;427;p21"/>
          <p:cNvSpPr/>
          <p:nvPr/>
        </p:nvSpPr>
        <p:spPr>
          <a:xfrm>
            <a:off x="190500" y="190500"/>
            <a:ext cx="8763000" cy="4762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381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8" name="Google Shape;428;p21"/>
          <p:cNvGrpSpPr/>
          <p:nvPr/>
        </p:nvGrpSpPr>
        <p:grpSpPr>
          <a:xfrm>
            <a:off x="8058150" y="438150"/>
            <a:ext cx="457200" cy="457200"/>
            <a:chOff x="57150" y="57150"/>
            <a:chExt cx="457200" cy="457200"/>
          </a:xfrm>
        </p:grpSpPr>
        <p:sp>
          <p:nvSpPr>
            <p:cNvPr id="429" name="Google Shape;429;p21"/>
            <p:cNvSpPr/>
            <p:nvPr/>
          </p:nvSpPr>
          <p:spPr>
            <a:xfrm>
              <a:off x="57150" y="57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21"/>
            <p:cNvSpPr/>
            <p:nvPr/>
          </p:nvSpPr>
          <p:spPr>
            <a:xfrm>
              <a:off x="247650" y="57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21"/>
            <p:cNvSpPr/>
            <p:nvPr/>
          </p:nvSpPr>
          <p:spPr>
            <a:xfrm>
              <a:off x="438150" y="57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21"/>
            <p:cNvSpPr/>
            <p:nvPr/>
          </p:nvSpPr>
          <p:spPr>
            <a:xfrm>
              <a:off x="57150" y="2476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21"/>
            <p:cNvSpPr/>
            <p:nvPr/>
          </p:nvSpPr>
          <p:spPr>
            <a:xfrm>
              <a:off x="247650" y="2476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21"/>
            <p:cNvSpPr/>
            <p:nvPr/>
          </p:nvSpPr>
          <p:spPr>
            <a:xfrm>
              <a:off x="438150" y="2476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21"/>
            <p:cNvSpPr/>
            <p:nvPr/>
          </p:nvSpPr>
          <p:spPr>
            <a:xfrm>
              <a:off x="57150" y="438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21"/>
            <p:cNvSpPr/>
            <p:nvPr/>
          </p:nvSpPr>
          <p:spPr>
            <a:xfrm>
              <a:off x="247650" y="438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21"/>
            <p:cNvSpPr/>
            <p:nvPr/>
          </p:nvSpPr>
          <p:spPr>
            <a:xfrm>
              <a:off x="438150" y="438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8" name="Google Shape;438;p21"/>
          <p:cNvGrpSpPr/>
          <p:nvPr/>
        </p:nvGrpSpPr>
        <p:grpSpPr>
          <a:xfrm>
            <a:off x="7905750" y="4000500"/>
            <a:ext cx="762000" cy="713400"/>
            <a:chOff x="0" y="0"/>
            <a:chExt cx="762000" cy="713400"/>
          </a:xfrm>
        </p:grpSpPr>
        <p:sp>
          <p:nvSpPr>
            <p:cNvPr id="439" name="Google Shape;439;p21"/>
            <p:cNvSpPr/>
            <p:nvPr/>
          </p:nvSpPr>
          <p:spPr>
            <a:xfrm>
              <a:off x="0" y="0"/>
              <a:ext cx="762000" cy="713400"/>
            </a:xfrm>
            <a:custGeom>
              <a:rect b="b" l="l" r="r" t="t"/>
              <a:pathLst>
                <a:path extrusionOk="0" h="120000" w="120000">
                  <a:moveTo>
                    <a:pt x="0" y="31884"/>
                  </a:moveTo>
                  <a:lnTo>
                    <a:pt x="0" y="95967"/>
                  </a:lnTo>
                  <a:cubicBezTo>
                    <a:pt x="0" y="108785"/>
                    <a:pt x="27000" y="120000"/>
                    <a:pt x="60000" y="120000"/>
                  </a:cubicBezTo>
                  <a:cubicBezTo>
                    <a:pt x="93000" y="120000"/>
                    <a:pt x="120000" y="108785"/>
                    <a:pt x="120000" y="95967"/>
                  </a:cubicBezTo>
                  <a:lnTo>
                    <a:pt x="120000" y="0"/>
                  </a:lnTo>
                </a:path>
              </a:pathLst>
            </a:custGeom>
            <a:solidFill>
              <a:srgbClr val="00E676"/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21"/>
            <p:cNvSpPr/>
            <p:nvPr/>
          </p:nvSpPr>
          <p:spPr>
            <a:xfrm>
              <a:off x="0" y="0"/>
              <a:ext cx="762000" cy="285900"/>
            </a:xfrm>
            <a:prstGeom prst="ellipse">
              <a:avLst/>
            </a:prstGeom>
            <a:solidFill>
              <a:srgbClr val="00E676"/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21"/>
            <p:cNvSpPr/>
            <p:nvPr/>
          </p:nvSpPr>
          <p:spPr>
            <a:xfrm>
              <a:off x="0" y="190500"/>
              <a:ext cx="762000" cy="285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2" name="Google Shape;442;p21"/>
          <p:cNvSpPr txBox="1"/>
          <p:nvPr/>
        </p:nvSpPr>
        <p:spPr>
          <a:xfrm>
            <a:off x="476250" y="428625"/>
            <a:ext cx="6667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800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rPr>
              <a:t>SOURCE 3: PROS &amp; CONS</a:t>
            </a:r>
            <a:endParaRPr b="0" sz="2800">
              <a:solidFill>
                <a:srgbClr val="11111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443" name="Google Shape;443;p21"/>
          <p:cNvGrpSpPr/>
          <p:nvPr/>
        </p:nvGrpSpPr>
        <p:grpSpPr>
          <a:xfrm>
            <a:off x="476250" y="1143000"/>
            <a:ext cx="3181500" cy="3467100"/>
            <a:chOff x="0" y="0"/>
            <a:chExt cx="3181500" cy="3467100"/>
          </a:xfrm>
        </p:grpSpPr>
        <p:sp>
          <p:nvSpPr>
            <p:cNvPr id="444" name="Google Shape;444;p21"/>
            <p:cNvSpPr/>
            <p:nvPr/>
          </p:nvSpPr>
          <p:spPr>
            <a:xfrm>
              <a:off x="0" y="0"/>
              <a:ext cx="3143400" cy="3429000"/>
            </a:xfrm>
            <a:prstGeom prst="roundRect">
              <a:avLst>
                <a:gd fmla="val 1818" name="adj"/>
              </a:avLst>
            </a:prstGeom>
            <a:solidFill>
              <a:srgbClr val="FFFFFF"/>
            </a:solidFill>
            <a:ln cap="flat" cmpd="sng" w="28575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21"/>
            <p:cNvSpPr/>
            <p:nvPr/>
          </p:nvSpPr>
          <p:spPr>
            <a:xfrm>
              <a:off x="38100" y="38100"/>
              <a:ext cx="3143400" cy="3429000"/>
            </a:xfrm>
            <a:prstGeom prst="roundRect">
              <a:avLst>
                <a:gd fmla="val 1818" name="adj"/>
              </a:avLst>
            </a:prstGeom>
            <a:solidFill>
              <a:srgbClr val="111111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46" name="Google Shape;446;p21"/>
            <p:cNvGrpSpPr/>
            <p:nvPr/>
          </p:nvGrpSpPr>
          <p:grpSpPr>
            <a:xfrm>
              <a:off x="142875" y="142875"/>
              <a:ext cx="2857500" cy="333300"/>
              <a:chOff x="0" y="0"/>
              <a:chExt cx="2857500" cy="333300"/>
            </a:xfrm>
          </p:grpSpPr>
          <p:sp>
            <p:nvSpPr>
              <p:cNvPr id="447" name="Google Shape;447;p21"/>
              <p:cNvSpPr/>
              <p:nvPr/>
            </p:nvSpPr>
            <p:spPr>
              <a:xfrm>
                <a:off x="0" y="0"/>
                <a:ext cx="2857500" cy="333300"/>
              </a:xfrm>
              <a:prstGeom prst="roundRect">
                <a:avLst>
                  <a:gd fmla="val 11431" name="adj"/>
                </a:avLst>
              </a:prstGeom>
              <a:solidFill>
                <a:srgbClr val="00E676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" name="Google Shape;448;p21"/>
              <p:cNvSpPr txBox="1"/>
              <p:nvPr/>
            </p:nvSpPr>
            <p:spPr>
              <a:xfrm>
                <a:off x="0" y="0"/>
                <a:ext cx="28575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111111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ADVANTAGES / PROS</a:t>
                </a:r>
                <a:endParaRPr b="0" sz="110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grpSp>
          <p:nvGrpSpPr>
            <p:cNvPr id="449" name="Google Shape;449;p21"/>
            <p:cNvGrpSpPr/>
            <p:nvPr/>
          </p:nvGrpSpPr>
          <p:grpSpPr>
            <a:xfrm>
              <a:off x="142875" y="619125"/>
              <a:ext cx="238200" cy="238200"/>
              <a:chOff x="0" y="0"/>
              <a:chExt cx="238200" cy="238200"/>
            </a:xfrm>
          </p:grpSpPr>
          <p:sp>
            <p:nvSpPr>
              <p:cNvPr id="450" name="Google Shape;450;p21"/>
              <p:cNvSpPr/>
              <p:nvPr/>
            </p:nvSpPr>
            <p:spPr>
              <a:xfrm>
                <a:off x="0" y="0"/>
                <a:ext cx="238200" cy="238200"/>
              </a:xfrm>
              <a:prstGeom prst="roundRect">
                <a:avLst>
                  <a:gd fmla="val 16000" name="adj"/>
                </a:avLst>
              </a:prstGeom>
              <a:solidFill>
                <a:srgbClr val="0044FF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" name="Google Shape;451;p21"/>
              <p:cNvSpPr txBox="1"/>
              <p:nvPr/>
            </p:nvSpPr>
            <p:spPr>
              <a:xfrm>
                <a:off x="0" y="0"/>
                <a:ext cx="2382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+</a:t>
                </a:r>
                <a:endParaRPr b="0" sz="10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sp>
          <p:nvSpPr>
            <p:cNvPr id="452" name="Google Shape;452;p21"/>
            <p:cNvSpPr txBox="1"/>
            <p:nvPr/>
          </p:nvSpPr>
          <p:spPr>
            <a:xfrm>
              <a:off x="476250" y="619125"/>
              <a:ext cx="25242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55555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TRUST &amp; DOCUMENTATION</a:t>
              </a:r>
              <a:endParaRPr b="1" sz="750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675"/>
                </a:spcBef>
                <a:spcAft>
                  <a:spcPts val="0"/>
                </a:spcAft>
                <a:buNone/>
              </a:pPr>
              <a:r>
                <a:rPr b="0" lang="en" sz="121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Where Public Domains Excel</a:t>
              </a:r>
              <a:endParaRPr b="0" sz="1210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-3016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111111"/>
                </a:buClr>
                <a:buSzPts val="1150"/>
                <a:buFont typeface="Inter"/>
                <a:buChar char="●"/>
              </a:pPr>
              <a:r>
                <a:rPr b="1" lang="en" sz="11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High trust:</a:t>
              </a:r>
              <a:r>
                <a:rPr b="0" lang="en" sz="115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High provenance and trust from institutional sources.</a:t>
              </a:r>
              <a:endParaRPr b="0" sz="1150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301625" lvl="0" marL="457200" rtl="0" algn="l">
                <a:spcBef>
                  <a:spcPts val="900"/>
                </a:spcBef>
                <a:spcAft>
                  <a:spcPts val="900"/>
                </a:spcAft>
                <a:buClr>
                  <a:srgbClr val="111111"/>
                </a:buClr>
                <a:buSzPts val="1150"/>
                <a:buFont typeface="Inter"/>
                <a:buChar char="●"/>
              </a:pPr>
              <a:r>
                <a:rPr b="1" lang="en" sz="11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Clean &amp; Real-world:</a:t>
              </a:r>
              <a:r>
                <a:rPr b="0" lang="en" sz="115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UCI sets are clean and well-documented, while government data realistically reflects real-world complexity and messiness.</a:t>
              </a:r>
              <a:endParaRPr b="0" sz="1150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453" name="Google Shape;453;p21"/>
          <p:cNvGrpSpPr/>
          <p:nvPr/>
        </p:nvGrpSpPr>
        <p:grpSpPr>
          <a:xfrm>
            <a:off x="3905250" y="1143000"/>
            <a:ext cx="3181500" cy="3467100"/>
            <a:chOff x="0" y="0"/>
            <a:chExt cx="3181500" cy="3467100"/>
          </a:xfrm>
        </p:grpSpPr>
        <p:sp>
          <p:nvSpPr>
            <p:cNvPr id="454" name="Google Shape;454;p21"/>
            <p:cNvSpPr/>
            <p:nvPr/>
          </p:nvSpPr>
          <p:spPr>
            <a:xfrm>
              <a:off x="0" y="0"/>
              <a:ext cx="3143400" cy="3429000"/>
            </a:xfrm>
            <a:prstGeom prst="roundRect">
              <a:avLst>
                <a:gd fmla="val 1818" name="adj"/>
              </a:avLst>
            </a:prstGeom>
            <a:solidFill>
              <a:srgbClr val="FFFFFF"/>
            </a:solidFill>
            <a:ln cap="flat" cmpd="sng" w="28575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21"/>
            <p:cNvSpPr/>
            <p:nvPr/>
          </p:nvSpPr>
          <p:spPr>
            <a:xfrm>
              <a:off x="38100" y="38100"/>
              <a:ext cx="3143400" cy="3429000"/>
            </a:xfrm>
            <a:prstGeom prst="roundRect">
              <a:avLst>
                <a:gd fmla="val 1818" name="adj"/>
              </a:avLst>
            </a:prstGeom>
            <a:solidFill>
              <a:srgbClr val="111111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56" name="Google Shape;456;p21"/>
            <p:cNvGrpSpPr/>
            <p:nvPr/>
          </p:nvGrpSpPr>
          <p:grpSpPr>
            <a:xfrm>
              <a:off x="142875" y="142875"/>
              <a:ext cx="2857500" cy="333300"/>
              <a:chOff x="0" y="0"/>
              <a:chExt cx="2857500" cy="333300"/>
            </a:xfrm>
          </p:grpSpPr>
          <p:sp>
            <p:nvSpPr>
              <p:cNvPr id="457" name="Google Shape;457;p21"/>
              <p:cNvSpPr/>
              <p:nvPr/>
            </p:nvSpPr>
            <p:spPr>
              <a:xfrm>
                <a:off x="0" y="0"/>
                <a:ext cx="2857500" cy="333300"/>
              </a:xfrm>
              <a:prstGeom prst="roundRect">
                <a:avLst>
                  <a:gd fmla="val 11431" name="adj"/>
                </a:avLst>
              </a:prstGeom>
              <a:solidFill>
                <a:srgbClr val="FFCC00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" name="Google Shape;458;p21"/>
              <p:cNvSpPr txBox="1"/>
              <p:nvPr/>
            </p:nvSpPr>
            <p:spPr>
              <a:xfrm>
                <a:off x="0" y="0"/>
                <a:ext cx="28575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111111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DISADVANTAGES / CONS</a:t>
                </a:r>
                <a:endParaRPr b="0" sz="110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grpSp>
          <p:nvGrpSpPr>
            <p:cNvPr id="459" name="Google Shape;459;p21"/>
            <p:cNvGrpSpPr/>
            <p:nvPr/>
          </p:nvGrpSpPr>
          <p:grpSpPr>
            <a:xfrm>
              <a:off x="142875" y="619125"/>
              <a:ext cx="238200" cy="238200"/>
              <a:chOff x="0" y="0"/>
              <a:chExt cx="238200" cy="238200"/>
            </a:xfrm>
          </p:grpSpPr>
          <p:sp>
            <p:nvSpPr>
              <p:cNvPr id="460" name="Google Shape;460;p21"/>
              <p:cNvSpPr/>
              <p:nvPr/>
            </p:nvSpPr>
            <p:spPr>
              <a:xfrm>
                <a:off x="0" y="0"/>
                <a:ext cx="238200" cy="238200"/>
              </a:xfrm>
              <a:prstGeom prst="roundRect">
                <a:avLst>
                  <a:gd fmla="val 16000" name="adj"/>
                </a:avLst>
              </a:prstGeom>
              <a:solidFill>
                <a:srgbClr val="111111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" name="Google Shape;461;p21"/>
              <p:cNvSpPr txBox="1"/>
              <p:nvPr/>
            </p:nvSpPr>
            <p:spPr>
              <a:xfrm>
                <a:off x="0" y="0"/>
                <a:ext cx="2382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-</a:t>
                </a:r>
                <a:endParaRPr b="0" sz="10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sp>
          <p:nvSpPr>
            <p:cNvPr id="462" name="Google Shape;462;p21"/>
            <p:cNvSpPr txBox="1"/>
            <p:nvPr/>
          </p:nvSpPr>
          <p:spPr>
            <a:xfrm>
              <a:off x="476250" y="619125"/>
              <a:ext cx="25242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55555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DATA &amp; SYSTEM LIMITS</a:t>
              </a:r>
              <a:endParaRPr b="1" sz="850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675"/>
                </a:spcBef>
                <a:spcAft>
                  <a:spcPts val="0"/>
                </a:spcAft>
                <a:buNone/>
              </a:pPr>
              <a:r>
                <a:rPr b="0" lang="en" sz="131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Inherent Pipeline Challenges</a:t>
              </a:r>
              <a:endParaRPr b="0" sz="1310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-30797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111111"/>
                </a:buClr>
                <a:buSzPts val="1250"/>
                <a:buFont typeface="Inter"/>
                <a:buChar char="●"/>
              </a:pPr>
              <a:r>
                <a:rPr b="1" lang="en" sz="12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Aging benchmarks:</a:t>
              </a:r>
              <a:r>
                <a:rPr b="0" lang="en" sz="125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UCI datasets are often old, small, and highly over-benchmarked.</a:t>
              </a:r>
              <a:endParaRPr b="0" sz="1250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307975" lvl="0" marL="457200" rtl="0" algn="l">
                <a:spcBef>
                  <a:spcPts val="900"/>
                </a:spcBef>
                <a:spcAft>
                  <a:spcPts val="900"/>
                </a:spcAft>
                <a:buClr>
                  <a:srgbClr val="111111"/>
                </a:buClr>
                <a:buSzPts val="1250"/>
                <a:buFont typeface="Inter"/>
                <a:buChar char="●"/>
              </a:pPr>
              <a:r>
                <a:rPr b="1" lang="en" sz="12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Gov data friction:</a:t>
              </a:r>
              <a:r>
                <a:rPr b="0" lang="en" sz="125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Public portals present inconsistent formats, missing metadata, and patchy overall documentation.</a:t>
              </a:r>
              <a:endParaRPr b="0" sz="1250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463" name="Google Shape;463;p21"/>
          <p:cNvSpPr txBox="1"/>
          <p:nvPr/>
        </p:nvSpPr>
        <p:spPr>
          <a:xfrm>
            <a:off x="7572375" y="1047750"/>
            <a:ext cx="14289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95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"Every model is a data problem before it's a model problem."</a:t>
            </a:r>
            <a:endParaRPr b="0" i="1" sz="95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FFCC00"/>
                </a:solidFill>
                <a:latin typeface="Space Grotesk"/>
                <a:ea typeface="Space Grotesk"/>
                <a:cs typeface="Space Grotesk"/>
                <a:sym typeface="Space Grotesk"/>
              </a:rPr>
              <a:t>S3</a:t>
            </a:r>
            <a:endParaRPr b="0" sz="2600">
              <a:solidFill>
                <a:srgbClr val="FFCC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F4F4F0"/>
                </a:solidFill>
                <a:latin typeface="Inter Medium"/>
                <a:ea typeface="Inter Medium"/>
                <a:cs typeface="Inter Medium"/>
                <a:sym typeface="Inter Medium"/>
              </a:rPr>
              <a:t>Public Portals</a:t>
            </a:r>
            <a:endParaRPr b="0" sz="900">
              <a:solidFill>
                <a:srgbClr val="F4F4F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FFCC00"/>
                </a:solidFill>
                <a:latin typeface="Space Grotesk"/>
                <a:ea typeface="Space Grotesk"/>
                <a:cs typeface="Space Grotesk"/>
                <a:sym typeface="Space Grotesk"/>
              </a:rPr>
              <a:t>Trusted</a:t>
            </a:r>
            <a:endParaRPr b="0" sz="2600">
              <a:solidFill>
                <a:srgbClr val="FFCC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F4F4F0"/>
                </a:solidFill>
                <a:latin typeface="Inter Medium"/>
                <a:ea typeface="Inter Medium"/>
                <a:cs typeface="Inter Medium"/>
                <a:sym typeface="Inter Medium"/>
              </a:rPr>
              <a:t>Institutional</a:t>
            </a:r>
            <a:endParaRPr b="0" sz="900">
              <a:solidFill>
                <a:srgbClr val="F4F4F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0"/>
        </a:solid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2"/>
          <p:cNvSpPr/>
          <p:nvPr/>
        </p:nvSpPr>
        <p:spPr>
          <a:xfrm>
            <a:off x="7429500" y="0"/>
            <a:ext cx="1714500" cy="5143500"/>
          </a:xfrm>
          <a:prstGeom prst="rect">
            <a:avLst/>
          </a:prstGeom>
          <a:solidFill>
            <a:srgbClr val="0044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69" name="Google Shape;469;p22"/>
          <p:cNvCxnSpPr/>
          <p:nvPr/>
        </p:nvCxnSpPr>
        <p:spPr>
          <a:xfrm>
            <a:off x="7429500" y="0"/>
            <a:ext cx="0" cy="5143500"/>
          </a:xfrm>
          <a:prstGeom prst="straightConnector1">
            <a:avLst/>
          </a:prstGeom>
          <a:solidFill>
            <a:srgbClr val="FFFFFF"/>
          </a:solidFill>
          <a:ln cap="flat" cmpd="sng" w="762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0" name="Google Shape;470;p22"/>
          <p:cNvSpPr/>
          <p:nvPr/>
        </p:nvSpPr>
        <p:spPr>
          <a:xfrm>
            <a:off x="190500" y="190500"/>
            <a:ext cx="8763000" cy="4762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381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1" name="Google Shape;471;p22"/>
          <p:cNvGrpSpPr/>
          <p:nvPr/>
        </p:nvGrpSpPr>
        <p:grpSpPr>
          <a:xfrm>
            <a:off x="8058150" y="438150"/>
            <a:ext cx="457200" cy="457200"/>
            <a:chOff x="57150" y="57150"/>
            <a:chExt cx="457200" cy="457200"/>
          </a:xfrm>
        </p:grpSpPr>
        <p:sp>
          <p:nvSpPr>
            <p:cNvPr id="472" name="Google Shape;472;p22"/>
            <p:cNvSpPr/>
            <p:nvPr/>
          </p:nvSpPr>
          <p:spPr>
            <a:xfrm>
              <a:off x="57150" y="57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22"/>
            <p:cNvSpPr/>
            <p:nvPr/>
          </p:nvSpPr>
          <p:spPr>
            <a:xfrm>
              <a:off x="247650" y="57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22"/>
            <p:cNvSpPr/>
            <p:nvPr/>
          </p:nvSpPr>
          <p:spPr>
            <a:xfrm>
              <a:off x="438150" y="57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22"/>
            <p:cNvSpPr/>
            <p:nvPr/>
          </p:nvSpPr>
          <p:spPr>
            <a:xfrm>
              <a:off x="57150" y="2476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22"/>
            <p:cNvSpPr/>
            <p:nvPr/>
          </p:nvSpPr>
          <p:spPr>
            <a:xfrm>
              <a:off x="247650" y="2476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22"/>
            <p:cNvSpPr/>
            <p:nvPr/>
          </p:nvSpPr>
          <p:spPr>
            <a:xfrm>
              <a:off x="438150" y="2476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22"/>
            <p:cNvSpPr/>
            <p:nvPr/>
          </p:nvSpPr>
          <p:spPr>
            <a:xfrm>
              <a:off x="57150" y="438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22"/>
            <p:cNvSpPr/>
            <p:nvPr/>
          </p:nvSpPr>
          <p:spPr>
            <a:xfrm>
              <a:off x="247650" y="438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22"/>
            <p:cNvSpPr/>
            <p:nvPr/>
          </p:nvSpPr>
          <p:spPr>
            <a:xfrm>
              <a:off x="438150" y="438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1" name="Google Shape;481;p22"/>
          <p:cNvGrpSpPr/>
          <p:nvPr/>
        </p:nvGrpSpPr>
        <p:grpSpPr>
          <a:xfrm>
            <a:off x="7905750" y="4000500"/>
            <a:ext cx="762000" cy="713400"/>
            <a:chOff x="0" y="0"/>
            <a:chExt cx="762000" cy="713400"/>
          </a:xfrm>
        </p:grpSpPr>
        <p:sp>
          <p:nvSpPr>
            <p:cNvPr id="482" name="Google Shape;482;p22"/>
            <p:cNvSpPr/>
            <p:nvPr/>
          </p:nvSpPr>
          <p:spPr>
            <a:xfrm>
              <a:off x="0" y="0"/>
              <a:ext cx="762000" cy="713400"/>
            </a:xfrm>
            <a:custGeom>
              <a:rect b="b" l="l" r="r" t="t"/>
              <a:pathLst>
                <a:path extrusionOk="0" h="120000" w="120000">
                  <a:moveTo>
                    <a:pt x="0" y="31883"/>
                  </a:moveTo>
                  <a:lnTo>
                    <a:pt x="0" y="95968"/>
                  </a:lnTo>
                  <a:cubicBezTo>
                    <a:pt x="0" y="108785"/>
                    <a:pt x="27000" y="120000"/>
                    <a:pt x="60000" y="120000"/>
                  </a:cubicBezTo>
                  <a:cubicBezTo>
                    <a:pt x="93000" y="120000"/>
                    <a:pt x="120000" y="108785"/>
                    <a:pt x="120000" y="95968"/>
                  </a:cubicBezTo>
                  <a:lnTo>
                    <a:pt x="120000" y="0"/>
                  </a:lnTo>
                </a:path>
              </a:pathLst>
            </a:custGeom>
            <a:solidFill>
              <a:srgbClr val="00E676"/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22"/>
            <p:cNvSpPr/>
            <p:nvPr/>
          </p:nvSpPr>
          <p:spPr>
            <a:xfrm>
              <a:off x="0" y="0"/>
              <a:ext cx="762000" cy="285900"/>
            </a:xfrm>
            <a:prstGeom prst="ellipse">
              <a:avLst/>
            </a:prstGeom>
            <a:solidFill>
              <a:srgbClr val="00E676"/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22"/>
            <p:cNvSpPr/>
            <p:nvPr/>
          </p:nvSpPr>
          <p:spPr>
            <a:xfrm>
              <a:off x="0" y="190500"/>
              <a:ext cx="762000" cy="285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5" name="Google Shape;485;p22"/>
          <p:cNvSpPr txBox="1"/>
          <p:nvPr/>
        </p:nvSpPr>
        <p:spPr>
          <a:xfrm>
            <a:off x="476250" y="428625"/>
            <a:ext cx="6667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800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rPr>
              <a:t>SOURCE 4: AUGMENTATION</a:t>
            </a:r>
            <a:endParaRPr b="0" sz="2800">
              <a:solidFill>
                <a:srgbClr val="11111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486" name="Google Shape;486;p22"/>
          <p:cNvGrpSpPr/>
          <p:nvPr/>
        </p:nvGrpSpPr>
        <p:grpSpPr>
          <a:xfrm>
            <a:off x="476250" y="1143000"/>
            <a:ext cx="3181500" cy="3467100"/>
            <a:chOff x="0" y="0"/>
            <a:chExt cx="3181500" cy="3467100"/>
          </a:xfrm>
        </p:grpSpPr>
        <p:sp>
          <p:nvSpPr>
            <p:cNvPr id="487" name="Google Shape;487;p22"/>
            <p:cNvSpPr/>
            <p:nvPr/>
          </p:nvSpPr>
          <p:spPr>
            <a:xfrm>
              <a:off x="0" y="0"/>
              <a:ext cx="3143400" cy="3429000"/>
            </a:xfrm>
            <a:prstGeom prst="roundRect">
              <a:avLst>
                <a:gd fmla="val 1818" name="adj"/>
              </a:avLst>
            </a:prstGeom>
            <a:solidFill>
              <a:srgbClr val="FFFFFF"/>
            </a:solidFill>
            <a:ln cap="flat" cmpd="sng" w="28575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22"/>
            <p:cNvSpPr/>
            <p:nvPr/>
          </p:nvSpPr>
          <p:spPr>
            <a:xfrm>
              <a:off x="38100" y="38100"/>
              <a:ext cx="3143400" cy="3429000"/>
            </a:xfrm>
            <a:prstGeom prst="roundRect">
              <a:avLst>
                <a:gd fmla="val 1818" name="adj"/>
              </a:avLst>
            </a:prstGeom>
            <a:solidFill>
              <a:srgbClr val="111111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89" name="Google Shape;489;p22"/>
            <p:cNvGrpSpPr/>
            <p:nvPr/>
          </p:nvGrpSpPr>
          <p:grpSpPr>
            <a:xfrm>
              <a:off x="142875" y="142875"/>
              <a:ext cx="2857500" cy="333300"/>
              <a:chOff x="0" y="0"/>
              <a:chExt cx="2857500" cy="333300"/>
            </a:xfrm>
          </p:grpSpPr>
          <p:sp>
            <p:nvSpPr>
              <p:cNvPr id="490" name="Google Shape;490;p22"/>
              <p:cNvSpPr/>
              <p:nvPr/>
            </p:nvSpPr>
            <p:spPr>
              <a:xfrm>
                <a:off x="0" y="0"/>
                <a:ext cx="2857500" cy="333300"/>
              </a:xfrm>
              <a:prstGeom prst="roundRect">
                <a:avLst>
                  <a:gd fmla="val 11428" name="adj"/>
                </a:avLst>
              </a:prstGeom>
              <a:solidFill>
                <a:srgbClr val="00E676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1" name="Google Shape;491;p22"/>
              <p:cNvSpPr txBox="1"/>
              <p:nvPr/>
            </p:nvSpPr>
            <p:spPr>
              <a:xfrm>
                <a:off x="0" y="0"/>
                <a:ext cx="28575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111111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S4: EXPANSION ENGINE</a:t>
                </a:r>
                <a:endParaRPr b="0" sz="110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grpSp>
          <p:nvGrpSpPr>
            <p:cNvPr id="492" name="Google Shape;492;p22"/>
            <p:cNvGrpSpPr/>
            <p:nvPr/>
          </p:nvGrpSpPr>
          <p:grpSpPr>
            <a:xfrm>
              <a:off x="142875" y="619125"/>
              <a:ext cx="238200" cy="238200"/>
              <a:chOff x="0" y="0"/>
              <a:chExt cx="238200" cy="238200"/>
            </a:xfrm>
          </p:grpSpPr>
          <p:sp>
            <p:nvSpPr>
              <p:cNvPr id="493" name="Google Shape;493;p22"/>
              <p:cNvSpPr/>
              <p:nvPr/>
            </p:nvSpPr>
            <p:spPr>
              <a:xfrm>
                <a:off x="0" y="0"/>
                <a:ext cx="238200" cy="238200"/>
              </a:xfrm>
              <a:prstGeom prst="roundRect">
                <a:avLst>
                  <a:gd fmla="val 16000" name="adj"/>
                </a:avLst>
              </a:prstGeom>
              <a:solidFill>
                <a:srgbClr val="0044FF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4" name="Google Shape;494;p22"/>
              <p:cNvSpPr txBox="1"/>
              <p:nvPr/>
            </p:nvSpPr>
            <p:spPr>
              <a:xfrm>
                <a:off x="0" y="0"/>
                <a:ext cx="2382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S4</a:t>
                </a:r>
                <a:endParaRPr b="0" sz="10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sp>
          <p:nvSpPr>
            <p:cNvPr id="495" name="Google Shape;495;p22"/>
            <p:cNvSpPr txBox="1"/>
            <p:nvPr/>
          </p:nvSpPr>
          <p:spPr>
            <a:xfrm>
              <a:off x="476250" y="619125"/>
              <a:ext cx="25242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50">
                  <a:solidFill>
                    <a:srgbClr val="55555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THE METHODOLOGY</a:t>
              </a:r>
              <a:endParaRPr b="1" sz="650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450"/>
                </a:spcAft>
                <a:buNone/>
              </a:pPr>
              <a:r>
                <a:rPr b="0" lang="en" sz="110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Expanding Seed Datasets</a:t>
              </a:r>
              <a:endParaRPr b="0" sz="1100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496" name="Google Shape;496;p22"/>
            <p:cNvSpPr txBox="1"/>
            <p:nvPr/>
          </p:nvSpPr>
          <p:spPr>
            <a:xfrm>
              <a:off x="476250" y="1042950"/>
              <a:ext cx="2524200" cy="13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95275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050"/>
                <a:buFont typeface="Inter"/>
                <a:buChar char="●"/>
              </a:pPr>
              <a:r>
                <a:rPr b="1" lang="en" sz="10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What it is:</a:t>
              </a:r>
              <a:r>
                <a:rPr b="0" lang="en" sz="105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Expanding a small real seed set programmatically.</a:t>
              </a:r>
              <a:endParaRPr b="0" sz="1050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111111"/>
                </a:buClr>
                <a:buSzPts val="1050"/>
                <a:buFont typeface="Inter"/>
                <a:buChar char="●"/>
              </a:pPr>
              <a:r>
                <a:rPr b="1" lang="en" sz="10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Efficiency:</a:t>
              </a:r>
              <a:r>
                <a:rPr b="0" lang="en" sz="105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Often achieved under 10 lines of code.</a:t>
              </a:r>
              <a:endParaRPr b="0" sz="1050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600"/>
                </a:spcAft>
                <a:buClr>
                  <a:srgbClr val="111111"/>
                </a:buClr>
                <a:buSzPts val="1050"/>
                <a:buFont typeface="Inter"/>
                <a:buChar char="●"/>
              </a:pPr>
              <a:r>
                <a:rPr b="1" lang="en" sz="10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Pipeline:</a:t>
              </a:r>
              <a:r>
                <a:rPr b="0" lang="en" sz="105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Load seed data → apply transform pipeline → get N× more training samples.</a:t>
              </a:r>
              <a:endParaRPr b="0" sz="1050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grpSp>
          <p:nvGrpSpPr>
            <p:cNvPr id="497" name="Google Shape;497;p22"/>
            <p:cNvGrpSpPr/>
            <p:nvPr/>
          </p:nvGrpSpPr>
          <p:grpSpPr>
            <a:xfrm>
              <a:off x="142875" y="2714625"/>
              <a:ext cx="2952750" cy="381000"/>
              <a:chOff x="0" y="0"/>
              <a:chExt cx="2952750" cy="381000"/>
            </a:xfrm>
          </p:grpSpPr>
          <p:sp>
            <p:nvSpPr>
              <p:cNvPr id="498" name="Google Shape;498;p22"/>
              <p:cNvSpPr/>
              <p:nvPr/>
            </p:nvSpPr>
            <p:spPr>
              <a:xfrm>
                <a:off x="0" y="0"/>
                <a:ext cx="2857500" cy="381000"/>
              </a:xfrm>
              <a:prstGeom prst="roundRect">
                <a:avLst>
                  <a:gd fmla="val 10000" name="adj"/>
                </a:avLst>
              </a:prstGeom>
              <a:solidFill>
                <a:srgbClr val="F4F4F0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9" name="Google Shape;499;p22"/>
              <p:cNvSpPr txBox="1"/>
              <p:nvPr/>
            </p:nvSpPr>
            <p:spPr>
              <a:xfrm>
                <a:off x="95250" y="0"/>
                <a:ext cx="2857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Dynamic, programmatically scales seed data</a:t>
                </a:r>
                <a:endParaRPr b="1" sz="9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500" name="Google Shape;500;p22"/>
          <p:cNvGrpSpPr/>
          <p:nvPr/>
        </p:nvGrpSpPr>
        <p:grpSpPr>
          <a:xfrm>
            <a:off x="3905250" y="1143000"/>
            <a:ext cx="3181500" cy="3467100"/>
            <a:chOff x="0" y="0"/>
            <a:chExt cx="3181500" cy="3467100"/>
          </a:xfrm>
        </p:grpSpPr>
        <p:sp>
          <p:nvSpPr>
            <p:cNvPr id="501" name="Google Shape;501;p22"/>
            <p:cNvSpPr/>
            <p:nvPr/>
          </p:nvSpPr>
          <p:spPr>
            <a:xfrm>
              <a:off x="0" y="0"/>
              <a:ext cx="3143400" cy="3429000"/>
            </a:xfrm>
            <a:prstGeom prst="roundRect">
              <a:avLst>
                <a:gd fmla="val 1818" name="adj"/>
              </a:avLst>
            </a:prstGeom>
            <a:solidFill>
              <a:srgbClr val="FFFFFF"/>
            </a:solidFill>
            <a:ln cap="flat" cmpd="sng" w="28575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22"/>
            <p:cNvSpPr/>
            <p:nvPr/>
          </p:nvSpPr>
          <p:spPr>
            <a:xfrm>
              <a:off x="38100" y="38100"/>
              <a:ext cx="3143400" cy="3429000"/>
            </a:xfrm>
            <a:prstGeom prst="roundRect">
              <a:avLst>
                <a:gd fmla="val 1818" name="adj"/>
              </a:avLst>
            </a:prstGeom>
            <a:solidFill>
              <a:srgbClr val="111111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03" name="Google Shape;503;p22"/>
            <p:cNvGrpSpPr/>
            <p:nvPr/>
          </p:nvGrpSpPr>
          <p:grpSpPr>
            <a:xfrm>
              <a:off x="142875" y="142875"/>
              <a:ext cx="2857500" cy="333300"/>
              <a:chOff x="0" y="0"/>
              <a:chExt cx="2857500" cy="333300"/>
            </a:xfrm>
          </p:grpSpPr>
          <p:sp>
            <p:nvSpPr>
              <p:cNvPr id="504" name="Google Shape;504;p22"/>
              <p:cNvSpPr/>
              <p:nvPr/>
            </p:nvSpPr>
            <p:spPr>
              <a:xfrm>
                <a:off x="0" y="0"/>
                <a:ext cx="2857500" cy="333300"/>
              </a:xfrm>
              <a:prstGeom prst="roundRect">
                <a:avLst>
                  <a:gd fmla="val 11428" name="adj"/>
                </a:avLst>
              </a:prstGeom>
              <a:solidFill>
                <a:srgbClr val="FFCC00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5" name="Google Shape;505;p22"/>
              <p:cNvSpPr txBox="1"/>
              <p:nvPr/>
            </p:nvSpPr>
            <p:spPr>
              <a:xfrm>
                <a:off x="0" y="0"/>
                <a:ext cx="28575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111111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STRATEGY &amp; UTILITY</a:t>
                </a:r>
                <a:endParaRPr b="0" sz="110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sp>
          <p:nvSpPr>
            <p:cNvPr id="506" name="Google Shape;506;p22"/>
            <p:cNvSpPr txBox="1"/>
            <p:nvPr/>
          </p:nvSpPr>
          <p:spPr>
            <a:xfrm>
              <a:off x="476250" y="714375"/>
              <a:ext cx="25242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50">
                  <a:solidFill>
                    <a:srgbClr val="55555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RELEVANT TOOLS</a:t>
              </a:r>
              <a:endParaRPr b="1" sz="650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044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Albumentations / imgaug</a:t>
              </a:r>
              <a:br>
                <a:rPr b="1" lang="en" sz="950">
                  <a:solidFill>
                    <a:srgbClr val="0044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</a:br>
              <a:r>
                <a:rPr b="0" lang="en" sz="850">
                  <a:solidFill>
                    <a:srgbClr val="333333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rPr>
                <a:t>(image flips, crops, noise)</a:t>
              </a:r>
              <a:br>
                <a:rPr b="1" lang="en" sz="950">
                  <a:solidFill>
                    <a:srgbClr val="0044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</a:br>
              <a:r>
                <a:rPr b="1" lang="en" sz="950">
                  <a:solidFill>
                    <a:srgbClr val="0044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SDV / CTGAN </a:t>
              </a:r>
              <a:r>
                <a:rPr b="0" lang="en" sz="850">
                  <a:solidFill>
                    <a:srgbClr val="333333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rPr>
                <a:t>(tabular)</a:t>
              </a:r>
              <a:r>
                <a:rPr b="1" lang="en" sz="950">
                  <a:solidFill>
                    <a:srgbClr val="0044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 · nlpaug </a:t>
              </a:r>
              <a:r>
                <a:rPr b="0" lang="en" sz="850">
                  <a:solidFill>
                    <a:srgbClr val="333333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rPr>
                <a:t>(text)</a:t>
              </a:r>
              <a:endParaRPr b="1" sz="950">
                <a:solidFill>
                  <a:srgbClr val="0044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07" name="Google Shape;507;p22"/>
            <p:cNvSpPr txBox="1"/>
            <p:nvPr/>
          </p:nvSpPr>
          <p:spPr>
            <a:xfrm>
              <a:off x="476250" y="1571625"/>
              <a:ext cx="25242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50">
                  <a:solidFill>
                    <a:srgbClr val="55555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BEST USED FOR</a:t>
              </a:r>
              <a:endParaRPr b="1" sz="650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11111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Multiplying limited custom seed data into vast training distributions rapidly</a:t>
              </a:r>
              <a:endParaRPr b="0" sz="95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508" name="Google Shape;508;p22"/>
            <p:cNvGrpSpPr/>
            <p:nvPr/>
          </p:nvGrpSpPr>
          <p:grpSpPr>
            <a:xfrm>
              <a:off x="142875" y="2476500"/>
              <a:ext cx="3000375" cy="619200"/>
              <a:chOff x="0" y="0"/>
              <a:chExt cx="3000375" cy="619200"/>
            </a:xfrm>
          </p:grpSpPr>
          <p:sp>
            <p:nvSpPr>
              <p:cNvPr id="509" name="Google Shape;509;p22"/>
              <p:cNvSpPr/>
              <p:nvPr/>
            </p:nvSpPr>
            <p:spPr>
              <a:xfrm>
                <a:off x="0" y="0"/>
                <a:ext cx="2857500" cy="619200"/>
              </a:xfrm>
              <a:prstGeom prst="roundRect">
                <a:avLst>
                  <a:gd fmla="val 6153" name="adj"/>
                </a:avLst>
              </a:prstGeom>
              <a:solidFill>
                <a:srgbClr val="0044FF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0" name="Google Shape;510;p22"/>
              <p:cNvSpPr txBox="1"/>
              <p:nvPr/>
            </p:nvSpPr>
            <p:spPr>
              <a:xfrm>
                <a:off x="142875" y="0"/>
                <a:ext cx="28575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650">
                    <a:solidFill>
                      <a:srgbClr val="FFCC00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TIME TO FIRST DATASET</a:t>
                </a:r>
                <a:endParaRPr b="1" sz="650">
                  <a:solidFill>
                    <a:srgbClr val="FFCC00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indent="0" lvl="0" marL="0" rtl="0" algn="l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MINUTES *</a:t>
                </a:r>
                <a:endParaRPr b="0" sz="15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</p:grpSp>
      <p:sp>
        <p:nvSpPr>
          <p:cNvPr id="511" name="Google Shape;511;p22"/>
          <p:cNvSpPr txBox="1"/>
          <p:nvPr/>
        </p:nvSpPr>
        <p:spPr>
          <a:xfrm>
            <a:off x="7572375" y="1047750"/>
            <a:ext cx="14289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95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"Every model is a data problem before it's a model problem."</a:t>
            </a:r>
            <a:endParaRPr b="0" i="1" sz="95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844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FFCC00"/>
                </a:solidFill>
                <a:latin typeface="Space Grotesk"/>
                <a:ea typeface="Space Grotesk"/>
                <a:cs typeface="Space Grotesk"/>
                <a:sym typeface="Space Grotesk"/>
              </a:rPr>
              <a:t>S4</a:t>
            </a:r>
            <a:endParaRPr b="0" sz="2600">
              <a:solidFill>
                <a:srgbClr val="FFCC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113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F4F4F0"/>
                </a:solidFill>
                <a:latin typeface="Inter Medium"/>
                <a:ea typeface="Inter Medium"/>
                <a:cs typeface="Inter Medium"/>
                <a:sym typeface="Inter Medium"/>
              </a:rPr>
              <a:t>Roadmap Rank</a:t>
            </a:r>
            <a:endParaRPr b="0" sz="900">
              <a:solidFill>
                <a:srgbClr val="F4F4F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844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FFCC00"/>
                </a:solidFill>
                <a:latin typeface="Space Grotesk"/>
                <a:ea typeface="Space Grotesk"/>
                <a:cs typeface="Space Grotesk"/>
                <a:sym typeface="Space Grotesk"/>
              </a:rPr>
              <a:t>Minutes</a:t>
            </a:r>
            <a:endParaRPr b="0" sz="2600">
              <a:solidFill>
                <a:srgbClr val="FFCC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113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F4F4F0"/>
                </a:solidFill>
                <a:latin typeface="Inter Medium"/>
                <a:ea typeface="Inter Medium"/>
                <a:cs typeface="Inter Medium"/>
                <a:sym typeface="Inter Medium"/>
              </a:rPr>
              <a:t>Acquisition</a:t>
            </a:r>
            <a:endParaRPr b="0" sz="900">
              <a:solidFill>
                <a:srgbClr val="F4F4F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844"/>
              </a:spcBef>
              <a:spcAft>
                <a:spcPts val="0"/>
              </a:spcAft>
              <a:buNone/>
            </a:pPr>
            <a:r>
              <a:rPr b="0" lang="en" sz="700">
                <a:solidFill>
                  <a:srgbClr val="FFCC00"/>
                </a:solidFill>
                <a:latin typeface="Inter Medium"/>
                <a:ea typeface="Inter Medium"/>
                <a:cs typeface="Inter Medium"/>
                <a:sym typeface="Inter Medium"/>
              </a:rPr>
              <a:t>* Scales infinitely once configured</a:t>
            </a:r>
            <a:endParaRPr b="0" sz="700">
              <a:solidFill>
                <a:srgbClr val="FFCC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0"/>
        </a:solidFill>
      </p:bgPr>
    </p:bg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23"/>
          <p:cNvSpPr/>
          <p:nvPr/>
        </p:nvSpPr>
        <p:spPr>
          <a:xfrm>
            <a:off x="7429500" y="0"/>
            <a:ext cx="1714500" cy="5143500"/>
          </a:xfrm>
          <a:prstGeom prst="rect">
            <a:avLst/>
          </a:prstGeom>
          <a:solidFill>
            <a:srgbClr val="0044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17" name="Google Shape;517;p23"/>
          <p:cNvCxnSpPr/>
          <p:nvPr/>
        </p:nvCxnSpPr>
        <p:spPr>
          <a:xfrm>
            <a:off x="7429500" y="0"/>
            <a:ext cx="0" cy="5143500"/>
          </a:xfrm>
          <a:prstGeom prst="straightConnector1">
            <a:avLst/>
          </a:prstGeom>
          <a:solidFill>
            <a:srgbClr val="FFFFFF"/>
          </a:solidFill>
          <a:ln cap="flat" cmpd="sng" w="762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8" name="Google Shape;518;p23"/>
          <p:cNvSpPr/>
          <p:nvPr/>
        </p:nvSpPr>
        <p:spPr>
          <a:xfrm>
            <a:off x="190500" y="190500"/>
            <a:ext cx="8763000" cy="4762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381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9" name="Google Shape;519;p23"/>
          <p:cNvGrpSpPr/>
          <p:nvPr/>
        </p:nvGrpSpPr>
        <p:grpSpPr>
          <a:xfrm>
            <a:off x="8058150" y="438150"/>
            <a:ext cx="457200" cy="457200"/>
            <a:chOff x="57150" y="57150"/>
            <a:chExt cx="457200" cy="457200"/>
          </a:xfrm>
        </p:grpSpPr>
        <p:sp>
          <p:nvSpPr>
            <p:cNvPr id="520" name="Google Shape;520;p23"/>
            <p:cNvSpPr/>
            <p:nvPr/>
          </p:nvSpPr>
          <p:spPr>
            <a:xfrm>
              <a:off x="57150" y="57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23"/>
            <p:cNvSpPr/>
            <p:nvPr/>
          </p:nvSpPr>
          <p:spPr>
            <a:xfrm>
              <a:off x="247650" y="57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23"/>
            <p:cNvSpPr/>
            <p:nvPr/>
          </p:nvSpPr>
          <p:spPr>
            <a:xfrm>
              <a:off x="438150" y="57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23"/>
            <p:cNvSpPr/>
            <p:nvPr/>
          </p:nvSpPr>
          <p:spPr>
            <a:xfrm>
              <a:off x="57150" y="2476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23"/>
            <p:cNvSpPr/>
            <p:nvPr/>
          </p:nvSpPr>
          <p:spPr>
            <a:xfrm>
              <a:off x="247650" y="2476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23"/>
            <p:cNvSpPr/>
            <p:nvPr/>
          </p:nvSpPr>
          <p:spPr>
            <a:xfrm>
              <a:off x="438150" y="2476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23"/>
            <p:cNvSpPr/>
            <p:nvPr/>
          </p:nvSpPr>
          <p:spPr>
            <a:xfrm>
              <a:off x="57150" y="438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23"/>
            <p:cNvSpPr/>
            <p:nvPr/>
          </p:nvSpPr>
          <p:spPr>
            <a:xfrm>
              <a:off x="247650" y="438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23"/>
            <p:cNvSpPr/>
            <p:nvPr/>
          </p:nvSpPr>
          <p:spPr>
            <a:xfrm>
              <a:off x="438150" y="438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9" name="Google Shape;529;p23"/>
          <p:cNvGrpSpPr/>
          <p:nvPr/>
        </p:nvGrpSpPr>
        <p:grpSpPr>
          <a:xfrm>
            <a:off x="7905750" y="4000500"/>
            <a:ext cx="762000" cy="713400"/>
            <a:chOff x="0" y="0"/>
            <a:chExt cx="762000" cy="713400"/>
          </a:xfrm>
        </p:grpSpPr>
        <p:sp>
          <p:nvSpPr>
            <p:cNvPr id="530" name="Google Shape;530;p23"/>
            <p:cNvSpPr/>
            <p:nvPr/>
          </p:nvSpPr>
          <p:spPr>
            <a:xfrm>
              <a:off x="0" y="0"/>
              <a:ext cx="762000" cy="713400"/>
            </a:xfrm>
            <a:custGeom>
              <a:rect b="b" l="l" r="r" t="t"/>
              <a:pathLst>
                <a:path extrusionOk="0" h="120000" w="120000">
                  <a:moveTo>
                    <a:pt x="0" y="31883"/>
                  </a:moveTo>
                  <a:lnTo>
                    <a:pt x="0" y="95968"/>
                  </a:lnTo>
                  <a:cubicBezTo>
                    <a:pt x="0" y="108785"/>
                    <a:pt x="27000" y="120000"/>
                    <a:pt x="60000" y="120000"/>
                  </a:cubicBezTo>
                  <a:cubicBezTo>
                    <a:pt x="93000" y="120000"/>
                    <a:pt x="120000" y="108785"/>
                    <a:pt x="120000" y="95968"/>
                  </a:cubicBezTo>
                  <a:lnTo>
                    <a:pt x="120000" y="0"/>
                  </a:lnTo>
                </a:path>
              </a:pathLst>
            </a:custGeom>
            <a:solidFill>
              <a:srgbClr val="00E676"/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23"/>
            <p:cNvSpPr/>
            <p:nvPr/>
          </p:nvSpPr>
          <p:spPr>
            <a:xfrm>
              <a:off x="0" y="0"/>
              <a:ext cx="762000" cy="285900"/>
            </a:xfrm>
            <a:prstGeom prst="ellipse">
              <a:avLst/>
            </a:prstGeom>
            <a:solidFill>
              <a:srgbClr val="00E676"/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23"/>
            <p:cNvSpPr/>
            <p:nvPr/>
          </p:nvSpPr>
          <p:spPr>
            <a:xfrm>
              <a:off x="0" y="190500"/>
              <a:ext cx="762000" cy="285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3" name="Google Shape;533;p23"/>
          <p:cNvSpPr txBox="1"/>
          <p:nvPr/>
        </p:nvSpPr>
        <p:spPr>
          <a:xfrm>
            <a:off x="476250" y="428625"/>
            <a:ext cx="6667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800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rPr>
              <a:t>SOURCE 4: PROS &amp; CONS</a:t>
            </a:r>
            <a:endParaRPr b="0" sz="2800">
              <a:solidFill>
                <a:srgbClr val="11111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534" name="Google Shape;534;p23"/>
          <p:cNvGrpSpPr/>
          <p:nvPr/>
        </p:nvGrpSpPr>
        <p:grpSpPr>
          <a:xfrm>
            <a:off x="476250" y="1143000"/>
            <a:ext cx="3181500" cy="3467100"/>
            <a:chOff x="0" y="0"/>
            <a:chExt cx="3181500" cy="3467100"/>
          </a:xfrm>
        </p:grpSpPr>
        <p:sp>
          <p:nvSpPr>
            <p:cNvPr id="535" name="Google Shape;535;p23"/>
            <p:cNvSpPr/>
            <p:nvPr/>
          </p:nvSpPr>
          <p:spPr>
            <a:xfrm>
              <a:off x="0" y="0"/>
              <a:ext cx="3143400" cy="3429000"/>
            </a:xfrm>
            <a:prstGeom prst="roundRect">
              <a:avLst>
                <a:gd fmla="val 1818" name="adj"/>
              </a:avLst>
            </a:prstGeom>
            <a:solidFill>
              <a:srgbClr val="FFFFFF"/>
            </a:solidFill>
            <a:ln cap="flat" cmpd="sng" w="28575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23"/>
            <p:cNvSpPr/>
            <p:nvPr/>
          </p:nvSpPr>
          <p:spPr>
            <a:xfrm>
              <a:off x="38100" y="38100"/>
              <a:ext cx="3143400" cy="3429000"/>
            </a:xfrm>
            <a:prstGeom prst="roundRect">
              <a:avLst>
                <a:gd fmla="val 1818" name="adj"/>
              </a:avLst>
            </a:prstGeom>
            <a:solidFill>
              <a:srgbClr val="111111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37" name="Google Shape;537;p23"/>
            <p:cNvGrpSpPr/>
            <p:nvPr/>
          </p:nvGrpSpPr>
          <p:grpSpPr>
            <a:xfrm>
              <a:off x="142875" y="142875"/>
              <a:ext cx="2857500" cy="333300"/>
              <a:chOff x="0" y="0"/>
              <a:chExt cx="2857500" cy="333300"/>
            </a:xfrm>
          </p:grpSpPr>
          <p:sp>
            <p:nvSpPr>
              <p:cNvPr id="538" name="Google Shape;538;p23"/>
              <p:cNvSpPr/>
              <p:nvPr/>
            </p:nvSpPr>
            <p:spPr>
              <a:xfrm>
                <a:off x="0" y="0"/>
                <a:ext cx="2857500" cy="333300"/>
              </a:xfrm>
              <a:prstGeom prst="roundRect">
                <a:avLst>
                  <a:gd fmla="val 11428" name="adj"/>
                </a:avLst>
              </a:prstGeom>
              <a:solidFill>
                <a:srgbClr val="00E676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9" name="Google Shape;539;p23"/>
              <p:cNvSpPr txBox="1"/>
              <p:nvPr/>
            </p:nvSpPr>
            <p:spPr>
              <a:xfrm>
                <a:off x="0" y="0"/>
                <a:ext cx="28575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111111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ADVANTAGES / PROS</a:t>
                </a:r>
                <a:endParaRPr b="0" sz="110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grpSp>
          <p:nvGrpSpPr>
            <p:cNvPr id="540" name="Google Shape;540;p23"/>
            <p:cNvGrpSpPr/>
            <p:nvPr/>
          </p:nvGrpSpPr>
          <p:grpSpPr>
            <a:xfrm>
              <a:off x="142875" y="619125"/>
              <a:ext cx="238200" cy="238200"/>
              <a:chOff x="0" y="0"/>
              <a:chExt cx="238200" cy="238200"/>
            </a:xfrm>
          </p:grpSpPr>
          <p:sp>
            <p:nvSpPr>
              <p:cNvPr id="541" name="Google Shape;541;p23"/>
              <p:cNvSpPr/>
              <p:nvPr/>
            </p:nvSpPr>
            <p:spPr>
              <a:xfrm>
                <a:off x="0" y="0"/>
                <a:ext cx="238200" cy="238200"/>
              </a:xfrm>
              <a:prstGeom prst="roundRect">
                <a:avLst>
                  <a:gd fmla="val 16000" name="adj"/>
                </a:avLst>
              </a:prstGeom>
              <a:solidFill>
                <a:srgbClr val="0044FF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2" name="Google Shape;542;p23"/>
              <p:cNvSpPr txBox="1"/>
              <p:nvPr/>
            </p:nvSpPr>
            <p:spPr>
              <a:xfrm>
                <a:off x="0" y="0"/>
                <a:ext cx="2382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+</a:t>
                </a:r>
                <a:endParaRPr b="0" sz="10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sp>
          <p:nvSpPr>
            <p:cNvPr id="543" name="Google Shape;543;p23"/>
            <p:cNvSpPr txBox="1"/>
            <p:nvPr/>
          </p:nvSpPr>
          <p:spPr>
            <a:xfrm>
              <a:off x="476250" y="619125"/>
              <a:ext cx="25242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55555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EFFICIENCY &amp; TARGETING</a:t>
              </a:r>
              <a:endParaRPr b="1" sz="850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-317500" lvl="0" marL="457200" rtl="0" algn="l">
                <a:spcBef>
                  <a:spcPts val="675"/>
                </a:spcBef>
                <a:spcAft>
                  <a:spcPts val="0"/>
                </a:spcAft>
                <a:buSzPts val="1400"/>
                <a:buChar char="●"/>
              </a:pPr>
              <a:r>
                <a:rPr b="1" lang="en" sz="12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Cheap &amp; Fast:</a:t>
              </a:r>
              <a:r>
                <a:rPr lang="en" sz="1600"/>
                <a:t> </a:t>
              </a:r>
              <a:r>
                <a:rPr b="0" lang="en" sz="125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Genuinely a few lines of code; delivers the best effort-to-payoff ratio on this list.</a:t>
              </a:r>
              <a:endParaRPr sz="1600"/>
            </a:p>
            <a:p>
              <a:pPr indent="-317500" lvl="0" marL="457200" rtl="0" algn="l">
                <a:spcBef>
                  <a:spcPts val="675"/>
                </a:spcBef>
                <a:spcAft>
                  <a:spcPts val="675"/>
                </a:spcAft>
                <a:buSzPts val="1400"/>
                <a:buChar char="●"/>
              </a:pPr>
              <a:r>
                <a:rPr b="1" lang="en" sz="12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Direct Targeting:</a:t>
              </a:r>
              <a:r>
                <a:rPr lang="en" sz="1600"/>
                <a:t> </a:t>
              </a:r>
              <a:r>
                <a:rPr b="0" lang="en" sz="125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Can target specific gaps or boost rare classes directly.</a:t>
              </a:r>
              <a:endParaRPr sz="1600"/>
            </a:p>
          </p:txBody>
        </p:sp>
      </p:grpSp>
      <p:grpSp>
        <p:nvGrpSpPr>
          <p:cNvPr id="544" name="Google Shape;544;p23"/>
          <p:cNvGrpSpPr/>
          <p:nvPr/>
        </p:nvGrpSpPr>
        <p:grpSpPr>
          <a:xfrm>
            <a:off x="3905250" y="1143000"/>
            <a:ext cx="3181500" cy="3467100"/>
            <a:chOff x="0" y="0"/>
            <a:chExt cx="3181500" cy="3467100"/>
          </a:xfrm>
        </p:grpSpPr>
        <p:sp>
          <p:nvSpPr>
            <p:cNvPr id="545" name="Google Shape;545;p23"/>
            <p:cNvSpPr/>
            <p:nvPr/>
          </p:nvSpPr>
          <p:spPr>
            <a:xfrm>
              <a:off x="0" y="0"/>
              <a:ext cx="3143400" cy="3429000"/>
            </a:xfrm>
            <a:prstGeom prst="roundRect">
              <a:avLst>
                <a:gd fmla="val 1818" name="adj"/>
              </a:avLst>
            </a:prstGeom>
            <a:solidFill>
              <a:srgbClr val="FFFFFF"/>
            </a:solidFill>
            <a:ln cap="flat" cmpd="sng" w="28575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23"/>
            <p:cNvSpPr/>
            <p:nvPr/>
          </p:nvSpPr>
          <p:spPr>
            <a:xfrm>
              <a:off x="38100" y="38100"/>
              <a:ext cx="3143400" cy="3429000"/>
            </a:xfrm>
            <a:prstGeom prst="roundRect">
              <a:avLst>
                <a:gd fmla="val 1818" name="adj"/>
              </a:avLst>
            </a:prstGeom>
            <a:solidFill>
              <a:srgbClr val="111111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47" name="Google Shape;547;p23"/>
            <p:cNvGrpSpPr/>
            <p:nvPr/>
          </p:nvGrpSpPr>
          <p:grpSpPr>
            <a:xfrm>
              <a:off x="142875" y="142875"/>
              <a:ext cx="2857500" cy="333300"/>
              <a:chOff x="0" y="0"/>
              <a:chExt cx="2857500" cy="333300"/>
            </a:xfrm>
          </p:grpSpPr>
          <p:sp>
            <p:nvSpPr>
              <p:cNvPr id="548" name="Google Shape;548;p23"/>
              <p:cNvSpPr/>
              <p:nvPr/>
            </p:nvSpPr>
            <p:spPr>
              <a:xfrm>
                <a:off x="0" y="0"/>
                <a:ext cx="2857500" cy="333300"/>
              </a:xfrm>
              <a:prstGeom prst="roundRect">
                <a:avLst>
                  <a:gd fmla="val 11428" name="adj"/>
                </a:avLst>
              </a:prstGeom>
              <a:solidFill>
                <a:srgbClr val="FFCC00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9" name="Google Shape;549;p23"/>
              <p:cNvSpPr txBox="1"/>
              <p:nvPr/>
            </p:nvSpPr>
            <p:spPr>
              <a:xfrm>
                <a:off x="0" y="0"/>
                <a:ext cx="28575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111111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DISADVANTAGES / CONS</a:t>
                </a:r>
                <a:endParaRPr b="0" sz="110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grpSp>
          <p:nvGrpSpPr>
            <p:cNvPr id="550" name="Google Shape;550;p23"/>
            <p:cNvGrpSpPr/>
            <p:nvPr/>
          </p:nvGrpSpPr>
          <p:grpSpPr>
            <a:xfrm>
              <a:off x="142875" y="619125"/>
              <a:ext cx="238200" cy="238200"/>
              <a:chOff x="0" y="0"/>
              <a:chExt cx="238200" cy="238200"/>
            </a:xfrm>
          </p:grpSpPr>
          <p:sp>
            <p:nvSpPr>
              <p:cNvPr id="551" name="Google Shape;551;p23"/>
              <p:cNvSpPr/>
              <p:nvPr/>
            </p:nvSpPr>
            <p:spPr>
              <a:xfrm>
                <a:off x="0" y="0"/>
                <a:ext cx="238200" cy="238200"/>
              </a:xfrm>
              <a:prstGeom prst="roundRect">
                <a:avLst>
                  <a:gd fmla="val 16000" name="adj"/>
                </a:avLst>
              </a:prstGeom>
              <a:solidFill>
                <a:srgbClr val="111111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2" name="Google Shape;552;p23"/>
              <p:cNvSpPr txBox="1"/>
              <p:nvPr/>
            </p:nvSpPr>
            <p:spPr>
              <a:xfrm>
                <a:off x="0" y="0"/>
                <a:ext cx="2382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-</a:t>
                </a:r>
                <a:endParaRPr b="0" sz="10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sp>
          <p:nvSpPr>
            <p:cNvPr id="553" name="Google Shape;553;p23"/>
            <p:cNvSpPr txBox="1"/>
            <p:nvPr/>
          </p:nvSpPr>
          <p:spPr>
            <a:xfrm>
              <a:off x="476250" y="619125"/>
              <a:ext cx="25242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55555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BIAS &amp; FIDELITY RISKS</a:t>
              </a:r>
              <a:endParaRPr b="1" sz="850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-317500" lvl="0" marL="457200" rtl="0" algn="l">
                <a:spcBef>
                  <a:spcPts val="675"/>
                </a:spcBef>
                <a:spcAft>
                  <a:spcPts val="0"/>
                </a:spcAft>
                <a:buSzPts val="1400"/>
                <a:buChar char="●"/>
              </a:pPr>
              <a:r>
                <a:rPr b="1" lang="en" sz="12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Bias Amplification:</a:t>
              </a:r>
              <a:r>
                <a:rPr lang="en" sz="1600"/>
                <a:t> </a:t>
              </a:r>
              <a:r>
                <a:rPr b="0" lang="en" sz="125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Inherits and can amplify whatever bias is already in the seed data.</a:t>
              </a:r>
              <a:endParaRPr sz="1600"/>
            </a:p>
            <a:p>
              <a:pPr indent="-317500" lvl="0" marL="457200" rtl="0" algn="l">
                <a:spcBef>
                  <a:spcPts val="675"/>
                </a:spcBef>
                <a:spcAft>
                  <a:spcPts val="675"/>
                </a:spcAft>
                <a:buSzPts val="1400"/>
                <a:buChar char="●"/>
              </a:pPr>
              <a:r>
                <a:rPr b="1" lang="en" sz="12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Extension, Not Replacement:</a:t>
              </a:r>
              <a:r>
                <a:rPr lang="en" sz="1600"/>
                <a:t> </a:t>
              </a:r>
              <a:r>
                <a:rPr b="0" lang="en" sz="125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Never a substitute for real-world validation.</a:t>
              </a:r>
              <a:endParaRPr sz="1600"/>
            </a:p>
          </p:txBody>
        </p:sp>
      </p:grpSp>
      <p:sp>
        <p:nvSpPr>
          <p:cNvPr id="554" name="Google Shape;554;p23"/>
          <p:cNvSpPr txBox="1"/>
          <p:nvPr/>
        </p:nvSpPr>
        <p:spPr>
          <a:xfrm>
            <a:off x="7572375" y="1047750"/>
            <a:ext cx="14289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95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"Every model is a data problem before it's a model problem."</a:t>
            </a:r>
            <a:endParaRPr b="0" i="1" sz="95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i="1" lang="en" sz="2600">
                <a:solidFill>
                  <a:srgbClr val="FFCC00"/>
                </a:solidFill>
                <a:latin typeface="Space Grotesk"/>
                <a:ea typeface="Space Grotesk"/>
                <a:cs typeface="Space Grotesk"/>
                <a:sym typeface="Space Grotesk"/>
              </a:rPr>
              <a:t>S4</a:t>
            </a:r>
            <a:endParaRPr b="0" i="1" sz="95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i="1" lang="en" sz="900">
                <a:solidFill>
                  <a:srgbClr val="F4F4F0"/>
                </a:solidFill>
                <a:latin typeface="Inter Medium"/>
                <a:ea typeface="Inter Medium"/>
                <a:cs typeface="Inter Medium"/>
                <a:sym typeface="Inter Medium"/>
              </a:rPr>
              <a:t>Augmentation</a:t>
            </a:r>
            <a:endParaRPr b="0" i="1" sz="900">
              <a:solidFill>
                <a:srgbClr val="F4F4F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t/>
            </a:r>
            <a:endParaRPr b="0" i="1" sz="900">
              <a:solidFill>
                <a:srgbClr val="F4F4F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0"/>
        </a:solidFill>
      </p:bgPr>
    </p:bg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24"/>
          <p:cNvSpPr/>
          <p:nvPr/>
        </p:nvSpPr>
        <p:spPr>
          <a:xfrm>
            <a:off x="7429500" y="0"/>
            <a:ext cx="1714500" cy="5143500"/>
          </a:xfrm>
          <a:prstGeom prst="rect">
            <a:avLst/>
          </a:prstGeom>
          <a:solidFill>
            <a:srgbClr val="0044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60" name="Google Shape;560;p24"/>
          <p:cNvCxnSpPr/>
          <p:nvPr/>
        </p:nvCxnSpPr>
        <p:spPr>
          <a:xfrm>
            <a:off x="7429500" y="0"/>
            <a:ext cx="0" cy="5143500"/>
          </a:xfrm>
          <a:prstGeom prst="straightConnector1">
            <a:avLst/>
          </a:prstGeom>
          <a:solidFill>
            <a:srgbClr val="FFFFFF"/>
          </a:solidFill>
          <a:ln cap="flat" cmpd="sng" w="762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1" name="Google Shape;561;p24"/>
          <p:cNvSpPr/>
          <p:nvPr/>
        </p:nvSpPr>
        <p:spPr>
          <a:xfrm>
            <a:off x="190500" y="190500"/>
            <a:ext cx="8763000" cy="4762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381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2" name="Google Shape;562;p24"/>
          <p:cNvGrpSpPr/>
          <p:nvPr/>
        </p:nvGrpSpPr>
        <p:grpSpPr>
          <a:xfrm>
            <a:off x="8058150" y="438150"/>
            <a:ext cx="457200" cy="457200"/>
            <a:chOff x="57150" y="57150"/>
            <a:chExt cx="457200" cy="457200"/>
          </a:xfrm>
        </p:grpSpPr>
        <p:sp>
          <p:nvSpPr>
            <p:cNvPr id="563" name="Google Shape;563;p24"/>
            <p:cNvSpPr/>
            <p:nvPr/>
          </p:nvSpPr>
          <p:spPr>
            <a:xfrm>
              <a:off x="57150" y="57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24"/>
            <p:cNvSpPr/>
            <p:nvPr/>
          </p:nvSpPr>
          <p:spPr>
            <a:xfrm>
              <a:off x="247650" y="57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24"/>
            <p:cNvSpPr/>
            <p:nvPr/>
          </p:nvSpPr>
          <p:spPr>
            <a:xfrm>
              <a:off x="438150" y="57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24"/>
            <p:cNvSpPr/>
            <p:nvPr/>
          </p:nvSpPr>
          <p:spPr>
            <a:xfrm>
              <a:off x="57150" y="2476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24"/>
            <p:cNvSpPr/>
            <p:nvPr/>
          </p:nvSpPr>
          <p:spPr>
            <a:xfrm>
              <a:off x="247650" y="2476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24"/>
            <p:cNvSpPr/>
            <p:nvPr/>
          </p:nvSpPr>
          <p:spPr>
            <a:xfrm>
              <a:off x="438150" y="2476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24"/>
            <p:cNvSpPr/>
            <p:nvPr/>
          </p:nvSpPr>
          <p:spPr>
            <a:xfrm>
              <a:off x="57150" y="438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24"/>
            <p:cNvSpPr/>
            <p:nvPr/>
          </p:nvSpPr>
          <p:spPr>
            <a:xfrm>
              <a:off x="247650" y="438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24"/>
            <p:cNvSpPr/>
            <p:nvPr/>
          </p:nvSpPr>
          <p:spPr>
            <a:xfrm>
              <a:off x="438150" y="438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2" name="Google Shape;572;p24"/>
          <p:cNvGrpSpPr/>
          <p:nvPr/>
        </p:nvGrpSpPr>
        <p:grpSpPr>
          <a:xfrm>
            <a:off x="7905750" y="4000500"/>
            <a:ext cx="762000" cy="714300"/>
            <a:chOff x="0" y="0"/>
            <a:chExt cx="762000" cy="714300"/>
          </a:xfrm>
        </p:grpSpPr>
        <p:sp>
          <p:nvSpPr>
            <p:cNvPr id="573" name="Google Shape;573;p24"/>
            <p:cNvSpPr/>
            <p:nvPr/>
          </p:nvSpPr>
          <p:spPr>
            <a:xfrm>
              <a:off x="0" y="0"/>
              <a:ext cx="762000" cy="714300"/>
            </a:xfrm>
            <a:custGeom>
              <a:rect b="b" l="l" r="r" t="t"/>
              <a:pathLst>
                <a:path extrusionOk="0" h="120000" w="120000">
                  <a:moveTo>
                    <a:pt x="0" y="32000"/>
                  </a:moveTo>
                  <a:lnTo>
                    <a:pt x="0" y="96000"/>
                  </a:lnTo>
                  <a:cubicBezTo>
                    <a:pt x="0" y="108800"/>
                    <a:pt x="27000" y="120000"/>
                    <a:pt x="60000" y="120000"/>
                  </a:cubicBezTo>
                  <a:cubicBezTo>
                    <a:pt x="93000" y="120000"/>
                    <a:pt x="120000" y="108800"/>
                    <a:pt x="120000" y="96000"/>
                  </a:cubicBezTo>
                  <a:lnTo>
                    <a:pt x="120000" y="0"/>
                  </a:lnTo>
                </a:path>
              </a:pathLst>
            </a:custGeom>
            <a:solidFill>
              <a:srgbClr val="00E676"/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24"/>
            <p:cNvSpPr/>
            <p:nvPr/>
          </p:nvSpPr>
          <p:spPr>
            <a:xfrm>
              <a:off x="0" y="0"/>
              <a:ext cx="762000" cy="285900"/>
            </a:xfrm>
            <a:prstGeom prst="ellipse">
              <a:avLst/>
            </a:prstGeom>
            <a:solidFill>
              <a:srgbClr val="00E676"/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24"/>
            <p:cNvSpPr/>
            <p:nvPr/>
          </p:nvSpPr>
          <p:spPr>
            <a:xfrm>
              <a:off x="0" y="190500"/>
              <a:ext cx="762000" cy="285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6" name="Google Shape;576;p24"/>
          <p:cNvSpPr txBox="1"/>
          <p:nvPr/>
        </p:nvSpPr>
        <p:spPr>
          <a:xfrm>
            <a:off x="476250" y="428625"/>
            <a:ext cx="6667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800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rPr>
              <a:t>SOURCE 5: RESTRICTED DATASETS</a:t>
            </a:r>
            <a:endParaRPr b="0" sz="2800">
              <a:solidFill>
                <a:srgbClr val="11111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577" name="Google Shape;577;p24"/>
          <p:cNvGrpSpPr/>
          <p:nvPr/>
        </p:nvGrpSpPr>
        <p:grpSpPr>
          <a:xfrm>
            <a:off x="476250" y="1143000"/>
            <a:ext cx="3181500" cy="3467100"/>
            <a:chOff x="0" y="0"/>
            <a:chExt cx="3181500" cy="3467100"/>
          </a:xfrm>
        </p:grpSpPr>
        <p:sp>
          <p:nvSpPr>
            <p:cNvPr id="578" name="Google Shape;578;p24"/>
            <p:cNvSpPr/>
            <p:nvPr/>
          </p:nvSpPr>
          <p:spPr>
            <a:xfrm>
              <a:off x="0" y="0"/>
              <a:ext cx="3143400" cy="3429000"/>
            </a:xfrm>
            <a:prstGeom prst="roundRect">
              <a:avLst>
                <a:gd fmla="val 1818" name="adj"/>
              </a:avLst>
            </a:prstGeom>
            <a:solidFill>
              <a:srgbClr val="FFFFFF"/>
            </a:solidFill>
            <a:ln cap="flat" cmpd="sng" w="28575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24"/>
            <p:cNvSpPr/>
            <p:nvPr/>
          </p:nvSpPr>
          <p:spPr>
            <a:xfrm>
              <a:off x="38100" y="38100"/>
              <a:ext cx="3143400" cy="3429000"/>
            </a:xfrm>
            <a:prstGeom prst="roundRect">
              <a:avLst>
                <a:gd fmla="val 1818" name="adj"/>
              </a:avLst>
            </a:prstGeom>
            <a:solidFill>
              <a:srgbClr val="111111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80" name="Google Shape;580;p24"/>
            <p:cNvGrpSpPr/>
            <p:nvPr/>
          </p:nvGrpSpPr>
          <p:grpSpPr>
            <a:xfrm>
              <a:off x="142875" y="142875"/>
              <a:ext cx="2857500" cy="333300"/>
              <a:chOff x="0" y="0"/>
              <a:chExt cx="2857500" cy="333300"/>
            </a:xfrm>
          </p:grpSpPr>
          <p:sp>
            <p:nvSpPr>
              <p:cNvPr id="581" name="Google Shape;581;p24"/>
              <p:cNvSpPr/>
              <p:nvPr/>
            </p:nvSpPr>
            <p:spPr>
              <a:xfrm>
                <a:off x="0" y="0"/>
                <a:ext cx="2857500" cy="333300"/>
              </a:xfrm>
              <a:prstGeom prst="roundRect">
                <a:avLst>
                  <a:gd fmla="val 11428" name="adj"/>
                </a:avLst>
              </a:prstGeom>
              <a:solidFill>
                <a:srgbClr val="00E676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2" name="Google Shape;582;p24"/>
              <p:cNvSpPr txBox="1"/>
              <p:nvPr/>
            </p:nvSpPr>
            <p:spPr>
              <a:xfrm>
                <a:off x="0" y="0"/>
                <a:ext cx="28575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111111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S5: SECURE CHANNELS</a:t>
                </a:r>
                <a:endParaRPr b="0" sz="110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grpSp>
          <p:nvGrpSpPr>
            <p:cNvPr id="583" name="Google Shape;583;p24"/>
            <p:cNvGrpSpPr/>
            <p:nvPr/>
          </p:nvGrpSpPr>
          <p:grpSpPr>
            <a:xfrm>
              <a:off x="142875" y="619125"/>
              <a:ext cx="238200" cy="238200"/>
              <a:chOff x="0" y="0"/>
              <a:chExt cx="238200" cy="238200"/>
            </a:xfrm>
          </p:grpSpPr>
          <p:sp>
            <p:nvSpPr>
              <p:cNvPr id="584" name="Google Shape;584;p24"/>
              <p:cNvSpPr/>
              <p:nvPr/>
            </p:nvSpPr>
            <p:spPr>
              <a:xfrm>
                <a:off x="0" y="0"/>
                <a:ext cx="238200" cy="238200"/>
              </a:xfrm>
              <a:prstGeom prst="roundRect">
                <a:avLst>
                  <a:gd fmla="val 16000" name="adj"/>
                </a:avLst>
              </a:prstGeom>
              <a:solidFill>
                <a:srgbClr val="0044FF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5" name="Google Shape;585;p24"/>
              <p:cNvSpPr txBox="1"/>
              <p:nvPr/>
            </p:nvSpPr>
            <p:spPr>
              <a:xfrm>
                <a:off x="0" y="0"/>
                <a:ext cx="2382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S5</a:t>
                </a:r>
                <a:endParaRPr b="0" sz="11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sp>
          <p:nvSpPr>
            <p:cNvPr id="586" name="Google Shape;586;p24"/>
            <p:cNvSpPr txBox="1"/>
            <p:nvPr/>
          </p:nvSpPr>
          <p:spPr>
            <a:xfrm>
              <a:off x="476250" y="619125"/>
              <a:ext cx="25242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01">
                  <a:solidFill>
                    <a:srgbClr val="55555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THE PORTALS</a:t>
              </a:r>
              <a:endParaRPr b="1" sz="601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Closed &amp; Restricted Research</a:t>
              </a:r>
              <a:endParaRPr b="0" sz="1100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87" name="Google Shape;587;p24"/>
            <p:cNvSpPr txBox="1"/>
            <p:nvPr/>
          </p:nvSpPr>
          <p:spPr>
            <a:xfrm>
              <a:off x="476250" y="976238"/>
              <a:ext cx="2524200" cy="13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1">
                  <a:solidFill>
                    <a:srgbClr val="55555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EXAMPLES &amp; ACCESS METHOD</a:t>
              </a:r>
              <a:endParaRPr b="1" sz="801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-302974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111111"/>
                </a:buClr>
                <a:buSzPts val="1171"/>
                <a:buFont typeface="Inter"/>
                <a:buChar char="●"/>
              </a:pPr>
              <a:r>
                <a:rPr b="1" lang="en" sz="1171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Credentialed access:</a:t>
              </a:r>
              <a:r>
                <a:rPr b="0" lang="en" sz="1171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b="0" lang="en" sz="1171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PhysioNet credentialed databases, hospitals, or specialized university repositories.</a:t>
              </a:r>
              <a:endParaRPr b="0" sz="1171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302974" lvl="0" marL="457200" rtl="0" algn="l">
                <a:spcBef>
                  <a:spcPts val="600"/>
                </a:spcBef>
                <a:spcAft>
                  <a:spcPts val="600"/>
                </a:spcAft>
                <a:buClr>
                  <a:srgbClr val="111111"/>
                </a:buClr>
                <a:buSzPts val="1171"/>
                <a:buFont typeface="Inter"/>
                <a:buChar char="●"/>
              </a:pPr>
              <a:r>
                <a:rPr b="1" lang="en" sz="1171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The workflow:</a:t>
              </a:r>
              <a:r>
                <a:rPr b="0" lang="en" sz="1171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b="0" lang="en" sz="1171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Apply for access sign a formal DUA verification of institutional affiliation &amp; ethical approval.</a:t>
              </a:r>
              <a:endParaRPr b="0" sz="1171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grpSp>
          <p:nvGrpSpPr>
            <p:cNvPr id="588" name="Google Shape;588;p24"/>
            <p:cNvGrpSpPr/>
            <p:nvPr/>
          </p:nvGrpSpPr>
          <p:grpSpPr>
            <a:xfrm>
              <a:off x="142875" y="2857500"/>
              <a:ext cx="2857500" cy="446550"/>
              <a:chOff x="0" y="142875"/>
              <a:chExt cx="2857500" cy="446550"/>
            </a:xfrm>
          </p:grpSpPr>
          <p:sp>
            <p:nvSpPr>
              <p:cNvPr id="589" name="Google Shape;589;p24"/>
              <p:cNvSpPr/>
              <p:nvPr/>
            </p:nvSpPr>
            <p:spPr>
              <a:xfrm>
                <a:off x="0" y="208425"/>
                <a:ext cx="2857500" cy="381000"/>
              </a:xfrm>
              <a:prstGeom prst="roundRect">
                <a:avLst>
                  <a:gd fmla="val 10000" name="adj"/>
                </a:avLst>
              </a:prstGeom>
              <a:solidFill>
                <a:srgbClr val="F4F4F0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0" name="Google Shape;590;p24"/>
              <p:cNvSpPr txBox="1"/>
              <p:nvPr/>
            </p:nvSpPr>
            <p:spPr>
              <a:xfrm>
                <a:off x="0" y="142875"/>
                <a:ext cx="2857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95250" spcFirstLastPara="1" rIns="9525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71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Governed by strict institutional use policies</a:t>
                </a:r>
                <a:endParaRPr b="1" sz="971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591" name="Google Shape;591;p24"/>
          <p:cNvGrpSpPr/>
          <p:nvPr/>
        </p:nvGrpSpPr>
        <p:grpSpPr>
          <a:xfrm>
            <a:off x="3905250" y="1143000"/>
            <a:ext cx="3181500" cy="3467100"/>
            <a:chOff x="0" y="0"/>
            <a:chExt cx="3181500" cy="3467100"/>
          </a:xfrm>
        </p:grpSpPr>
        <p:sp>
          <p:nvSpPr>
            <p:cNvPr id="592" name="Google Shape;592;p24"/>
            <p:cNvSpPr/>
            <p:nvPr/>
          </p:nvSpPr>
          <p:spPr>
            <a:xfrm>
              <a:off x="0" y="0"/>
              <a:ext cx="3143400" cy="3429000"/>
            </a:xfrm>
            <a:prstGeom prst="roundRect">
              <a:avLst>
                <a:gd fmla="val 1818" name="adj"/>
              </a:avLst>
            </a:prstGeom>
            <a:solidFill>
              <a:srgbClr val="FFFFFF"/>
            </a:solidFill>
            <a:ln cap="flat" cmpd="sng" w="28575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24"/>
            <p:cNvSpPr/>
            <p:nvPr/>
          </p:nvSpPr>
          <p:spPr>
            <a:xfrm>
              <a:off x="38100" y="38100"/>
              <a:ext cx="3143400" cy="3429000"/>
            </a:xfrm>
            <a:prstGeom prst="roundRect">
              <a:avLst>
                <a:gd fmla="val 1818" name="adj"/>
              </a:avLst>
            </a:prstGeom>
            <a:solidFill>
              <a:srgbClr val="111111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94" name="Google Shape;594;p24"/>
            <p:cNvGrpSpPr/>
            <p:nvPr/>
          </p:nvGrpSpPr>
          <p:grpSpPr>
            <a:xfrm>
              <a:off x="142875" y="142875"/>
              <a:ext cx="2857500" cy="333300"/>
              <a:chOff x="0" y="0"/>
              <a:chExt cx="2857500" cy="333300"/>
            </a:xfrm>
          </p:grpSpPr>
          <p:sp>
            <p:nvSpPr>
              <p:cNvPr id="595" name="Google Shape;595;p24"/>
              <p:cNvSpPr/>
              <p:nvPr/>
            </p:nvSpPr>
            <p:spPr>
              <a:xfrm>
                <a:off x="0" y="0"/>
                <a:ext cx="2857500" cy="333300"/>
              </a:xfrm>
              <a:prstGeom prst="roundRect">
                <a:avLst>
                  <a:gd fmla="val 11428" name="adj"/>
                </a:avLst>
              </a:prstGeom>
              <a:solidFill>
                <a:srgbClr val="FFCC00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6" name="Google Shape;596;p24"/>
              <p:cNvSpPr txBox="1"/>
              <p:nvPr/>
            </p:nvSpPr>
            <p:spPr>
              <a:xfrm>
                <a:off x="0" y="0"/>
                <a:ext cx="28575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111111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STRATEGY &amp; UTILITY</a:t>
                </a:r>
                <a:endParaRPr b="0" sz="110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sp>
          <p:nvSpPr>
            <p:cNvPr id="597" name="Google Shape;597;p24"/>
            <p:cNvSpPr txBox="1"/>
            <p:nvPr/>
          </p:nvSpPr>
          <p:spPr>
            <a:xfrm>
              <a:off x="476250" y="714375"/>
              <a:ext cx="25242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01">
                  <a:solidFill>
                    <a:srgbClr val="55555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BEST USED FOR</a:t>
              </a:r>
              <a:endParaRPr b="1" sz="601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Highly sensitive, high-value domains like medicine, genetics, and finance with no public counterparts.</a:t>
              </a:r>
              <a:endParaRPr b="0" sz="1000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98" name="Google Shape;598;p24"/>
            <p:cNvSpPr txBox="1"/>
            <p:nvPr/>
          </p:nvSpPr>
          <p:spPr>
            <a:xfrm>
              <a:off x="476250" y="1524000"/>
              <a:ext cx="25242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01">
                  <a:solidFill>
                    <a:srgbClr val="55555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REGULATORY COMPLIANCE</a:t>
              </a:r>
              <a:endParaRPr b="1" sz="601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Guarantees compliance with privacy metrics (HIPAA, GDPR) and formal clinical safety standards.</a:t>
              </a:r>
              <a:endParaRPr b="0" sz="1000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grpSp>
          <p:nvGrpSpPr>
            <p:cNvPr id="599" name="Google Shape;599;p24"/>
            <p:cNvGrpSpPr/>
            <p:nvPr/>
          </p:nvGrpSpPr>
          <p:grpSpPr>
            <a:xfrm>
              <a:off x="142875" y="2476500"/>
              <a:ext cx="2857500" cy="619200"/>
              <a:chOff x="0" y="0"/>
              <a:chExt cx="2857500" cy="619200"/>
            </a:xfrm>
          </p:grpSpPr>
          <p:sp>
            <p:nvSpPr>
              <p:cNvPr id="600" name="Google Shape;600;p24"/>
              <p:cNvSpPr/>
              <p:nvPr/>
            </p:nvSpPr>
            <p:spPr>
              <a:xfrm>
                <a:off x="0" y="0"/>
                <a:ext cx="2857500" cy="619200"/>
              </a:xfrm>
              <a:prstGeom prst="roundRect">
                <a:avLst>
                  <a:gd fmla="val 6153" name="adj"/>
                </a:avLst>
              </a:prstGeom>
              <a:solidFill>
                <a:srgbClr val="0044FF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1" name="Google Shape;601;p24"/>
              <p:cNvSpPr txBox="1"/>
              <p:nvPr/>
            </p:nvSpPr>
            <p:spPr>
              <a:xfrm>
                <a:off x="0" y="0"/>
                <a:ext cx="28575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142875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601">
                    <a:solidFill>
                      <a:srgbClr val="FFCC00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TIME TO FIRST DATASET</a:t>
                </a:r>
                <a:endParaRPr b="1" sz="601">
                  <a:solidFill>
                    <a:srgbClr val="FFCC00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WEEKS *</a:t>
                </a:r>
                <a:endParaRPr b="0" sz="15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</p:grpSp>
      <p:sp>
        <p:nvSpPr>
          <p:cNvPr id="602" name="Google Shape;602;p24"/>
          <p:cNvSpPr txBox="1"/>
          <p:nvPr/>
        </p:nvSpPr>
        <p:spPr>
          <a:xfrm>
            <a:off x="7572375" y="1047750"/>
            <a:ext cx="14289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95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"Every model is a data problem before it's a model problem."</a:t>
            </a:r>
            <a:endParaRPr b="0" i="1" sz="95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600">
                <a:solidFill>
                  <a:srgbClr val="FFCC00"/>
                </a:solidFill>
                <a:latin typeface="Space Grotesk"/>
                <a:ea typeface="Space Grotesk"/>
                <a:cs typeface="Space Grotesk"/>
                <a:sym typeface="Space Grotesk"/>
              </a:rPr>
              <a:t>S5</a:t>
            </a:r>
            <a:endParaRPr b="0" i="0" sz="2600">
              <a:solidFill>
                <a:srgbClr val="FFCC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113"/>
              </a:spcBef>
              <a:spcAft>
                <a:spcPts val="0"/>
              </a:spcAft>
              <a:buNone/>
            </a:pPr>
            <a:r>
              <a:rPr b="0" i="0" lang="en" sz="900">
                <a:solidFill>
                  <a:srgbClr val="F4F4F0"/>
                </a:solidFill>
                <a:latin typeface="Inter Medium"/>
                <a:ea typeface="Inter Medium"/>
                <a:cs typeface="Inter Medium"/>
                <a:sym typeface="Inter Medium"/>
              </a:rPr>
              <a:t>Restricted</a:t>
            </a:r>
            <a:endParaRPr b="0" i="0" sz="900">
              <a:solidFill>
                <a:srgbClr val="F4F4F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600">
                <a:solidFill>
                  <a:srgbClr val="FFCC00"/>
                </a:solidFill>
                <a:latin typeface="Space Grotesk"/>
                <a:ea typeface="Space Grotesk"/>
                <a:cs typeface="Space Grotesk"/>
                <a:sym typeface="Space Grotesk"/>
              </a:rPr>
              <a:t>Weeks</a:t>
            </a:r>
            <a:endParaRPr b="0" i="0" sz="2600">
              <a:solidFill>
                <a:srgbClr val="FFCC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113"/>
              </a:spcBef>
              <a:spcAft>
                <a:spcPts val="0"/>
              </a:spcAft>
              <a:buNone/>
            </a:pPr>
            <a:r>
              <a:rPr b="0" i="0" lang="en" sz="900">
                <a:solidFill>
                  <a:srgbClr val="F4F4F0"/>
                </a:solidFill>
                <a:latin typeface="Inter Medium"/>
                <a:ea typeface="Inter Medium"/>
                <a:cs typeface="Inter Medium"/>
                <a:sym typeface="Inter Medium"/>
              </a:rPr>
              <a:t>Acquisition</a:t>
            </a:r>
            <a:endParaRPr b="0" i="0" sz="900">
              <a:solidFill>
                <a:srgbClr val="F4F4F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i="0" lang="en" sz="700">
                <a:solidFill>
                  <a:srgbClr val="FFCC00"/>
                </a:solidFill>
                <a:latin typeface="Inter Medium"/>
                <a:ea typeface="Inter Medium"/>
                <a:cs typeface="Inter Medium"/>
                <a:sym typeface="Inter Medium"/>
              </a:rPr>
              <a:t>* Requires vetting, ethics clearance, and signed DUAs</a:t>
            </a:r>
            <a:endParaRPr b="0" i="0" sz="700">
              <a:solidFill>
                <a:srgbClr val="FFCC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0"/>
        </a:solidFill>
      </p:bgPr>
    </p:bg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25"/>
          <p:cNvSpPr/>
          <p:nvPr/>
        </p:nvSpPr>
        <p:spPr>
          <a:xfrm>
            <a:off x="7429500" y="0"/>
            <a:ext cx="1714500" cy="51435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08" name="Google Shape;608;p25"/>
          <p:cNvCxnSpPr/>
          <p:nvPr/>
        </p:nvCxnSpPr>
        <p:spPr>
          <a:xfrm>
            <a:off x="7429500" y="0"/>
            <a:ext cx="0" cy="5143500"/>
          </a:xfrm>
          <a:prstGeom prst="straightConnector1">
            <a:avLst/>
          </a:prstGeom>
          <a:solidFill>
            <a:srgbClr val="FFFFFF"/>
          </a:solidFill>
          <a:ln cap="flat" cmpd="sng" w="762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9" name="Google Shape;609;p25"/>
          <p:cNvSpPr/>
          <p:nvPr/>
        </p:nvSpPr>
        <p:spPr>
          <a:xfrm>
            <a:off x="190500" y="190500"/>
            <a:ext cx="8763000" cy="4762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381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10" name="Google Shape;610;p25"/>
          <p:cNvGrpSpPr/>
          <p:nvPr/>
        </p:nvGrpSpPr>
        <p:grpSpPr>
          <a:xfrm>
            <a:off x="8058150" y="438150"/>
            <a:ext cx="457200" cy="457200"/>
            <a:chOff x="57150" y="57150"/>
            <a:chExt cx="457200" cy="457200"/>
          </a:xfrm>
        </p:grpSpPr>
        <p:sp>
          <p:nvSpPr>
            <p:cNvPr id="611" name="Google Shape;611;p25"/>
            <p:cNvSpPr/>
            <p:nvPr/>
          </p:nvSpPr>
          <p:spPr>
            <a:xfrm>
              <a:off x="57150" y="57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25"/>
            <p:cNvSpPr/>
            <p:nvPr/>
          </p:nvSpPr>
          <p:spPr>
            <a:xfrm>
              <a:off x="247650" y="57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25"/>
            <p:cNvSpPr/>
            <p:nvPr/>
          </p:nvSpPr>
          <p:spPr>
            <a:xfrm>
              <a:off x="438150" y="57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25"/>
            <p:cNvSpPr/>
            <p:nvPr/>
          </p:nvSpPr>
          <p:spPr>
            <a:xfrm>
              <a:off x="57150" y="2476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25"/>
            <p:cNvSpPr/>
            <p:nvPr/>
          </p:nvSpPr>
          <p:spPr>
            <a:xfrm>
              <a:off x="247650" y="2476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25"/>
            <p:cNvSpPr/>
            <p:nvPr/>
          </p:nvSpPr>
          <p:spPr>
            <a:xfrm>
              <a:off x="438150" y="2476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25"/>
            <p:cNvSpPr/>
            <p:nvPr/>
          </p:nvSpPr>
          <p:spPr>
            <a:xfrm>
              <a:off x="57150" y="438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25"/>
            <p:cNvSpPr/>
            <p:nvPr/>
          </p:nvSpPr>
          <p:spPr>
            <a:xfrm>
              <a:off x="247650" y="438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25"/>
            <p:cNvSpPr/>
            <p:nvPr/>
          </p:nvSpPr>
          <p:spPr>
            <a:xfrm>
              <a:off x="438150" y="438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0" name="Google Shape;620;p25"/>
          <p:cNvGrpSpPr/>
          <p:nvPr/>
        </p:nvGrpSpPr>
        <p:grpSpPr>
          <a:xfrm>
            <a:off x="7905750" y="4000500"/>
            <a:ext cx="762000" cy="713400"/>
            <a:chOff x="0" y="0"/>
            <a:chExt cx="762000" cy="713400"/>
          </a:xfrm>
        </p:grpSpPr>
        <p:sp>
          <p:nvSpPr>
            <p:cNvPr id="621" name="Google Shape;621;p25"/>
            <p:cNvSpPr/>
            <p:nvPr/>
          </p:nvSpPr>
          <p:spPr>
            <a:xfrm>
              <a:off x="0" y="0"/>
              <a:ext cx="762000" cy="713400"/>
            </a:xfrm>
            <a:custGeom>
              <a:rect b="b" l="l" r="r" t="t"/>
              <a:pathLst>
                <a:path extrusionOk="0" h="120000" w="120000">
                  <a:moveTo>
                    <a:pt x="0" y="31883"/>
                  </a:moveTo>
                  <a:lnTo>
                    <a:pt x="0" y="95968"/>
                  </a:lnTo>
                  <a:cubicBezTo>
                    <a:pt x="0" y="108785"/>
                    <a:pt x="27000" y="120000"/>
                    <a:pt x="60000" y="120000"/>
                  </a:cubicBezTo>
                  <a:cubicBezTo>
                    <a:pt x="93000" y="120000"/>
                    <a:pt x="120000" y="108785"/>
                    <a:pt x="120000" y="95968"/>
                  </a:cubicBezTo>
                  <a:lnTo>
                    <a:pt x="120000" y="0"/>
                  </a:lnTo>
                </a:path>
              </a:pathLst>
            </a:custGeom>
            <a:solidFill>
              <a:srgbClr val="00E676"/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25"/>
            <p:cNvSpPr/>
            <p:nvPr/>
          </p:nvSpPr>
          <p:spPr>
            <a:xfrm>
              <a:off x="0" y="0"/>
              <a:ext cx="762000" cy="285900"/>
            </a:xfrm>
            <a:prstGeom prst="ellipse">
              <a:avLst/>
            </a:prstGeom>
            <a:solidFill>
              <a:srgbClr val="00E676"/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25"/>
            <p:cNvSpPr/>
            <p:nvPr/>
          </p:nvSpPr>
          <p:spPr>
            <a:xfrm>
              <a:off x="0" y="190500"/>
              <a:ext cx="762000" cy="285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4" name="Google Shape;624;p25"/>
          <p:cNvSpPr txBox="1"/>
          <p:nvPr/>
        </p:nvSpPr>
        <p:spPr>
          <a:xfrm>
            <a:off x="476250" y="428625"/>
            <a:ext cx="6667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800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rPr>
              <a:t>SOURCE 5: PROS &amp; CONS</a:t>
            </a:r>
            <a:endParaRPr b="0" sz="2800">
              <a:solidFill>
                <a:srgbClr val="11111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625" name="Google Shape;625;p25"/>
          <p:cNvGrpSpPr/>
          <p:nvPr/>
        </p:nvGrpSpPr>
        <p:grpSpPr>
          <a:xfrm>
            <a:off x="476250" y="1143000"/>
            <a:ext cx="3181500" cy="3467100"/>
            <a:chOff x="0" y="0"/>
            <a:chExt cx="3181500" cy="3467100"/>
          </a:xfrm>
        </p:grpSpPr>
        <p:sp>
          <p:nvSpPr>
            <p:cNvPr id="626" name="Google Shape;626;p25"/>
            <p:cNvSpPr/>
            <p:nvPr/>
          </p:nvSpPr>
          <p:spPr>
            <a:xfrm>
              <a:off x="0" y="0"/>
              <a:ext cx="3143400" cy="3429000"/>
            </a:xfrm>
            <a:prstGeom prst="roundRect">
              <a:avLst>
                <a:gd fmla="val 1818" name="adj"/>
              </a:avLst>
            </a:prstGeom>
            <a:solidFill>
              <a:srgbClr val="FFFFFF"/>
            </a:solidFill>
            <a:ln cap="flat" cmpd="sng" w="28575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25"/>
            <p:cNvSpPr/>
            <p:nvPr/>
          </p:nvSpPr>
          <p:spPr>
            <a:xfrm>
              <a:off x="38100" y="38100"/>
              <a:ext cx="3143400" cy="3429000"/>
            </a:xfrm>
            <a:prstGeom prst="roundRect">
              <a:avLst>
                <a:gd fmla="val 1818" name="adj"/>
              </a:avLst>
            </a:prstGeom>
            <a:solidFill>
              <a:srgbClr val="111111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28" name="Google Shape;628;p25"/>
            <p:cNvGrpSpPr/>
            <p:nvPr/>
          </p:nvGrpSpPr>
          <p:grpSpPr>
            <a:xfrm>
              <a:off x="142875" y="142875"/>
              <a:ext cx="2857500" cy="333300"/>
              <a:chOff x="0" y="0"/>
              <a:chExt cx="2857500" cy="333300"/>
            </a:xfrm>
          </p:grpSpPr>
          <p:sp>
            <p:nvSpPr>
              <p:cNvPr id="629" name="Google Shape;629;p25"/>
              <p:cNvSpPr/>
              <p:nvPr/>
            </p:nvSpPr>
            <p:spPr>
              <a:xfrm>
                <a:off x="0" y="0"/>
                <a:ext cx="2857500" cy="333300"/>
              </a:xfrm>
              <a:prstGeom prst="roundRect">
                <a:avLst>
                  <a:gd fmla="val 11428" name="adj"/>
                </a:avLst>
              </a:prstGeom>
              <a:solidFill>
                <a:srgbClr val="00E676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0" name="Google Shape;630;p25"/>
              <p:cNvSpPr txBox="1"/>
              <p:nvPr/>
            </p:nvSpPr>
            <p:spPr>
              <a:xfrm>
                <a:off x="0" y="0"/>
                <a:ext cx="28575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111111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ADVANTAGES / PROS</a:t>
                </a:r>
                <a:endParaRPr b="0" sz="110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grpSp>
          <p:nvGrpSpPr>
            <p:cNvPr id="631" name="Google Shape;631;p25"/>
            <p:cNvGrpSpPr/>
            <p:nvPr/>
          </p:nvGrpSpPr>
          <p:grpSpPr>
            <a:xfrm>
              <a:off x="142875" y="619125"/>
              <a:ext cx="238200" cy="238200"/>
              <a:chOff x="0" y="0"/>
              <a:chExt cx="238200" cy="238200"/>
            </a:xfrm>
          </p:grpSpPr>
          <p:sp>
            <p:nvSpPr>
              <p:cNvPr id="632" name="Google Shape;632;p25"/>
              <p:cNvSpPr/>
              <p:nvPr/>
            </p:nvSpPr>
            <p:spPr>
              <a:xfrm>
                <a:off x="0" y="0"/>
                <a:ext cx="238200" cy="238200"/>
              </a:xfrm>
              <a:prstGeom prst="roundRect">
                <a:avLst>
                  <a:gd fmla="val 16000" name="adj"/>
                </a:avLst>
              </a:prstGeom>
              <a:solidFill>
                <a:srgbClr val="0000FF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3" name="Google Shape;633;p25"/>
              <p:cNvSpPr txBox="1"/>
              <p:nvPr/>
            </p:nvSpPr>
            <p:spPr>
              <a:xfrm>
                <a:off x="0" y="0"/>
                <a:ext cx="2382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+</a:t>
                </a:r>
                <a:endParaRPr b="0" sz="11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sp>
          <p:nvSpPr>
            <p:cNvPr id="634" name="Google Shape;634;p25"/>
            <p:cNvSpPr txBox="1"/>
            <p:nvPr/>
          </p:nvSpPr>
          <p:spPr>
            <a:xfrm>
              <a:off x="476250" y="619125"/>
              <a:ext cx="25242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55555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RIGOR &amp; EXCLUSIVITY</a:t>
              </a:r>
              <a:endParaRPr b="1" sz="850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675"/>
                </a:spcBef>
                <a:spcAft>
                  <a:spcPts val="0"/>
                </a:spcAft>
                <a:buNone/>
              </a:pPr>
              <a:r>
                <a:rPr b="0" lang="en" sz="131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High Fidelity Benchmarks</a:t>
              </a:r>
              <a:endParaRPr b="0" sz="1310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675"/>
                </a:spcBef>
                <a:spcAft>
                  <a:spcPts val="0"/>
                </a:spcAft>
                <a:buNone/>
              </a:pPr>
              <a:r>
                <a:rPr b="1" lang="en" sz="12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Highest rigor:</a:t>
              </a:r>
              <a:r>
                <a:rPr b="0" lang="en" sz="125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Real documentation and strict institutional oversight ensure maximum data quality.</a:t>
              </a:r>
              <a:endParaRPr b="0" sz="1250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900"/>
                </a:spcAft>
                <a:buNone/>
              </a:pPr>
              <a:r>
                <a:rPr b="1" lang="en" sz="12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Exclusive path:</a:t>
              </a:r>
              <a:r>
                <a:rPr b="0" lang="en" sz="125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Often the single viable mechanism to leverage sensitive or high-value data sets.</a:t>
              </a:r>
              <a:endParaRPr b="0" sz="1250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635" name="Google Shape;635;p25"/>
          <p:cNvGrpSpPr/>
          <p:nvPr/>
        </p:nvGrpSpPr>
        <p:grpSpPr>
          <a:xfrm>
            <a:off x="3905250" y="1143000"/>
            <a:ext cx="3181500" cy="3467100"/>
            <a:chOff x="0" y="0"/>
            <a:chExt cx="3181500" cy="3467100"/>
          </a:xfrm>
        </p:grpSpPr>
        <p:sp>
          <p:nvSpPr>
            <p:cNvPr id="636" name="Google Shape;636;p25"/>
            <p:cNvSpPr/>
            <p:nvPr/>
          </p:nvSpPr>
          <p:spPr>
            <a:xfrm>
              <a:off x="0" y="0"/>
              <a:ext cx="3143400" cy="3429000"/>
            </a:xfrm>
            <a:prstGeom prst="roundRect">
              <a:avLst>
                <a:gd fmla="val 1818" name="adj"/>
              </a:avLst>
            </a:prstGeom>
            <a:solidFill>
              <a:srgbClr val="FFFFFF"/>
            </a:solidFill>
            <a:ln cap="flat" cmpd="sng" w="28575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25"/>
            <p:cNvSpPr/>
            <p:nvPr/>
          </p:nvSpPr>
          <p:spPr>
            <a:xfrm>
              <a:off x="38100" y="38100"/>
              <a:ext cx="3143400" cy="3429000"/>
            </a:xfrm>
            <a:prstGeom prst="roundRect">
              <a:avLst>
                <a:gd fmla="val 1818" name="adj"/>
              </a:avLst>
            </a:prstGeom>
            <a:solidFill>
              <a:srgbClr val="111111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38" name="Google Shape;638;p25"/>
            <p:cNvGrpSpPr/>
            <p:nvPr/>
          </p:nvGrpSpPr>
          <p:grpSpPr>
            <a:xfrm>
              <a:off x="142875" y="142875"/>
              <a:ext cx="2857500" cy="333300"/>
              <a:chOff x="0" y="0"/>
              <a:chExt cx="2857500" cy="333300"/>
            </a:xfrm>
          </p:grpSpPr>
          <p:sp>
            <p:nvSpPr>
              <p:cNvPr id="639" name="Google Shape;639;p25"/>
              <p:cNvSpPr/>
              <p:nvPr/>
            </p:nvSpPr>
            <p:spPr>
              <a:xfrm>
                <a:off x="0" y="0"/>
                <a:ext cx="2857500" cy="333300"/>
              </a:xfrm>
              <a:prstGeom prst="roundRect">
                <a:avLst>
                  <a:gd fmla="val 11428" name="adj"/>
                </a:avLst>
              </a:prstGeom>
              <a:solidFill>
                <a:srgbClr val="FFCC00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0" name="Google Shape;640;p25"/>
              <p:cNvSpPr txBox="1"/>
              <p:nvPr/>
            </p:nvSpPr>
            <p:spPr>
              <a:xfrm>
                <a:off x="0" y="0"/>
                <a:ext cx="28575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111111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DISADVANTAGES / CONS</a:t>
                </a:r>
                <a:endParaRPr b="0" sz="110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grpSp>
          <p:nvGrpSpPr>
            <p:cNvPr id="641" name="Google Shape;641;p25"/>
            <p:cNvGrpSpPr/>
            <p:nvPr/>
          </p:nvGrpSpPr>
          <p:grpSpPr>
            <a:xfrm>
              <a:off x="142875" y="619125"/>
              <a:ext cx="238200" cy="238200"/>
              <a:chOff x="0" y="0"/>
              <a:chExt cx="238200" cy="238200"/>
            </a:xfrm>
          </p:grpSpPr>
          <p:sp>
            <p:nvSpPr>
              <p:cNvPr id="642" name="Google Shape;642;p25"/>
              <p:cNvSpPr/>
              <p:nvPr/>
            </p:nvSpPr>
            <p:spPr>
              <a:xfrm>
                <a:off x="0" y="0"/>
                <a:ext cx="238200" cy="238200"/>
              </a:xfrm>
              <a:prstGeom prst="roundRect">
                <a:avLst>
                  <a:gd fmla="val 16000" name="adj"/>
                </a:avLst>
              </a:prstGeom>
              <a:solidFill>
                <a:srgbClr val="111111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3" name="Google Shape;643;p25"/>
              <p:cNvSpPr txBox="1"/>
              <p:nvPr/>
            </p:nvSpPr>
            <p:spPr>
              <a:xfrm>
                <a:off x="0" y="0"/>
                <a:ext cx="2382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-</a:t>
                </a:r>
                <a:endParaRPr b="0" sz="11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sp>
          <p:nvSpPr>
            <p:cNvPr id="644" name="Google Shape;644;p25"/>
            <p:cNvSpPr txBox="1"/>
            <p:nvPr/>
          </p:nvSpPr>
          <p:spPr>
            <a:xfrm>
              <a:off x="476250" y="619125"/>
              <a:ext cx="25242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55555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FRICTION &amp; USAGE LIMITS</a:t>
              </a:r>
              <a:endParaRPr b="1" sz="750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675"/>
                </a:spcBef>
                <a:spcAft>
                  <a:spcPts val="0"/>
                </a:spcAft>
                <a:buNone/>
              </a:pPr>
              <a:r>
                <a:rPr b="0" lang="en" sz="121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Inherent Regulatory Barriers</a:t>
              </a:r>
              <a:endParaRPr b="0" sz="1210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675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Slow acquisition:</a:t>
              </a:r>
              <a:r>
                <a:rPr b="0" lang="en" sz="115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Exhaustive application processes and compliance checks delay baseline project launch.</a:t>
              </a:r>
              <a:endParaRPr b="0" sz="1150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900"/>
                </a:spcAft>
                <a:buNone/>
              </a:pPr>
              <a:r>
                <a:rPr b="1" lang="en" sz="11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Strict boundaries:</a:t>
              </a:r>
              <a:r>
                <a:rPr b="0" lang="en" sz="115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Prohibits redistribution or publication of derived metrics, restricting usage strictly to approved purposes.</a:t>
              </a:r>
              <a:endParaRPr b="0" sz="1150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645" name="Google Shape;645;p25"/>
          <p:cNvSpPr txBox="1"/>
          <p:nvPr/>
        </p:nvSpPr>
        <p:spPr>
          <a:xfrm>
            <a:off x="7572375" y="1047750"/>
            <a:ext cx="14289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95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"Every model is a data problem before it's a model problem."</a:t>
            </a:r>
            <a:endParaRPr b="0" i="1" sz="95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FFCC00"/>
                </a:solidFill>
                <a:latin typeface="Space Grotesk"/>
                <a:ea typeface="Space Grotesk"/>
                <a:cs typeface="Space Grotesk"/>
                <a:sym typeface="Space Grotesk"/>
              </a:rPr>
              <a:t>S5</a:t>
            </a:r>
            <a:endParaRPr b="0" sz="2600">
              <a:solidFill>
                <a:srgbClr val="FFCC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F4F4F0"/>
                </a:solidFill>
                <a:latin typeface="Inter Medium"/>
                <a:ea typeface="Inter Medium"/>
                <a:cs typeface="Inter Medium"/>
                <a:sym typeface="Inter Medium"/>
              </a:rPr>
              <a:t>Restricted Access</a:t>
            </a:r>
            <a:endParaRPr b="0" sz="900">
              <a:solidFill>
                <a:srgbClr val="F4F4F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FFCC00"/>
                </a:solidFill>
                <a:latin typeface="Space Grotesk"/>
                <a:ea typeface="Space Grotesk"/>
                <a:cs typeface="Space Grotesk"/>
                <a:sym typeface="Space Grotesk"/>
              </a:rPr>
              <a:t>High</a:t>
            </a:r>
            <a:endParaRPr b="0" sz="2600">
              <a:solidFill>
                <a:srgbClr val="FFCC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F4F4F0"/>
                </a:solidFill>
                <a:latin typeface="Inter Medium"/>
                <a:ea typeface="Inter Medium"/>
                <a:cs typeface="Inter Medium"/>
                <a:sym typeface="Inter Medium"/>
              </a:rPr>
              <a:t>Quality Bar</a:t>
            </a:r>
            <a:endParaRPr b="0" sz="900">
              <a:solidFill>
                <a:srgbClr val="F4F4F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4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26"/>
          <p:cNvSpPr/>
          <p:nvPr/>
        </p:nvSpPr>
        <p:spPr>
          <a:xfrm>
            <a:off x="7429500" y="0"/>
            <a:ext cx="1714500" cy="5143500"/>
          </a:xfrm>
          <a:prstGeom prst="rect">
            <a:avLst/>
          </a:prstGeom>
          <a:solidFill>
            <a:srgbClr val="0044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52" name="Google Shape;65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1400" y="0"/>
            <a:ext cx="762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26"/>
          <p:cNvSpPr/>
          <p:nvPr/>
        </p:nvSpPr>
        <p:spPr>
          <a:xfrm>
            <a:off x="190500" y="190500"/>
            <a:ext cx="8763000" cy="4762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381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54" name="Google Shape;654;p26"/>
          <p:cNvGrpSpPr/>
          <p:nvPr/>
        </p:nvGrpSpPr>
        <p:grpSpPr>
          <a:xfrm>
            <a:off x="8058150" y="438150"/>
            <a:ext cx="457200" cy="457200"/>
            <a:chOff x="57150" y="57150"/>
            <a:chExt cx="457200" cy="457200"/>
          </a:xfrm>
        </p:grpSpPr>
        <p:sp>
          <p:nvSpPr>
            <p:cNvPr id="655" name="Google Shape;655;p26"/>
            <p:cNvSpPr/>
            <p:nvPr/>
          </p:nvSpPr>
          <p:spPr>
            <a:xfrm>
              <a:off x="57150" y="57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26"/>
            <p:cNvSpPr/>
            <p:nvPr/>
          </p:nvSpPr>
          <p:spPr>
            <a:xfrm>
              <a:off x="247650" y="57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26"/>
            <p:cNvSpPr/>
            <p:nvPr/>
          </p:nvSpPr>
          <p:spPr>
            <a:xfrm>
              <a:off x="438150" y="57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26"/>
            <p:cNvSpPr/>
            <p:nvPr/>
          </p:nvSpPr>
          <p:spPr>
            <a:xfrm>
              <a:off x="57150" y="2476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26"/>
            <p:cNvSpPr/>
            <p:nvPr/>
          </p:nvSpPr>
          <p:spPr>
            <a:xfrm>
              <a:off x="247650" y="2476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26"/>
            <p:cNvSpPr/>
            <p:nvPr/>
          </p:nvSpPr>
          <p:spPr>
            <a:xfrm>
              <a:off x="438150" y="2476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26"/>
            <p:cNvSpPr/>
            <p:nvPr/>
          </p:nvSpPr>
          <p:spPr>
            <a:xfrm>
              <a:off x="57150" y="438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26"/>
            <p:cNvSpPr/>
            <p:nvPr/>
          </p:nvSpPr>
          <p:spPr>
            <a:xfrm>
              <a:off x="247650" y="438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26"/>
            <p:cNvSpPr/>
            <p:nvPr/>
          </p:nvSpPr>
          <p:spPr>
            <a:xfrm>
              <a:off x="438150" y="438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4" name="Google Shape;664;p26"/>
          <p:cNvGrpSpPr/>
          <p:nvPr/>
        </p:nvGrpSpPr>
        <p:grpSpPr>
          <a:xfrm>
            <a:off x="7905750" y="4000500"/>
            <a:ext cx="762000" cy="713400"/>
            <a:chOff x="0" y="0"/>
            <a:chExt cx="762000" cy="713400"/>
          </a:xfrm>
        </p:grpSpPr>
        <p:sp>
          <p:nvSpPr>
            <p:cNvPr id="665" name="Google Shape;665;p26"/>
            <p:cNvSpPr/>
            <p:nvPr/>
          </p:nvSpPr>
          <p:spPr>
            <a:xfrm>
              <a:off x="0" y="0"/>
              <a:ext cx="762000" cy="713400"/>
            </a:xfrm>
            <a:custGeom>
              <a:rect b="b" l="l" r="r" t="t"/>
              <a:pathLst>
                <a:path extrusionOk="0" h="120000" w="120000">
                  <a:moveTo>
                    <a:pt x="0" y="31884"/>
                  </a:moveTo>
                  <a:lnTo>
                    <a:pt x="0" y="95967"/>
                  </a:lnTo>
                  <a:cubicBezTo>
                    <a:pt x="0" y="108785"/>
                    <a:pt x="27000" y="120000"/>
                    <a:pt x="60000" y="120000"/>
                  </a:cubicBezTo>
                  <a:cubicBezTo>
                    <a:pt x="93000" y="120000"/>
                    <a:pt x="120000" y="108785"/>
                    <a:pt x="120000" y="95967"/>
                  </a:cubicBezTo>
                  <a:lnTo>
                    <a:pt x="120000" y="0"/>
                  </a:lnTo>
                </a:path>
              </a:pathLst>
            </a:custGeom>
            <a:solidFill>
              <a:srgbClr val="00E676"/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26"/>
            <p:cNvSpPr/>
            <p:nvPr/>
          </p:nvSpPr>
          <p:spPr>
            <a:xfrm>
              <a:off x="0" y="0"/>
              <a:ext cx="762000" cy="285900"/>
            </a:xfrm>
            <a:prstGeom prst="ellipse">
              <a:avLst/>
            </a:prstGeom>
            <a:solidFill>
              <a:srgbClr val="00E676"/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26"/>
            <p:cNvSpPr/>
            <p:nvPr/>
          </p:nvSpPr>
          <p:spPr>
            <a:xfrm>
              <a:off x="0" y="190500"/>
              <a:ext cx="762000" cy="285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8" name="Google Shape;668;p26"/>
          <p:cNvSpPr txBox="1"/>
          <p:nvPr/>
        </p:nvSpPr>
        <p:spPr>
          <a:xfrm>
            <a:off x="476250" y="428625"/>
            <a:ext cx="6667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590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rPr>
              <a:t>SOURCE 6: REVERSE-ENGINEERING PAPERS</a:t>
            </a:r>
            <a:endParaRPr b="0" sz="2590">
              <a:solidFill>
                <a:srgbClr val="11111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669" name="Google Shape;669;p26"/>
          <p:cNvGrpSpPr/>
          <p:nvPr/>
        </p:nvGrpSpPr>
        <p:grpSpPr>
          <a:xfrm>
            <a:off x="461963" y="1128713"/>
            <a:ext cx="3195788" cy="3481388"/>
            <a:chOff x="-14287" y="-14287"/>
            <a:chExt cx="3195788" cy="3481388"/>
          </a:xfrm>
        </p:grpSpPr>
        <p:pic>
          <p:nvPicPr>
            <p:cNvPr id="670" name="Google Shape;670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8100" y="38100"/>
              <a:ext cx="3143400" cy="3429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1" name="Google Shape;671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-14287" y="-14287"/>
              <a:ext cx="3171900" cy="34575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72" name="Google Shape;672;p26"/>
            <p:cNvGrpSpPr/>
            <p:nvPr/>
          </p:nvGrpSpPr>
          <p:grpSpPr>
            <a:xfrm>
              <a:off x="133350" y="133350"/>
              <a:ext cx="2876700" cy="352500"/>
              <a:chOff x="-9525" y="-9525"/>
              <a:chExt cx="2876700" cy="352500"/>
            </a:xfrm>
          </p:grpSpPr>
          <p:pic>
            <p:nvPicPr>
              <p:cNvPr id="673" name="Google Shape;673;p26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-9525" y="-9525"/>
                <a:ext cx="2876700" cy="3525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74" name="Google Shape;674;p26"/>
              <p:cNvSpPr txBox="1"/>
              <p:nvPr/>
            </p:nvSpPr>
            <p:spPr>
              <a:xfrm>
                <a:off x="0" y="0"/>
                <a:ext cx="28575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35">
                    <a:solidFill>
                      <a:srgbClr val="111111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S6: DISCOVERY ENGINE</a:t>
                </a:r>
                <a:endParaRPr b="0" sz="935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grpSp>
          <p:nvGrpSpPr>
            <p:cNvPr id="675" name="Google Shape;675;p26"/>
            <p:cNvGrpSpPr/>
            <p:nvPr/>
          </p:nvGrpSpPr>
          <p:grpSpPr>
            <a:xfrm>
              <a:off x="133350" y="609600"/>
              <a:ext cx="257100" cy="257100"/>
              <a:chOff x="-9525" y="-9525"/>
              <a:chExt cx="257100" cy="257100"/>
            </a:xfrm>
          </p:grpSpPr>
          <p:pic>
            <p:nvPicPr>
              <p:cNvPr id="676" name="Google Shape;676;p26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-9525" y="-9525"/>
                <a:ext cx="257100" cy="2571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77" name="Google Shape;677;p26"/>
              <p:cNvSpPr txBox="1"/>
              <p:nvPr/>
            </p:nvSpPr>
            <p:spPr>
              <a:xfrm>
                <a:off x="0" y="0"/>
                <a:ext cx="2382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S6</a:t>
                </a:r>
                <a:endParaRPr b="0" sz="10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sp>
          <p:nvSpPr>
            <p:cNvPr id="678" name="Google Shape;678;p26"/>
            <p:cNvSpPr txBox="1"/>
            <p:nvPr/>
          </p:nvSpPr>
          <p:spPr>
            <a:xfrm>
              <a:off x="476250" y="619125"/>
              <a:ext cx="25242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53">
                  <a:solidFill>
                    <a:srgbClr val="55555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THE METHODOLOGY</a:t>
              </a:r>
              <a:endParaRPr b="1" sz="653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35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Mining Academic Pipelines</a:t>
              </a:r>
              <a:endParaRPr b="0" sz="1035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-298450" lvl="0" marL="457200" rtl="0" algn="l">
                <a:spcBef>
                  <a:spcPts val="1000"/>
                </a:spcBef>
                <a:spcAft>
                  <a:spcPts val="0"/>
                </a:spcAft>
                <a:buClr>
                  <a:srgbClr val="111111"/>
                </a:buClr>
                <a:buSzPts val="1100"/>
                <a:buFont typeface="Inter"/>
                <a:buChar char="●"/>
              </a:pPr>
              <a:r>
                <a:rPr b="1" lang="en" sz="11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URLs:</a:t>
              </a:r>
              <a:r>
                <a:rPr b="0" lang="en" sz="110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paperswithcode.com · arxiv.org → then look for the paper's own GitHub/dataset page</a:t>
              </a:r>
              <a:endParaRPr b="0" sz="1100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600"/>
                </a:spcAft>
                <a:buClr>
                  <a:srgbClr val="111111"/>
                </a:buClr>
                <a:buSzPts val="1100"/>
                <a:buFont typeface="Inter"/>
                <a:buChar char="●"/>
              </a:pPr>
              <a:r>
                <a:rPr b="1" lang="en" sz="11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How:</a:t>
              </a:r>
              <a:r>
                <a:rPr b="0" lang="en" sz="110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find the paper solving your problem → dig through its "Dataset" section or linked repository</a:t>
              </a:r>
              <a:endParaRPr b="0" sz="1100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grpSp>
          <p:nvGrpSpPr>
            <p:cNvPr id="679" name="Google Shape;679;p26"/>
            <p:cNvGrpSpPr/>
            <p:nvPr/>
          </p:nvGrpSpPr>
          <p:grpSpPr>
            <a:xfrm>
              <a:off x="142875" y="2714625"/>
              <a:ext cx="2857500" cy="381000"/>
              <a:chOff x="0" y="0"/>
              <a:chExt cx="2857500" cy="381000"/>
            </a:xfrm>
          </p:grpSpPr>
          <p:sp>
            <p:nvSpPr>
              <p:cNvPr id="680" name="Google Shape;680;p26"/>
              <p:cNvSpPr/>
              <p:nvPr/>
            </p:nvSpPr>
            <p:spPr>
              <a:xfrm>
                <a:off x="0" y="0"/>
                <a:ext cx="2857500" cy="381000"/>
              </a:xfrm>
              <a:prstGeom prst="roundRect">
                <a:avLst>
                  <a:gd fmla="val 10000" name="adj"/>
                </a:avLst>
              </a:prstGeom>
              <a:solidFill>
                <a:srgbClr val="F4F4F0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1" name="Google Shape;681;p26"/>
              <p:cNvSpPr txBox="1"/>
              <p:nvPr/>
            </p:nvSpPr>
            <p:spPr>
              <a:xfrm>
                <a:off x="0" y="0"/>
                <a:ext cx="2857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95250" spcFirstLastPara="1" rIns="9525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Reconstruct benchmarks from academic source files</a:t>
                </a:r>
                <a:endParaRPr b="1" sz="10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682" name="Google Shape;682;p26"/>
          <p:cNvGrpSpPr/>
          <p:nvPr/>
        </p:nvGrpSpPr>
        <p:grpSpPr>
          <a:xfrm>
            <a:off x="3890963" y="1128713"/>
            <a:ext cx="3195788" cy="3481388"/>
            <a:chOff x="-14287" y="-14287"/>
            <a:chExt cx="3195788" cy="3481388"/>
          </a:xfrm>
        </p:grpSpPr>
        <p:pic>
          <p:nvPicPr>
            <p:cNvPr id="683" name="Google Shape;683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8100" y="38100"/>
              <a:ext cx="3143400" cy="3429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84" name="Google Shape;684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-14287" y="-14287"/>
              <a:ext cx="3171900" cy="34575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85" name="Google Shape;685;p26"/>
            <p:cNvGrpSpPr/>
            <p:nvPr/>
          </p:nvGrpSpPr>
          <p:grpSpPr>
            <a:xfrm>
              <a:off x="133350" y="133350"/>
              <a:ext cx="2876700" cy="352500"/>
              <a:chOff x="-9525" y="-9525"/>
              <a:chExt cx="2876700" cy="352500"/>
            </a:xfrm>
          </p:grpSpPr>
          <p:pic>
            <p:nvPicPr>
              <p:cNvPr id="686" name="Google Shape;686;p26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-9525" y="-9525"/>
                <a:ext cx="2876700" cy="3525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87" name="Google Shape;687;p26"/>
              <p:cNvSpPr txBox="1"/>
              <p:nvPr/>
            </p:nvSpPr>
            <p:spPr>
              <a:xfrm>
                <a:off x="0" y="0"/>
                <a:ext cx="28575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35">
                    <a:solidFill>
                      <a:srgbClr val="111111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STRATEGY &amp; UTILITY</a:t>
                </a:r>
                <a:endParaRPr b="0" sz="935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sp>
          <p:nvSpPr>
            <p:cNvPr id="688" name="Google Shape;688;p26"/>
            <p:cNvSpPr txBox="1"/>
            <p:nvPr/>
          </p:nvSpPr>
          <p:spPr>
            <a:xfrm>
              <a:off x="476250" y="714375"/>
              <a:ext cx="25242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53">
                  <a:solidFill>
                    <a:srgbClr val="55555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BEST USED FOR</a:t>
              </a:r>
              <a:endParaRPr b="1" sz="653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1035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Tracking down custom novel pipelines, unique academic training sets, and state-of-the-art benchmarks directly.</a:t>
              </a:r>
              <a:endParaRPr b="0" sz="1035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89" name="Google Shape;689;p26"/>
            <p:cNvSpPr txBox="1"/>
            <p:nvPr/>
          </p:nvSpPr>
          <p:spPr>
            <a:xfrm>
              <a:off x="476250" y="1524000"/>
              <a:ext cx="25242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53">
                  <a:solidFill>
                    <a:srgbClr val="55555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WHY IT'S HARD</a:t>
              </a:r>
              <a:endParaRPr b="1" sz="653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1035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You're constructing someone else's pipeline from partial documentation, incomplete setup guides, and dead links.</a:t>
              </a:r>
              <a:endParaRPr b="0" sz="1035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grpSp>
          <p:nvGrpSpPr>
            <p:cNvPr id="690" name="Google Shape;690;p26"/>
            <p:cNvGrpSpPr/>
            <p:nvPr/>
          </p:nvGrpSpPr>
          <p:grpSpPr>
            <a:xfrm>
              <a:off x="142875" y="2476500"/>
              <a:ext cx="2857500" cy="619200"/>
              <a:chOff x="0" y="0"/>
              <a:chExt cx="2857500" cy="619200"/>
            </a:xfrm>
          </p:grpSpPr>
          <p:sp>
            <p:nvSpPr>
              <p:cNvPr id="691" name="Google Shape;691;p26"/>
              <p:cNvSpPr/>
              <p:nvPr/>
            </p:nvSpPr>
            <p:spPr>
              <a:xfrm>
                <a:off x="0" y="0"/>
                <a:ext cx="2857500" cy="619200"/>
              </a:xfrm>
              <a:prstGeom prst="roundRect">
                <a:avLst>
                  <a:gd fmla="val 6153" name="adj"/>
                </a:avLst>
              </a:prstGeom>
              <a:solidFill>
                <a:srgbClr val="0044FF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2" name="Google Shape;692;p26"/>
              <p:cNvSpPr txBox="1"/>
              <p:nvPr/>
            </p:nvSpPr>
            <p:spPr>
              <a:xfrm>
                <a:off x="0" y="0"/>
                <a:ext cx="28575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142875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553">
                    <a:solidFill>
                      <a:srgbClr val="FFCC00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TIME TO FIRST DATASET</a:t>
                </a:r>
                <a:endParaRPr b="1" sz="553">
                  <a:solidFill>
                    <a:srgbClr val="FFCC00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lang="en" sz="150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Hours</a:t>
                </a:r>
                <a:r>
                  <a:rPr b="0" lang="en" sz="150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 to Day</a:t>
                </a:r>
                <a:r>
                  <a:rPr lang="en" sz="150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s</a:t>
                </a:r>
                <a:r>
                  <a:rPr b="0" lang="en" sz="150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*</a:t>
                </a:r>
                <a:endParaRPr b="0" sz="15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</p:grpSp>
      <p:sp>
        <p:nvSpPr>
          <p:cNvPr id="693" name="Google Shape;693;p26"/>
          <p:cNvSpPr txBox="1"/>
          <p:nvPr/>
        </p:nvSpPr>
        <p:spPr>
          <a:xfrm>
            <a:off x="7572375" y="1047750"/>
            <a:ext cx="14289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95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"Every model is a data problem before it's a model problem."</a:t>
            </a:r>
            <a:endParaRPr b="0" i="1" sz="95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i="0" lang="en" sz="2600">
                <a:solidFill>
                  <a:srgbClr val="FFCC00"/>
                </a:solidFill>
                <a:latin typeface="Space Grotesk"/>
                <a:ea typeface="Space Grotesk"/>
                <a:cs typeface="Space Grotesk"/>
                <a:sym typeface="Space Grotesk"/>
              </a:rPr>
              <a:t>S6</a:t>
            </a:r>
            <a:endParaRPr b="0" i="0" sz="2600">
              <a:solidFill>
                <a:srgbClr val="FFCC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i="0" lang="en" sz="900">
                <a:solidFill>
                  <a:srgbClr val="F4F4F0"/>
                </a:solidFill>
                <a:latin typeface="Inter Medium"/>
                <a:ea typeface="Inter Medium"/>
                <a:cs typeface="Inter Medium"/>
                <a:sym typeface="Inter Medium"/>
              </a:rPr>
              <a:t>Research Papers</a:t>
            </a:r>
            <a:endParaRPr b="0" i="0" sz="900">
              <a:solidFill>
                <a:srgbClr val="F4F4F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i="0" lang="en" sz="2600">
                <a:solidFill>
                  <a:srgbClr val="FFCC00"/>
                </a:solidFill>
                <a:latin typeface="Space Grotesk"/>
                <a:ea typeface="Space Grotesk"/>
                <a:cs typeface="Space Grotesk"/>
                <a:sym typeface="Space Grotesk"/>
              </a:rPr>
              <a:t>Hours</a:t>
            </a:r>
            <a:endParaRPr b="0" i="0" sz="2600">
              <a:solidFill>
                <a:srgbClr val="FFCC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i="0" lang="en" sz="900">
                <a:solidFill>
                  <a:srgbClr val="F4F4F0"/>
                </a:solidFill>
                <a:latin typeface="Inter Medium"/>
                <a:ea typeface="Inter Medium"/>
                <a:cs typeface="Inter Medium"/>
                <a:sym typeface="Inter Medium"/>
              </a:rPr>
              <a:t>Acquisition</a:t>
            </a:r>
            <a:endParaRPr b="0" i="0" sz="900">
              <a:solidFill>
                <a:srgbClr val="F4F4F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i="0" lang="en" sz="700">
                <a:solidFill>
                  <a:srgbClr val="FFCC00"/>
                </a:solidFill>
                <a:latin typeface="Inter Medium"/>
                <a:ea typeface="Inter Medium"/>
                <a:cs typeface="Inter Medium"/>
                <a:sym typeface="Inter Medium"/>
              </a:rPr>
              <a:t>* Requires extensive manual digging and custom pipeline rebuilding</a:t>
            </a:r>
            <a:endParaRPr b="0" i="0" sz="700">
              <a:solidFill>
                <a:srgbClr val="FFCC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0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27"/>
          <p:cNvSpPr/>
          <p:nvPr/>
        </p:nvSpPr>
        <p:spPr>
          <a:xfrm>
            <a:off x="7429500" y="0"/>
            <a:ext cx="1714500" cy="5143500"/>
          </a:xfrm>
          <a:prstGeom prst="rect">
            <a:avLst/>
          </a:prstGeom>
          <a:solidFill>
            <a:srgbClr val="0044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99" name="Google Shape;699;p27"/>
          <p:cNvCxnSpPr/>
          <p:nvPr/>
        </p:nvCxnSpPr>
        <p:spPr>
          <a:xfrm>
            <a:off x="7429500" y="0"/>
            <a:ext cx="0" cy="5143500"/>
          </a:xfrm>
          <a:prstGeom prst="straightConnector1">
            <a:avLst/>
          </a:prstGeom>
          <a:solidFill>
            <a:srgbClr val="FFFFFF"/>
          </a:solidFill>
          <a:ln cap="flat" cmpd="sng" w="762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0" name="Google Shape;700;p27"/>
          <p:cNvSpPr/>
          <p:nvPr/>
        </p:nvSpPr>
        <p:spPr>
          <a:xfrm>
            <a:off x="190500" y="190500"/>
            <a:ext cx="8763000" cy="4762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381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01" name="Google Shape;701;p27"/>
          <p:cNvGrpSpPr/>
          <p:nvPr/>
        </p:nvGrpSpPr>
        <p:grpSpPr>
          <a:xfrm>
            <a:off x="8058150" y="438150"/>
            <a:ext cx="457200" cy="457200"/>
            <a:chOff x="57150" y="57150"/>
            <a:chExt cx="457200" cy="457200"/>
          </a:xfrm>
        </p:grpSpPr>
        <p:sp>
          <p:nvSpPr>
            <p:cNvPr id="702" name="Google Shape;702;p27"/>
            <p:cNvSpPr/>
            <p:nvPr/>
          </p:nvSpPr>
          <p:spPr>
            <a:xfrm>
              <a:off x="57150" y="57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27"/>
            <p:cNvSpPr/>
            <p:nvPr/>
          </p:nvSpPr>
          <p:spPr>
            <a:xfrm>
              <a:off x="247650" y="57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27"/>
            <p:cNvSpPr/>
            <p:nvPr/>
          </p:nvSpPr>
          <p:spPr>
            <a:xfrm>
              <a:off x="438150" y="57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27"/>
            <p:cNvSpPr/>
            <p:nvPr/>
          </p:nvSpPr>
          <p:spPr>
            <a:xfrm>
              <a:off x="57150" y="2476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27"/>
            <p:cNvSpPr/>
            <p:nvPr/>
          </p:nvSpPr>
          <p:spPr>
            <a:xfrm>
              <a:off x="247650" y="2476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27"/>
            <p:cNvSpPr/>
            <p:nvPr/>
          </p:nvSpPr>
          <p:spPr>
            <a:xfrm>
              <a:off x="438150" y="2476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27"/>
            <p:cNvSpPr/>
            <p:nvPr/>
          </p:nvSpPr>
          <p:spPr>
            <a:xfrm>
              <a:off x="57150" y="438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27"/>
            <p:cNvSpPr/>
            <p:nvPr/>
          </p:nvSpPr>
          <p:spPr>
            <a:xfrm>
              <a:off x="247650" y="438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27"/>
            <p:cNvSpPr/>
            <p:nvPr/>
          </p:nvSpPr>
          <p:spPr>
            <a:xfrm>
              <a:off x="438150" y="438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1" name="Google Shape;711;p27"/>
          <p:cNvGrpSpPr/>
          <p:nvPr/>
        </p:nvGrpSpPr>
        <p:grpSpPr>
          <a:xfrm>
            <a:off x="7905750" y="4000500"/>
            <a:ext cx="762000" cy="713400"/>
            <a:chOff x="0" y="0"/>
            <a:chExt cx="762000" cy="713400"/>
          </a:xfrm>
        </p:grpSpPr>
        <p:sp>
          <p:nvSpPr>
            <p:cNvPr id="712" name="Google Shape;712;p27"/>
            <p:cNvSpPr/>
            <p:nvPr/>
          </p:nvSpPr>
          <p:spPr>
            <a:xfrm>
              <a:off x="0" y="0"/>
              <a:ext cx="762000" cy="713400"/>
            </a:xfrm>
            <a:custGeom>
              <a:rect b="b" l="l" r="r" t="t"/>
              <a:pathLst>
                <a:path extrusionOk="0" h="120000" w="120000">
                  <a:moveTo>
                    <a:pt x="0" y="31883"/>
                  </a:moveTo>
                  <a:lnTo>
                    <a:pt x="0" y="95968"/>
                  </a:lnTo>
                  <a:cubicBezTo>
                    <a:pt x="0" y="108785"/>
                    <a:pt x="27000" y="120000"/>
                    <a:pt x="60000" y="120000"/>
                  </a:cubicBezTo>
                  <a:cubicBezTo>
                    <a:pt x="93000" y="120000"/>
                    <a:pt x="120000" y="108785"/>
                    <a:pt x="120000" y="95968"/>
                  </a:cubicBezTo>
                  <a:lnTo>
                    <a:pt x="120000" y="0"/>
                  </a:lnTo>
                </a:path>
              </a:pathLst>
            </a:custGeom>
            <a:solidFill>
              <a:srgbClr val="00E676"/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27"/>
            <p:cNvSpPr/>
            <p:nvPr/>
          </p:nvSpPr>
          <p:spPr>
            <a:xfrm>
              <a:off x="0" y="0"/>
              <a:ext cx="762000" cy="285900"/>
            </a:xfrm>
            <a:prstGeom prst="ellipse">
              <a:avLst/>
            </a:prstGeom>
            <a:solidFill>
              <a:srgbClr val="00E676"/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27"/>
            <p:cNvSpPr/>
            <p:nvPr/>
          </p:nvSpPr>
          <p:spPr>
            <a:xfrm>
              <a:off x="0" y="190500"/>
              <a:ext cx="762000" cy="285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5" name="Google Shape;715;p27"/>
          <p:cNvSpPr txBox="1"/>
          <p:nvPr/>
        </p:nvSpPr>
        <p:spPr>
          <a:xfrm>
            <a:off x="476250" y="428625"/>
            <a:ext cx="6667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800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rPr>
              <a:t>SOURCE 6: PROS &amp; CONS</a:t>
            </a:r>
            <a:endParaRPr b="0" sz="2800">
              <a:solidFill>
                <a:srgbClr val="11111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716" name="Google Shape;716;p27"/>
          <p:cNvGrpSpPr/>
          <p:nvPr/>
        </p:nvGrpSpPr>
        <p:grpSpPr>
          <a:xfrm>
            <a:off x="476250" y="1143000"/>
            <a:ext cx="3181500" cy="3467100"/>
            <a:chOff x="0" y="0"/>
            <a:chExt cx="3181500" cy="3467100"/>
          </a:xfrm>
        </p:grpSpPr>
        <p:sp>
          <p:nvSpPr>
            <p:cNvPr id="717" name="Google Shape;717;p27"/>
            <p:cNvSpPr/>
            <p:nvPr/>
          </p:nvSpPr>
          <p:spPr>
            <a:xfrm>
              <a:off x="0" y="0"/>
              <a:ext cx="3143400" cy="3429000"/>
            </a:xfrm>
            <a:prstGeom prst="roundRect">
              <a:avLst>
                <a:gd fmla="val 1818" name="adj"/>
              </a:avLst>
            </a:prstGeom>
            <a:solidFill>
              <a:srgbClr val="FFFFFF"/>
            </a:solidFill>
            <a:ln cap="flat" cmpd="sng" w="28575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27"/>
            <p:cNvSpPr/>
            <p:nvPr/>
          </p:nvSpPr>
          <p:spPr>
            <a:xfrm>
              <a:off x="38100" y="38100"/>
              <a:ext cx="3143400" cy="3429000"/>
            </a:xfrm>
            <a:prstGeom prst="roundRect">
              <a:avLst>
                <a:gd fmla="val 1818" name="adj"/>
              </a:avLst>
            </a:prstGeom>
            <a:solidFill>
              <a:srgbClr val="111111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19" name="Google Shape;719;p27"/>
            <p:cNvGrpSpPr/>
            <p:nvPr/>
          </p:nvGrpSpPr>
          <p:grpSpPr>
            <a:xfrm>
              <a:off x="142875" y="142875"/>
              <a:ext cx="2857500" cy="333300"/>
              <a:chOff x="0" y="0"/>
              <a:chExt cx="2857500" cy="333300"/>
            </a:xfrm>
          </p:grpSpPr>
          <p:sp>
            <p:nvSpPr>
              <p:cNvPr id="720" name="Google Shape;720;p27"/>
              <p:cNvSpPr/>
              <p:nvPr/>
            </p:nvSpPr>
            <p:spPr>
              <a:xfrm>
                <a:off x="0" y="0"/>
                <a:ext cx="2857500" cy="333300"/>
              </a:xfrm>
              <a:prstGeom prst="roundRect">
                <a:avLst>
                  <a:gd fmla="val 11428" name="adj"/>
                </a:avLst>
              </a:prstGeom>
              <a:solidFill>
                <a:srgbClr val="00E676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1" name="Google Shape;721;p27"/>
              <p:cNvSpPr txBox="1"/>
              <p:nvPr/>
            </p:nvSpPr>
            <p:spPr>
              <a:xfrm>
                <a:off x="0" y="0"/>
                <a:ext cx="28575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111111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ADVANTAGES / PROS</a:t>
                </a:r>
                <a:endParaRPr b="0" sz="110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grpSp>
          <p:nvGrpSpPr>
            <p:cNvPr id="722" name="Google Shape;722;p27"/>
            <p:cNvGrpSpPr/>
            <p:nvPr/>
          </p:nvGrpSpPr>
          <p:grpSpPr>
            <a:xfrm>
              <a:off x="142875" y="619125"/>
              <a:ext cx="238200" cy="238200"/>
              <a:chOff x="0" y="0"/>
              <a:chExt cx="238200" cy="238200"/>
            </a:xfrm>
          </p:grpSpPr>
          <p:sp>
            <p:nvSpPr>
              <p:cNvPr id="723" name="Google Shape;723;p27"/>
              <p:cNvSpPr/>
              <p:nvPr/>
            </p:nvSpPr>
            <p:spPr>
              <a:xfrm>
                <a:off x="0" y="0"/>
                <a:ext cx="238200" cy="238200"/>
              </a:xfrm>
              <a:prstGeom prst="roundRect">
                <a:avLst>
                  <a:gd fmla="val 16000" name="adj"/>
                </a:avLst>
              </a:prstGeom>
              <a:solidFill>
                <a:srgbClr val="0044FF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4" name="Google Shape;724;p27"/>
              <p:cNvSpPr txBox="1"/>
              <p:nvPr/>
            </p:nvSpPr>
            <p:spPr>
              <a:xfrm>
                <a:off x="0" y="0"/>
                <a:ext cx="2382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+</a:t>
                </a:r>
                <a:endParaRPr b="0" sz="10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sp>
          <p:nvSpPr>
            <p:cNvPr id="725" name="Google Shape;725;p27"/>
            <p:cNvSpPr txBox="1"/>
            <p:nvPr/>
          </p:nvSpPr>
          <p:spPr>
            <a:xfrm>
              <a:off x="476250" y="619125"/>
              <a:ext cx="25242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55555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ACCURACY &amp; BENCHMARKING</a:t>
              </a:r>
              <a:endParaRPr b="1" sz="850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-307975" lvl="0" marL="457200" rtl="0" algn="l">
                <a:spcBef>
                  <a:spcPts val="675"/>
                </a:spcBef>
                <a:spcAft>
                  <a:spcPts val="0"/>
                </a:spcAft>
                <a:buClr>
                  <a:srgbClr val="111111"/>
                </a:buClr>
                <a:buSzPts val="1250"/>
                <a:buFont typeface="Inter"/>
                <a:buChar char="●"/>
              </a:pPr>
              <a:r>
                <a:rPr b="1" lang="en" sz="12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Research-Grade Fidelity:</a:t>
              </a:r>
              <a:r>
                <a:rPr lang="en" sz="12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en" sz="125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Get exactly the dataset behind a specific published result.</a:t>
              </a:r>
              <a:endParaRPr sz="125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7975" lvl="0" marL="457200" rtl="0" algn="l">
                <a:spcBef>
                  <a:spcPts val="900"/>
                </a:spcBef>
                <a:spcAft>
                  <a:spcPts val="900"/>
                </a:spcAft>
                <a:buClr>
                  <a:srgbClr val="111111"/>
                </a:buClr>
                <a:buSzPts val="1250"/>
                <a:buFont typeface="Inter"/>
                <a:buChar char="●"/>
              </a:pPr>
              <a:r>
                <a:rPr b="1" lang="en" sz="12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Direct Comparison:</a:t>
              </a:r>
              <a:r>
                <a:rPr lang="en" sz="12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en" sz="125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Lets you benchmark directly against the paper's own numbers.</a:t>
              </a:r>
              <a:endParaRPr sz="125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26" name="Google Shape;726;p27"/>
          <p:cNvGrpSpPr/>
          <p:nvPr/>
        </p:nvGrpSpPr>
        <p:grpSpPr>
          <a:xfrm>
            <a:off x="3905250" y="1143000"/>
            <a:ext cx="3181500" cy="3467100"/>
            <a:chOff x="0" y="0"/>
            <a:chExt cx="3181500" cy="3467100"/>
          </a:xfrm>
        </p:grpSpPr>
        <p:sp>
          <p:nvSpPr>
            <p:cNvPr id="727" name="Google Shape;727;p27"/>
            <p:cNvSpPr/>
            <p:nvPr/>
          </p:nvSpPr>
          <p:spPr>
            <a:xfrm>
              <a:off x="0" y="0"/>
              <a:ext cx="3143400" cy="3429000"/>
            </a:xfrm>
            <a:prstGeom prst="roundRect">
              <a:avLst>
                <a:gd fmla="val 1818" name="adj"/>
              </a:avLst>
            </a:prstGeom>
            <a:solidFill>
              <a:srgbClr val="FFFFFF"/>
            </a:solidFill>
            <a:ln cap="flat" cmpd="sng" w="28575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27"/>
            <p:cNvSpPr/>
            <p:nvPr/>
          </p:nvSpPr>
          <p:spPr>
            <a:xfrm>
              <a:off x="38100" y="38100"/>
              <a:ext cx="3143400" cy="3429000"/>
            </a:xfrm>
            <a:prstGeom prst="roundRect">
              <a:avLst>
                <a:gd fmla="val 1818" name="adj"/>
              </a:avLst>
            </a:prstGeom>
            <a:solidFill>
              <a:srgbClr val="111111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29" name="Google Shape;729;p27"/>
            <p:cNvGrpSpPr/>
            <p:nvPr/>
          </p:nvGrpSpPr>
          <p:grpSpPr>
            <a:xfrm>
              <a:off x="142875" y="142875"/>
              <a:ext cx="2857500" cy="333300"/>
              <a:chOff x="0" y="0"/>
              <a:chExt cx="2857500" cy="333300"/>
            </a:xfrm>
          </p:grpSpPr>
          <p:sp>
            <p:nvSpPr>
              <p:cNvPr id="730" name="Google Shape;730;p27"/>
              <p:cNvSpPr/>
              <p:nvPr/>
            </p:nvSpPr>
            <p:spPr>
              <a:xfrm>
                <a:off x="0" y="0"/>
                <a:ext cx="2857500" cy="333300"/>
              </a:xfrm>
              <a:prstGeom prst="roundRect">
                <a:avLst>
                  <a:gd fmla="val 11428" name="adj"/>
                </a:avLst>
              </a:prstGeom>
              <a:solidFill>
                <a:srgbClr val="FFCC00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1" name="Google Shape;731;p27"/>
              <p:cNvSpPr txBox="1"/>
              <p:nvPr/>
            </p:nvSpPr>
            <p:spPr>
              <a:xfrm>
                <a:off x="0" y="0"/>
                <a:ext cx="28575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111111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DISADVANTAGES / CONS</a:t>
                </a:r>
                <a:endParaRPr b="0" sz="110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grpSp>
          <p:nvGrpSpPr>
            <p:cNvPr id="732" name="Google Shape;732;p27"/>
            <p:cNvGrpSpPr/>
            <p:nvPr/>
          </p:nvGrpSpPr>
          <p:grpSpPr>
            <a:xfrm>
              <a:off x="142875" y="619125"/>
              <a:ext cx="238200" cy="238200"/>
              <a:chOff x="0" y="0"/>
              <a:chExt cx="238200" cy="238200"/>
            </a:xfrm>
          </p:grpSpPr>
          <p:sp>
            <p:nvSpPr>
              <p:cNvPr id="733" name="Google Shape;733;p27"/>
              <p:cNvSpPr/>
              <p:nvPr/>
            </p:nvSpPr>
            <p:spPr>
              <a:xfrm>
                <a:off x="0" y="0"/>
                <a:ext cx="238200" cy="238200"/>
              </a:xfrm>
              <a:prstGeom prst="roundRect">
                <a:avLst>
                  <a:gd fmla="val 16000" name="adj"/>
                </a:avLst>
              </a:prstGeom>
              <a:solidFill>
                <a:srgbClr val="111111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4" name="Google Shape;734;p27"/>
              <p:cNvSpPr txBox="1"/>
              <p:nvPr/>
            </p:nvSpPr>
            <p:spPr>
              <a:xfrm>
                <a:off x="0" y="0"/>
                <a:ext cx="2382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-</a:t>
                </a:r>
                <a:endParaRPr b="0" sz="10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sp>
          <p:nvSpPr>
            <p:cNvPr id="735" name="Google Shape;735;p27"/>
            <p:cNvSpPr txBox="1"/>
            <p:nvPr/>
          </p:nvSpPr>
          <p:spPr>
            <a:xfrm>
              <a:off x="476250" y="619125"/>
              <a:ext cx="25242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55555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DECAY &amp; RECONSTRUCTION RISK</a:t>
              </a:r>
              <a:endParaRPr b="1" sz="950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-314325" lvl="0" marL="457200" rtl="0" algn="l">
                <a:spcBef>
                  <a:spcPts val="675"/>
                </a:spcBef>
                <a:spcAft>
                  <a:spcPts val="0"/>
                </a:spcAft>
                <a:buClr>
                  <a:srgbClr val="111111"/>
                </a:buClr>
                <a:buSzPts val="1350"/>
                <a:buFont typeface="Inter"/>
                <a:buChar char="●"/>
              </a:pPr>
              <a:r>
                <a:rPr b="1" lang="en" sz="13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Access Barriers:</a:t>
              </a:r>
              <a:r>
                <a:rPr lang="en" sz="13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en" sz="135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Links rot; downloads are often gated behind registration or access requests.</a:t>
              </a:r>
              <a:endParaRPr sz="135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4325" lvl="0" marL="457200" rtl="0" algn="l">
                <a:spcBef>
                  <a:spcPts val="900"/>
                </a:spcBef>
                <a:spcAft>
                  <a:spcPts val="900"/>
                </a:spcAft>
                <a:buClr>
                  <a:srgbClr val="111111"/>
                </a:buClr>
                <a:buSzPts val="1350"/>
                <a:buFont typeface="Inter"/>
                <a:buChar char="●"/>
              </a:pPr>
              <a:r>
                <a:rPr b="1" lang="en" sz="13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Detective Work:</a:t>
              </a:r>
              <a:r>
                <a:rPr lang="en" sz="13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en" sz="135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Format is frequently undocumented outside the paper itself.</a:t>
              </a:r>
              <a:endParaRPr sz="135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736" name="Google Shape;736;p27"/>
          <p:cNvSpPr txBox="1"/>
          <p:nvPr/>
        </p:nvSpPr>
        <p:spPr>
          <a:xfrm>
            <a:off x="7572375" y="1047750"/>
            <a:ext cx="14289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95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"Every model is a data problem before it's a model problem."</a:t>
            </a:r>
            <a:endParaRPr b="0" i="1" sz="95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844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FFCC00"/>
                </a:solidFill>
                <a:latin typeface="Space Grotesk"/>
                <a:ea typeface="Space Grotesk"/>
                <a:cs typeface="Space Grotesk"/>
                <a:sym typeface="Space Grotesk"/>
              </a:rPr>
              <a:t>S6</a:t>
            </a:r>
            <a:endParaRPr b="0" sz="95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F4F4F0"/>
                </a:solidFill>
                <a:latin typeface="Inter Medium"/>
                <a:ea typeface="Inter Medium"/>
                <a:cs typeface="Inter Medium"/>
                <a:sym typeface="Inter Medium"/>
              </a:rPr>
              <a:t>Research Papers</a:t>
            </a:r>
            <a:endParaRPr b="0" sz="90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844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FFCC00"/>
                </a:solidFill>
                <a:latin typeface="Space Grotesk"/>
                <a:ea typeface="Space Grotesk"/>
                <a:cs typeface="Space Grotesk"/>
                <a:sym typeface="Space Grotesk"/>
              </a:rPr>
              <a:t>High</a:t>
            </a:r>
            <a:endParaRPr b="0" sz="95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F4F4F0"/>
                </a:solidFill>
                <a:latin typeface="Inter Medium"/>
                <a:ea typeface="Inter Medium"/>
                <a:cs typeface="Inter Medium"/>
                <a:sym typeface="Inter Medium"/>
              </a:rPr>
              <a:t>Manual Effort</a:t>
            </a:r>
            <a:endParaRPr b="0" sz="90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844"/>
              </a:spcBef>
              <a:spcAft>
                <a:spcPts val="0"/>
              </a:spcAft>
              <a:buNone/>
            </a:pPr>
            <a:r>
              <a:rPr b="0" lang="en" sz="700">
                <a:solidFill>
                  <a:srgbClr val="FFCC00"/>
                </a:solidFill>
                <a:latin typeface="Inter Medium"/>
                <a:ea typeface="Inter Medium"/>
                <a:cs typeface="Inter Medium"/>
                <a:sym typeface="Inter Medium"/>
              </a:rPr>
              <a:t>* Complex formatting requires manual pipeline reconstruction</a:t>
            </a:r>
            <a:endParaRPr b="0" sz="70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2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4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28"/>
          <p:cNvSpPr/>
          <p:nvPr/>
        </p:nvSpPr>
        <p:spPr>
          <a:xfrm>
            <a:off x="7429500" y="0"/>
            <a:ext cx="1714500" cy="5143500"/>
          </a:xfrm>
          <a:prstGeom prst="rect">
            <a:avLst/>
          </a:prstGeom>
          <a:solidFill>
            <a:srgbClr val="0044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3" name="Google Shape;74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1400" y="0"/>
            <a:ext cx="762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4" name="Google Shape;744;p28"/>
          <p:cNvSpPr/>
          <p:nvPr/>
        </p:nvSpPr>
        <p:spPr>
          <a:xfrm>
            <a:off x="190500" y="190500"/>
            <a:ext cx="8763000" cy="4762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381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45" name="Google Shape;745;p28"/>
          <p:cNvGrpSpPr/>
          <p:nvPr/>
        </p:nvGrpSpPr>
        <p:grpSpPr>
          <a:xfrm>
            <a:off x="8058150" y="438150"/>
            <a:ext cx="457200" cy="457200"/>
            <a:chOff x="57150" y="57150"/>
            <a:chExt cx="457200" cy="457200"/>
          </a:xfrm>
        </p:grpSpPr>
        <p:sp>
          <p:nvSpPr>
            <p:cNvPr id="746" name="Google Shape;746;p28"/>
            <p:cNvSpPr/>
            <p:nvPr/>
          </p:nvSpPr>
          <p:spPr>
            <a:xfrm>
              <a:off x="57150" y="57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28"/>
            <p:cNvSpPr/>
            <p:nvPr/>
          </p:nvSpPr>
          <p:spPr>
            <a:xfrm>
              <a:off x="247650" y="57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28"/>
            <p:cNvSpPr/>
            <p:nvPr/>
          </p:nvSpPr>
          <p:spPr>
            <a:xfrm>
              <a:off x="438150" y="57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28"/>
            <p:cNvSpPr/>
            <p:nvPr/>
          </p:nvSpPr>
          <p:spPr>
            <a:xfrm>
              <a:off x="57150" y="2476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28"/>
            <p:cNvSpPr/>
            <p:nvPr/>
          </p:nvSpPr>
          <p:spPr>
            <a:xfrm>
              <a:off x="247650" y="2476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28"/>
            <p:cNvSpPr/>
            <p:nvPr/>
          </p:nvSpPr>
          <p:spPr>
            <a:xfrm>
              <a:off x="438150" y="2476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28"/>
            <p:cNvSpPr/>
            <p:nvPr/>
          </p:nvSpPr>
          <p:spPr>
            <a:xfrm>
              <a:off x="57150" y="438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28"/>
            <p:cNvSpPr/>
            <p:nvPr/>
          </p:nvSpPr>
          <p:spPr>
            <a:xfrm>
              <a:off x="247650" y="438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28"/>
            <p:cNvSpPr/>
            <p:nvPr/>
          </p:nvSpPr>
          <p:spPr>
            <a:xfrm>
              <a:off x="438150" y="438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5" name="Google Shape;755;p28"/>
          <p:cNvGrpSpPr/>
          <p:nvPr/>
        </p:nvGrpSpPr>
        <p:grpSpPr>
          <a:xfrm>
            <a:off x="7905750" y="4000500"/>
            <a:ext cx="762000" cy="713400"/>
            <a:chOff x="0" y="0"/>
            <a:chExt cx="762000" cy="713400"/>
          </a:xfrm>
        </p:grpSpPr>
        <p:sp>
          <p:nvSpPr>
            <p:cNvPr id="756" name="Google Shape;756;p28"/>
            <p:cNvSpPr/>
            <p:nvPr/>
          </p:nvSpPr>
          <p:spPr>
            <a:xfrm>
              <a:off x="0" y="0"/>
              <a:ext cx="762000" cy="713400"/>
            </a:xfrm>
            <a:custGeom>
              <a:rect b="b" l="l" r="r" t="t"/>
              <a:pathLst>
                <a:path extrusionOk="0" h="120000" w="120000">
                  <a:moveTo>
                    <a:pt x="0" y="31883"/>
                  </a:moveTo>
                  <a:lnTo>
                    <a:pt x="0" y="95968"/>
                  </a:lnTo>
                  <a:cubicBezTo>
                    <a:pt x="0" y="108785"/>
                    <a:pt x="27000" y="120000"/>
                    <a:pt x="60000" y="120000"/>
                  </a:cubicBezTo>
                  <a:cubicBezTo>
                    <a:pt x="93000" y="120000"/>
                    <a:pt x="120000" y="108785"/>
                    <a:pt x="120000" y="95968"/>
                  </a:cubicBezTo>
                  <a:lnTo>
                    <a:pt x="120000" y="0"/>
                  </a:lnTo>
                </a:path>
              </a:pathLst>
            </a:custGeom>
            <a:solidFill>
              <a:srgbClr val="00E676"/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28"/>
            <p:cNvSpPr/>
            <p:nvPr/>
          </p:nvSpPr>
          <p:spPr>
            <a:xfrm>
              <a:off x="0" y="0"/>
              <a:ext cx="762000" cy="285900"/>
            </a:xfrm>
            <a:prstGeom prst="ellipse">
              <a:avLst/>
            </a:prstGeom>
            <a:solidFill>
              <a:srgbClr val="00E676"/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28"/>
            <p:cNvSpPr/>
            <p:nvPr/>
          </p:nvSpPr>
          <p:spPr>
            <a:xfrm>
              <a:off x="0" y="190500"/>
              <a:ext cx="762000" cy="285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9" name="Google Shape;759;p28"/>
          <p:cNvSpPr txBox="1"/>
          <p:nvPr/>
        </p:nvSpPr>
        <p:spPr>
          <a:xfrm>
            <a:off x="476250" y="428625"/>
            <a:ext cx="6667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rPr>
              <a:t>SOURCE 7: MIXING MULTIPLE DATASETS</a:t>
            </a:r>
            <a:endParaRPr b="0" sz="2400">
              <a:solidFill>
                <a:srgbClr val="11111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760" name="Google Shape;760;p28"/>
          <p:cNvGrpSpPr/>
          <p:nvPr/>
        </p:nvGrpSpPr>
        <p:grpSpPr>
          <a:xfrm>
            <a:off x="461963" y="1128713"/>
            <a:ext cx="3195788" cy="3481388"/>
            <a:chOff x="-14287" y="-14287"/>
            <a:chExt cx="3195788" cy="3481388"/>
          </a:xfrm>
        </p:grpSpPr>
        <p:pic>
          <p:nvPicPr>
            <p:cNvPr id="761" name="Google Shape;761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8100" y="38100"/>
              <a:ext cx="3143400" cy="3429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2" name="Google Shape;762;p2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-14287" y="-14287"/>
              <a:ext cx="3171900" cy="34575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63" name="Google Shape;763;p28"/>
            <p:cNvGrpSpPr/>
            <p:nvPr/>
          </p:nvGrpSpPr>
          <p:grpSpPr>
            <a:xfrm>
              <a:off x="133350" y="133350"/>
              <a:ext cx="2876700" cy="352500"/>
              <a:chOff x="-9525" y="-9525"/>
              <a:chExt cx="2876700" cy="352500"/>
            </a:xfrm>
          </p:grpSpPr>
          <p:pic>
            <p:nvPicPr>
              <p:cNvPr id="764" name="Google Shape;764;p28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-9525" y="-9525"/>
                <a:ext cx="2876700" cy="3525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65" name="Google Shape;765;p28"/>
              <p:cNvSpPr txBox="1"/>
              <p:nvPr/>
            </p:nvSpPr>
            <p:spPr>
              <a:xfrm>
                <a:off x="0" y="0"/>
                <a:ext cx="28575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111111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S7: DATASET INTEGRATION</a:t>
                </a:r>
                <a:endParaRPr b="0" sz="105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grpSp>
          <p:nvGrpSpPr>
            <p:cNvPr id="766" name="Google Shape;766;p28"/>
            <p:cNvGrpSpPr/>
            <p:nvPr/>
          </p:nvGrpSpPr>
          <p:grpSpPr>
            <a:xfrm>
              <a:off x="133350" y="609600"/>
              <a:ext cx="257100" cy="257100"/>
              <a:chOff x="-9525" y="-9525"/>
              <a:chExt cx="257100" cy="257100"/>
            </a:xfrm>
          </p:grpSpPr>
          <p:pic>
            <p:nvPicPr>
              <p:cNvPr id="767" name="Google Shape;767;p28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-9525" y="-9525"/>
                <a:ext cx="257100" cy="2571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68" name="Google Shape;768;p28"/>
              <p:cNvSpPr txBox="1"/>
              <p:nvPr/>
            </p:nvSpPr>
            <p:spPr>
              <a:xfrm>
                <a:off x="0" y="0"/>
                <a:ext cx="2382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S7</a:t>
                </a:r>
                <a:endParaRPr b="0" sz="9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sp>
          <p:nvSpPr>
            <p:cNvPr id="769" name="Google Shape;769;p28"/>
            <p:cNvSpPr txBox="1"/>
            <p:nvPr/>
          </p:nvSpPr>
          <p:spPr>
            <a:xfrm>
              <a:off x="476250" y="619125"/>
              <a:ext cx="25242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55555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THE APPROACH</a:t>
              </a:r>
              <a:endParaRPr b="1" sz="900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Blending Multi-Source Inputs</a:t>
              </a:r>
              <a:endParaRPr b="0" sz="1350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-317500" lvl="0" marL="457200" rtl="0" algn="l">
                <a:spcBef>
                  <a:spcPts val="450"/>
                </a:spcBef>
                <a:spcAft>
                  <a:spcPts val="0"/>
                </a:spcAft>
                <a:buSzPts val="1400"/>
                <a:buChar char="●"/>
              </a:pPr>
              <a:r>
                <a:rPr b="1" lang="en" sz="1600"/>
                <a:t>What it is:</a:t>
              </a:r>
              <a:r>
                <a:rPr lang="en" sz="1600"/>
                <a:t> </a:t>
              </a:r>
              <a:r>
                <a:rPr b="0" lang="en" sz="125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Combining 2+ datasets on the same task from different sources for size/diversity.</a:t>
              </a:r>
              <a:endParaRPr sz="1600"/>
            </a:p>
            <a:p>
              <a:pPr indent="-317500" lvl="0" marL="457200" rtl="0" algn="l">
                <a:spcBef>
                  <a:spcPts val="600"/>
                </a:spcBef>
                <a:spcAft>
                  <a:spcPts val="600"/>
                </a:spcAft>
                <a:buSzPts val="1400"/>
                <a:buChar char="●"/>
              </a:pPr>
              <a:r>
                <a:rPr b="1" lang="en" sz="1600"/>
                <a:t>How:</a:t>
              </a:r>
              <a:r>
                <a:rPr lang="en" sz="1600"/>
                <a:t> </a:t>
              </a:r>
              <a:r>
                <a:rPr b="0" lang="en" sz="125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Harmonize schemas and label definitions across sources before merging.</a:t>
              </a:r>
              <a:endParaRPr sz="1600"/>
            </a:p>
          </p:txBody>
        </p:sp>
      </p:grpSp>
      <p:grpSp>
        <p:nvGrpSpPr>
          <p:cNvPr id="770" name="Google Shape;770;p28"/>
          <p:cNvGrpSpPr/>
          <p:nvPr/>
        </p:nvGrpSpPr>
        <p:grpSpPr>
          <a:xfrm>
            <a:off x="3890963" y="1128713"/>
            <a:ext cx="3195788" cy="3481388"/>
            <a:chOff x="-14287" y="-14287"/>
            <a:chExt cx="3195788" cy="3481388"/>
          </a:xfrm>
        </p:grpSpPr>
        <p:pic>
          <p:nvPicPr>
            <p:cNvPr id="771" name="Google Shape;771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8100" y="38100"/>
              <a:ext cx="3143400" cy="3429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2" name="Google Shape;772;p2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-14287" y="-14287"/>
              <a:ext cx="3171900" cy="34575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73" name="Google Shape;773;p28"/>
            <p:cNvGrpSpPr/>
            <p:nvPr/>
          </p:nvGrpSpPr>
          <p:grpSpPr>
            <a:xfrm>
              <a:off x="133350" y="133350"/>
              <a:ext cx="2876700" cy="352500"/>
              <a:chOff x="-9525" y="-9525"/>
              <a:chExt cx="2876700" cy="352500"/>
            </a:xfrm>
          </p:grpSpPr>
          <p:pic>
            <p:nvPicPr>
              <p:cNvPr id="774" name="Google Shape;774;p28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-9525" y="-9525"/>
                <a:ext cx="2876700" cy="3525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75" name="Google Shape;775;p28"/>
              <p:cNvSpPr txBox="1"/>
              <p:nvPr/>
            </p:nvSpPr>
            <p:spPr>
              <a:xfrm>
                <a:off x="0" y="0"/>
                <a:ext cx="28575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111111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STRATEGY &amp; CHALLENGES</a:t>
                </a:r>
                <a:endParaRPr b="0" sz="105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sp>
          <p:nvSpPr>
            <p:cNvPr id="776" name="Google Shape;776;p28"/>
            <p:cNvSpPr txBox="1"/>
            <p:nvPr/>
          </p:nvSpPr>
          <p:spPr>
            <a:xfrm>
              <a:off x="476250" y="714375"/>
              <a:ext cx="25242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55555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THE BARRIER</a:t>
              </a:r>
              <a:endParaRPr b="1" sz="800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25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Why It's Hard</a:t>
              </a:r>
              <a:endParaRPr b="0" sz="1250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Every source brings its own custom format, unique labeling standard, and distinct license limitations.</a:t>
              </a:r>
              <a:endParaRPr b="0" sz="1150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grpSp>
          <p:nvGrpSpPr>
            <p:cNvPr id="777" name="Google Shape;777;p28"/>
            <p:cNvGrpSpPr/>
            <p:nvPr/>
          </p:nvGrpSpPr>
          <p:grpSpPr>
            <a:xfrm>
              <a:off x="133350" y="2466975"/>
              <a:ext cx="2876700" cy="638100"/>
              <a:chOff x="-9525" y="-9525"/>
              <a:chExt cx="2876700" cy="638100"/>
            </a:xfrm>
          </p:grpSpPr>
          <p:pic>
            <p:nvPicPr>
              <p:cNvPr id="778" name="Google Shape;778;p28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-9525" y="-9525"/>
                <a:ext cx="2876700" cy="6381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79" name="Google Shape;779;p28"/>
              <p:cNvSpPr txBox="1"/>
              <p:nvPr/>
            </p:nvSpPr>
            <p:spPr>
              <a:xfrm>
                <a:off x="0" y="0"/>
                <a:ext cx="28575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142875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700">
                    <a:solidFill>
                      <a:srgbClr val="FFCC00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TIME TO FIRST DATASET</a:t>
                </a:r>
                <a:endParaRPr b="1" sz="700">
                  <a:solidFill>
                    <a:srgbClr val="FFCC00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Hours of Alignment*</a:t>
                </a:r>
                <a:endParaRPr b="0" sz="15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</p:grpSp>
      <p:sp>
        <p:nvSpPr>
          <p:cNvPr id="780" name="Google Shape;780;p28"/>
          <p:cNvSpPr txBox="1"/>
          <p:nvPr/>
        </p:nvSpPr>
        <p:spPr>
          <a:xfrm>
            <a:off x="7572375" y="1047750"/>
            <a:ext cx="14289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95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"Every model is a data problem before it's a model problem."</a:t>
            </a:r>
            <a:endParaRPr b="0" i="1" sz="95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825"/>
              </a:spcBef>
              <a:spcAft>
                <a:spcPts val="0"/>
              </a:spcAft>
              <a:buNone/>
            </a:pPr>
            <a:r>
              <a:rPr b="0" i="1" lang="en" sz="2600">
                <a:solidFill>
                  <a:srgbClr val="FFCC00"/>
                </a:solidFill>
                <a:latin typeface="Space Grotesk"/>
                <a:ea typeface="Space Grotesk"/>
                <a:cs typeface="Space Grotesk"/>
                <a:sym typeface="Space Grotesk"/>
              </a:rPr>
              <a:t>S7</a:t>
            </a:r>
            <a:endParaRPr b="0" i="1" sz="2600">
              <a:solidFill>
                <a:srgbClr val="FFCC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900">
                <a:solidFill>
                  <a:srgbClr val="F4F4F0"/>
                </a:solidFill>
                <a:latin typeface="Inter Medium"/>
                <a:ea typeface="Inter Medium"/>
                <a:cs typeface="Inter Medium"/>
                <a:sym typeface="Inter Medium"/>
              </a:rPr>
              <a:t>Mixed Sources</a:t>
            </a:r>
            <a:endParaRPr b="0" i="1" sz="900">
              <a:solidFill>
                <a:srgbClr val="F4F4F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825"/>
              </a:spcBef>
              <a:spcAft>
                <a:spcPts val="0"/>
              </a:spcAft>
              <a:buNone/>
            </a:pPr>
            <a:r>
              <a:rPr b="0" i="1" lang="en" sz="2600">
                <a:solidFill>
                  <a:srgbClr val="FFCC00"/>
                </a:solidFill>
                <a:latin typeface="Space Grotesk"/>
                <a:ea typeface="Space Grotesk"/>
                <a:cs typeface="Space Grotesk"/>
                <a:sym typeface="Space Grotesk"/>
              </a:rPr>
              <a:t>Hours</a:t>
            </a:r>
            <a:endParaRPr b="0" i="1" sz="2600">
              <a:solidFill>
                <a:srgbClr val="FFCC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900">
                <a:solidFill>
                  <a:srgbClr val="F4F4F0"/>
                </a:solidFill>
                <a:latin typeface="Inter Medium"/>
                <a:ea typeface="Inter Medium"/>
                <a:cs typeface="Inter Medium"/>
                <a:sym typeface="Inter Medium"/>
              </a:rPr>
              <a:t>Acquisition</a:t>
            </a:r>
            <a:endParaRPr b="0" i="1" sz="900">
              <a:solidFill>
                <a:srgbClr val="F4F4F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825"/>
              </a:spcBef>
              <a:spcAft>
                <a:spcPts val="0"/>
              </a:spcAft>
              <a:buNone/>
            </a:pPr>
            <a:r>
              <a:rPr b="0" i="1" lang="en" sz="700">
                <a:solidFill>
                  <a:srgbClr val="FFCC00"/>
                </a:solidFill>
                <a:latin typeface="Inter Medium"/>
                <a:ea typeface="Inter Medium"/>
                <a:cs typeface="Inter Medium"/>
                <a:sym typeface="Inter Medium"/>
              </a:rPr>
              <a:t>* Requires tedious schema validation and metadata deduplication</a:t>
            </a:r>
            <a:endParaRPr b="0" i="1" sz="700">
              <a:solidFill>
                <a:srgbClr val="FFCC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2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4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29"/>
          <p:cNvSpPr/>
          <p:nvPr/>
        </p:nvSpPr>
        <p:spPr>
          <a:xfrm>
            <a:off x="7429500" y="0"/>
            <a:ext cx="1714500" cy="5143500"/>
          </a:xfrm>
          <a:prstGeom prst="rect">
            <a:avLst/>
          </a:prstGeom>
          <a:solidFill>
            <a:srgbClr val="0044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87" name="Google Shape;787;p29"/>
          <p:cNvCxnSpPr/>
          <p:nvPr/>
        </p:nvCxnSpPr>
        <p:spPr>
          <a:xfrm>
            <a:off x="7429500" y="0"/>
            <a:ext cx="0" cy="5143500"/>
          </a:xfrm>
          <a:prstGeom prst="straightConnector1">
            <a:avLst/>
          </a:prstGeom>
          <a:solidFill>
            <a:srgbClr val="FFFFFF"/>
          </a:solidFill>
          <a:ln cap="flat" cmpd="sng" w="762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8" name="Google Shape;788;p29"/>
          <p:cNvSpPr/>
          <p:nvPr/>
        </p:nvSpPr>
        <p:spPr>
          <a:xfrm>
            <a:off x="190500" y="190500"/>
            <a:ext cx="8763000" cy="4762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381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89" name="Google Shape;789;p29"/>
          <p:cNvGrpSpPr/>
          <p:nvPr/>
        </p:nvGrpSpPr>
        <p:grpSpPr>
          <a:xfrm>
            <a:off x="8058150" y="438150"/>
            <a:ext cx="457200" cy="457200"/>
            <a:chOff x="57150" y="57150"/>
            <a:chExt cx="457200" cy="457200"/>
          </a:xfrm>
        </p:grpSpPr>
        <p:sp>
          <p:nvSpPr>
            <p:cNvPr id="790" name="Google Shape;790;p29"/>
            <p:cNvSpPr/>
            <p:nvPr/>
          </p:nvSpPr>
          <p:spPr>
            <a:xfrm>
              <a:off x="57150" y="57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29"/>
            <p:cNvSpPr/>
            <p:nvPr/>
          </p:nvSpPr>
          <p:spPr>
            <a:xfrm>
              <a:off x="247650" y="57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29"/>
            <p:cNvSpPr/>
            <p:nvPr/>
          </p:nvSpPr>
          <p:spPr>
            <a:xfrm>
              <a:off x="438150" y="57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29"/>
            <p:cNvSpPr/>
            <p:nvPr/>
          </p:nvSpPr>
          <p:spPr>
            <a:xfrm>
              <a:off x="57150" y="2476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29"/>
            <p:cNvSpPr/>
            <p:nvPr/>
          </p:nvSpPr>
          <p:spPr>
            <a:xfrm>
              <a:off x="247650" y="2476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29"/>
            <p:cNvSpPr/>
            <p:nvPr/>
          </p:nvSpPr>
          <p:spPr>
            <a:xfrm>
              <a:off x="438150" y="2476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29"/>
            <p:cNvSpPr/>
            <p:nvPr/>
          </p:nvSpPr>
          <p:spPr>
            <a:xfrm>
              <a:off x="57150" y="438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29"/>
            <p:cNvSpPr/>
            <p:nvPr/>
          </p:nvSpPr>
          <p:spPr>
            <a:xfrm>
              <a:off x="247650" y="438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29"/>
            <p:cNvSpPr/>
            <p:nvPr/>
          </p:nvSpPr>
          <p:spPr>
            <a:xfrm>
              <a:off x="438150" y="438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9" name="Google Shape;799;p29"/>
          <p:cNvGrpSpPr/>
          <p:nvPr/>
        </p:nvGrpSpPr>
        <p:grpSpPr>
          <a:xfrm>
            <a:off x="7905750" y="4000500"/>
            <a:ext cx="762000" cy="713400"/>
            <a:chOff x="0" y="0"/>
            <a:chExt cx="762000" cy="713400"/>
          </a:xfrm>
        </p:grpSpPr>
        <p:sp>
          <p:nvSpPr>
            <p:cNvPr id="800" name="Google Shape;800;p29"/>
            <p:cNvSpPr/>
            <p:nvPr/>
          </p:nvSpPr>
          <p:spPr>
            <a:xfrm>
              <a:off x="0" y="0"/>
              <a:ext cx="762000" cy="713400"/>
            </a:xfrm>
            <a:custGeom>
              <a:rect b="b" l="l" r="r" t="t"/>
              <a:pathLst>
                <a:path extrusionOk="0" h="120000" w="120000">
                  <a:moveTo>
                    <a:pt x="0" y="31883"/>
                  </a:moveTo>
                  <a:lnTo>
                    <a:pt x="0" y="95968"/>
                  </a:lnTo>
                  <a:cubicBezTo>
                    <a:pt x="0" y="108785"/>
                    <a:pt x="27000" y="120000"/>
                    <a:pt x="60000" y="120000"/>
                  </a:cubicBezTo>
                  <a:cubicBezTo>
                    <a:pt x="93000" y="120000"/>
                    <a:pt x="120000" y="108785"/>
                    <a:pt x="120000" y="95968"/>
                  </a:cubicBezTo>
                  <a:lnTo>
                    <a:pt x="120000" y="0"/>
                  </a:lnTo>
                </a:path>
              </a:pathLst>
            </a:custGeom>
            <a:solidFill>
              <a:srgbClr val="00E676"/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29"/>
            <p:cNvSpPr/>
            <p:nvPr/>
          </p:nvSpPr>
          <p:spPr>
            <a:xfrm>
              <a:off x="0" y="0"/>
              <a:ext cx="762000" cy="285900"/>
            </a:xfrm>
            <a:prstGeom prst="ellipse">
              <a:avLst/>
            </a:prstGeom>
            <a:solidFill>
              <a:srgbClr val="00E676"/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29"/>
            <p:cNvSpPr/>
            <p:nvPr/>
          </p:nvSpPr>
          <p:spPr>
            <a:xfrm>
              <a:off x="0" y="190500"/>
              <a:ext cx="762000" cy="285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03" name="Google Shape;803;p29"/>
          <p:cNvSpPr txBox="1"/>
          <p:nvPr/>
        </p:nvSpPr>
        <p:spPr>
          <a:xfrm>
            <a:off x="476250" y="428625"/>
            <a:ext cx="6667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800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rPr>
              <a:t>SOURCE 7: PROS &amp; CONS</a:t>
            </a:r>
            <a:endParaRPr b="0" sz="2800">
              <a:solidFill>
                <a:srgbClr val="11111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804" name="Google Shape;804;p29"/>
          <p:cNvGrpSpPr/>
          <p:nvPr/>
        </p:nvGrpSpPr>
        <p:grpSpPr>
          <a:xfrm>
            <a:off x="476250" y="1143000"/>
            <a:ext cx="3181500" cy="3467100"/>
            <a:chOff x="0" y="0"/>
            <a:chExt cx="3181500" cy="3467100"/>
          </a:xfrm>
        </p:grpSpPr>
        <p:sp>
          <p:nvSpPr>
            <p:cNvPr id="805" name="Google Shape;805;p29"/>
            <p:cNvSpPr/>
            <p:nvPr/>
          </p:nvSpPr>
          <p:spPr>
            <a:xfrm>
              <a:off x="0" y="0"/>
              <a:ext cx="3143400" cy="3429000"/>
            </a:xfrm>
            <a:prstGeom prst="roundRect">
              <a:avLst>
                <a:gd fmla="val 1818" name="adj"/>
              </a:avLst>
            </a:prstGeom>
            <a:solidFill>
              <a:srgbClr val="FFFFFF"/>
            </a:solidFill>
            <a:ln cap="flat" cmpd="sng" w="28575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29"/>
            <p:cNvSpPr/>
            <p:nvPr/>
          </p:nvSpPr>
          <p:spPr>
            <a:xfrm>
              <a:off x="38100" y="38100"/>
              <a:ext cx="3143400" cy="3429000"/>
            </a:xfrm>
            <a:prstGeom prst="roundRect">
              <a:avLst>
                <a:gd fmla="val 1818" name="adj"/>
              </a:avLst>
            </a:prstGeom>
            <a:solidFill>
              <a:srgbClr val="111111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07" name="Google Shape;807;p29"/>
            <p:cNvGrpSpPr/>
            <p:nvPr/>
          </p:nvGrpSpPr>
          <p:grpSpPr>
            <a:xfrm>
              <a:off x="142875" y="142875"/>
              <a:ext cx="2857500" cy="333300"/>
              <a:chOff x="0" y="0"/>
              <a:chExt cx="2857500" cy="333300"/>
            </a:xfrm>
          </p:grpSpPr>
          <p:sp>
            <p:nvSpPr>
              <p:cNvPr id="808" name="Google Shape;808;p29"/>
              <p:cNvSpPr/>
              <p:nvPr/>
            </p:nvSpPr>
            <p:spPr>
              <a:xfrm>
                <a:off x="0" y="0"/>
                <a:ext cx="2857500" cy="333300"/>
              </a:xfrm>
              <a:prstGeom prst="roundRect">
                <a:avLst>
                  <a:gd fmla="val 11428" name="adj"/>
                </a:avLst>
              </a:prstGeom>
              <a:solidFill>
                <a:srgbClr val="00E676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9" name="Google Shape;809;p29"/>
              <p:cNvSpPr txBox="1"/>
              <p:nvPr/>
            </p:nvSpPr>
            <p:spPr>
              <a:xfrm>
                <a:off x="0" y="0"/>
                <a:ext cx="28575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111111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ADVANTAGES / PROS</a:t>
                </a:r>
                <a:endParaRPr b="0" sz="110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grpSp>
          <p:nvGrpSpPr>
            <p:cNvPr id="810" name="Google Shape;810;p29"/>
            <p:cNvGrpSpPr/>
            <p:nvPr/>
          </p:nvGrpSpPr>
          <p:grpSpPr>
            <a:xfrm>
              <a:off x="142875" y="619125"/>
              <a:ext cx="238200" cy="238200"/>
              <a:chOff x="0" y="0"/>
              <a:chExt cx="238200" cy="238200"/>
            </a:xfrm>
          </p:grpSpPr>
          <p:sp>
            <p:nvSpPr>
              <p:cNvPr id="811" name="Google Shape;811;p29"/>
              <p:cNvSpPr/>
              <p:nvPr/>
            </p:nvSpPr>
            <p:spPr>
              <a:xfrm>
                <a:off x="0" y="0"/>
                <a:ext cx="238200" cy="238200"/>
              </a:xfrm>
              <a:prstGeom prst="roundRect">
                <a:avLst>
                  <a:gd fmla="val 16000" name="adj"/>
                </a:avLst>
              </a:prstGeom>
              <a:solidFill>
                <a:srgbClr val="0044FF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2" name="Google Shape;812;p29"/>
              <p:cNvSpPr txBox="1"/>
              <p:nvPr/>
            </p:nvSpPr>
            <p:spPr>
              <a:xfrm>
                <a:off x="0" y="0"/>
                <a:ext cx="2382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+</a:t>
                </a:r>
                <a:endParaRPr b="0" sz="11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sp>
          <p:nvSpPr>
            <p:cNvPr id="813" name="Google Shape;813;p29"/>
            <p:cNvSpPr txBox="1"/>
            <p:nvPr/>
          </p:nvSpPr>
          <p:spPr>
            <a:xfrm>
              <a:off x="476250" y="619125"/>
              <a:ext cx="25242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55555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SCALE &amp; ROBUSTNESS</a:t>
              </a:r>
              <a:endParaRPr b="1" sz="850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506"/>
                </a:spcBef>
                <a:spcAft>
                  <a:spcPts val="0"/>
                </a:spcAft>
                <a:buNone/>
              </a:pPr>
              <a:r>
                <a:rPr b="0" lang="en" sz="131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Synergistic Integration</a:t>
              </a:r>
              <a:endParaRPr b="0" sz="1310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-307975" lvl="0" marL="457200" rtl="0" algn="l">
                <a:spcBef>
                  <a:spcPts val="506"/>
                </a:spcBef>
                <a:spcAft>
                  <a:spcPts val="0"/>
                </a:spcAft>
                <a:buClr>
                  <a:srgbClr val="111111"/>
                </a:buClr>
                <a:buSzPts val="1250"/>
                <a:buFont typeface="Inter"/>
                <a:buChar char="●"/>
              </a:pPr>
              <a:r>
                <a:rPr b="1" lang="en" sz="12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Size &amp; diversity:</a:t>
              </a:r>
              <a:r>
                <a:rPr b="0" lang="en" sz="125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Increases datasets in one move, covering critical gaps that no single source could satisfy.</a:t>
              </a:r>
              <a:endParaRPr b="0" sz="1250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307975" lvl="0" marL="457200" rtl="0" algn="l">
                <a:spcBef>
                  <a:spcPts val="600"/>
                </a:spcBef>
                <a:spcAft>
                  <a:spcPts val="600"/>
                </a:spcAft>
                <a:buClr>
                  <a:srgbClr val="111111"/>
                </a:buClr>
                <a:buSzPts val="1250"/>
                <a:buFont typeface="Inter"/>
                <a:buChar char="●"/>
              </a:pPr>
              <a:r>
                <a:rPr b="1" lang="en" sz="12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Distribution testing:</a:t>
              </a:r>
              <a:r>
                <a:rPr b="0" lang="en" sz="125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Highly effective for establishing robustness checks across disparate data distributions.</a:t>
              </a:r>
              <a:endParaRPr b="0" sz="1250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814" name="Google Shape;814;p29"/>
          <p:cNvGrpSpPr/>
          <p:nvPr/>
        </p:nvGrpSpPr>
        <p:grpSpPr>
          <a:xfrm>
            <a:off x="3905250" y="1143000"/>
            <a:ext cx="3181500" cy="3467100"/>
            <a:chOff x="0" y="0"/>
            <a:chExt cx="3181500" cy="3467100"/>
          </a:xfrm>
        </p:grpSpPr>
        <p:sp>
          <p:nvSpPr>
            <p:cNvPr id="815" name="Google Shape;815;p29"/>
            <p:cNvSpPr/>
            <p:nvPr/>
          </p:nvSpPr>
          <p:spPr>
            <a:xfrm>
              <a:off x="0" y="0"/>
              <a:ext cx="3143400" cy="3429000"/>
            </a:xfrm>
            <a:prstGeom prst="roundRect">
              <a:avLst>
                <a:gd fmla="val 1818" name="adj"/>
              </a:avLst>
            </a:prstGeom>
            <a:solidFill>
              <a:srgbClr val="FFFFFF"/>
            </a:solidFill>
            <a:ln cap="flat" cmpd="sng" w="28575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29"/>
            <p:cNvSpPr/>
            <p:nvPr/>
          </p:nvSpPr>
          <p:spPr>
            <a:xfrm>
              <a:off x="38100" y="38100"/>
              <a:ext cx="3143400" cy="3429000"/>
            </a:xfrm>
            <a:prstGeom prst="roundRect">
              <a:avLst>
                <a:gd fmla="val 1818" name="adj"/>
              </a:avLst>
            </a:prstGeom>
            <a:solidFill>
              <a:srgbClr val="111111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17" name="Google Shape;817;p29"/>
            <p:cNvGrpSpPr/>
            <p:nvPr/>
          </p:nvGrpSpPr>
          <p:grpSpPr>
            <a:xfrm>
              <a:off x="142875" y="142875"/>
              <a:ext cx="2857500" cy="333300"/>
              <a:chOff x="0" y="0"/>
              <a:chExt cx="2857500" cy="333300"/>
            </a:xfrm>
          </p:grpSpPr>
          <p:sp>
            <p:nvSpPr>
              <p:cNvPr id="818" name="Google Shape;818;p29"/>
              <p:cNvSpPr/>
              <p:nvPr/>
            </p:nvSpPr>
            <p:spPr>
              <a:xfrm>
                <a:off x="0" y="0"/>
                <a:ext cx="2857500" cy="333300"/>
              </a:xfrm>
              <a:prstGeom prst="roundRect">
                <a:avLst>
                  <a:gd fmla="val 11428" name="adj"/>
                </a:avLst>
              </a:prstGeom>
              <a:solidFill>
                <a:srgbClr val="FFCC00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9" name="Google Shape;819;p29"/>
              <p:cNvSpPr txBox="1"/>
              <p:nvPr/>
            </p:nvSpPr>
            <p:spPr>
              <a:xfrm>
                <a:off x="0" y="0"/>
                <a:ext cx="28575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111111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DISADVANTAGES / CONS</a:t>
                </a:r>
                <a:endParaRPr b="0" sz="110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grpSp>
          <p:nvGrpSpPr>
            <p:cNvPr id="820" name="Google Shape;820;p29"/>
            <p:cNvGrpSpPr/>
            <p:nvPr/>
          </p:nvGrpSpPr>
          <p:grpSpPr>
            <a:xfrm>
              <a:off x="142875" y="619125"/>
              <a:ext cx="238200" cy="238200"/>
              <a:chOff x="0" y="0"/>
              <a:chExt cx="238200" cy="238200"/>
            </a:xfrm>
          </p:grpSpPr>
          <p:sp>
            <p:nvSpPr>
              <p:cNvPr id="821" name="Google Shape;821;p29"/>
              <p:cNvSpPr/>
              <p:nvPr/>
            </p:nvSpPr>
            <p:spPr>
              <a:xfrm>
                <a:off x="0" y="0"/>
                <a:ext cx="238200" cy="238200"/>
              </a:xfrm>
              <a:prstGeom prst="roundRect">
                <a:avLst>
                  <a:gd fmla="val 16000" name="adj"/>
                </a:avLst>
              </a:prstGeom>
              <a:solidFill>
                <a:srgbClr val="111111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2" name="Google Shape;822;p29"/>
              <p:cNvSpPr txBox="1"/>
              <p:nvPr/>
            </p:nvSpPr>
            <p:spPr>
              <a:xfrm>
                <a:off x="0" y="0"/>
                <a:ext cx="2382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-</a:t>
                </a:r>
                <a:endParaRPr b="0" sz="11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sp>
          <p:nvSpPr>
            <p:cNvPr id="823" name="Google Shape;823;p29"/>
            <p:cNvSpPr txBox="1"/>
            <p:nvPr/>
          </p:nvSpPr>
          <p:spPr>
            <a:xfrm>
              <a:off x="476250" y="619125"/>
              <a:ext cx="25242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55555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MISMATCHES &amp; LICENSING</a:t>
              </a:r>
              <a:endParaRPr b="1" sz="850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506"/>
                </a:spcBef>
                <a:spcAft>
                  <a:spcPts val="0"/>
                </a:spcAft>
                <a:buNone/>
              </a:pPr>
              <a:r>
                <a:rPr b="0" lang="en" sz="131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Inherent Integration Friction</a:t>
              </a:r>
              <a:endParaRPr b="0" sz="1310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-307975" lvl="0" marL="457200" rtl="0" algn="l">
                <a:spcBef>
                  <a:spcPts val="506"/>
                </a:spcBef>
                <a:spcAft>
                  <a:spcPts val="0"/>
                </a:spcAft>
                <a:buClr>
                  <a:srgbClr val="111111"/>
                </a:buClr>
                <a:buSzPts val="1250"/>
                <a:buFont typeface="Inter"/>
                <a:buChar char="●"/>
              </a:pPr>
              <a:r>
                <a:rPr b="1" lang="en" sz="12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Harmonization barriers:</a:t>
              </a:r>
              <a:r>
                <a:rPr b="0" lang="en" sz="125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Direct schema/label mismatches and uneven collection standards across sources.</a:t>
              </a:r>
              <a:endParaRPr b="0" sz="1250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307975" lvl="0" marL="457200" rtl="0" algn="l">
                <a:spcBef>
                  <a:spcPts val="600"/>
                </a:spcBef>
                <a:spcAft>
                  <a:spcPts val="600"/>
                </a:spcAft>
                <a:buClr>
                  <a:srgbClr val="111111"/>
                </a:buClr>
                <a:buSzPts val="1250"/>
                <a:buFont typeface="Inter"/>
                <a:buChar char="●"/>
              </a:pPr>
              <a:r>
                <a:rPr b="1" lang="en" sz="12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Legal complexity:</a:t>
              </a:r>
              <a:r>
                <a:rPr b="0" lang="en" sz="125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Each source license must be vetted; a single restrictive term taints the entire merged dataset.</a:t>
              </a:r>
              <a:endParaRPr b="0" sz="1250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824" name="Google Shape;824;p29"/>
          <p:cNvSpPr txBox="1"/>
          <p:nvPr/>
        </p:nvSpPr>
        <p:spPr>
          <a:xfrm>
            <a:off x="7572375" y="1047750"/>
            <a:ext cx="14289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95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"Every model is a data problem before it's a model problem."</a:t>
            </a:r>
            <a:endParaRPr b="0" i="1" sz="95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844"/>
              </a:spcBef>
              <a:spcAft>
                <a:spcPts val="0"/>
              </a:spcAft>
              <a:buNone/>
            </a:pPr>
            <a:r>
              <a:rPr b="0" i="1" lang="en" sz="2600">
                <a:solidFill>
                  <a:srgbClr val="FFCC00"/>
                </a:solidFill>
                <a:latin typeface="Space Grotesk"/>
                <a:ea typeface="Space Grotesk"/>
                <a:cs typeface="Space Grotesk"/>
                <a:sym typeface="Space Grotesk"/>
              </a:rPr>
              <a:t>S7</a:t>
            </a:r>
            <a:endParaRPr b="0" i="1" sz="2600">
              <a:solidFill>
                <a:srgbClr val="FFCC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113"/>
              </a:spcBef>
              <a:spcAft>
                <a:spcPts val="0"/>
              </a:spcAft>
              <a:buNone/>
            </a:pPr>
            <a:r>
              <a:rPr b="0" i="1" lang="en" sz="900">
                <a:solidFill>
                  <a:srgbClr val="F4F4F0"/>
                </a:solidFill>
                <a:latin typeface="Inter Medium"/>
                <a:ea typeface="Inter Medium"/>
                <a:cs typeface="Inter Medium"/>
                <a:sym typeface="Inter Medium"/>
              </a:rPr>
              <a:t>Mixed Sources</a:t>
            </a:r>
            <a:endParaRPr b="0" i="1" sz="900">
              <a:solidFill>
                <a:srgbClr val="F4F4F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844"/>
              </a:spcBef>
              <a:spcAft>
                <a:spcPts val="0"/>
              </a:spcAft>
              <a:buNone/>
            </a:pPr>
            <a:r>
              <a:rPr b="0" i="1" lang="en" sz="2600">
                <a:solidFill>
                  <a:srgbClr val="FFCC00"/>
                </a:solidFill>
                <a:latin typeface="Space Grotesk"/>
                <a:ea typeface="Space Grotesk"/>
                <a:cs typeface="Space Grotesk"/>
                <a:sym typeface="Space Grotesk"/>
              </a:rPr>
              <a:t>High</a:t>
            </a:r>
            <a:endParaRPr b="0" i="1" sz="2600">
              <a:solidFill>
                <a:srgbClr val="FFCC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113"/>
              </a:spcBef>
              <a:spcAft>
                <a:spcPts val="0"/>
              </a:spcAft>
              <a:buNone/>
            </a:pPr>
            <a:r>
              <a:rPr b="0" i="1" lang="en" sz="900">
                <a:solidFill>
                  <a:srgbClr val="F4F4F0"/>
                </a:solidFill>
                <a:latin typeface="Inter Medium"/>
                <a:ea typeface="Inter Medium"/>
                <a:cs typeface="Inter Medium"/>
                <a:sym typeface="Inter Medium"/>
              </a:rPr>
              <a:t>Friction Bar</a:t>
            </a:r>
            <a:endParaRPr b="0" i="1" sz="900">
              <a:solidFill>
                <a:srgbClr val="F4F4F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844"/>
              </a:spcBef>
              <a:spcAft>
                <a:spcPts val="0"/>
              </a:spcAft>
              <a:buNone/>
            </a:pPr>
            <a:r>
              <a:rPr b="0" i="1" lang="en" sz="700">
                <a:solidFill>
                  <a:srgbClr val="FFCC00"/>
                </a:solidFill>
                <a:latin typeface="Inter Medium"/>
                <a:ea typeface="Inter Medium"/>
                <a:cs typeface="Inter Medium"/>
                <a:sym typeface="Inter Medium"/>
              </a:rPr>
              <a:t>* Requires manual alignment of disparate schemas and individual licensing audits</a:t>
            </a:r>
            <a:endParaRPr b="0" i="1" sz="700">
              <a:solidFill>
                <a:srgbClr val="FFCC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3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4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30"/>
          <p:cNvSpPr/>
          <p:nvPr/>
        </p:nvSpPr>
        <p:spPr>
          <a:xfrm>
            <a:off x="7429500" y="0"/>
            <a:ext cx="1714500" cy="5143500"/>
          </a:xfrm>
          <a:prstGeom prst="rect">
            <a:avLst/>
          </a:prstGeom>
          <a:solidFill>
            <a:srgbClr val="0044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31" name="Google Shape;831;p30"/>
          <p:cNvCxnSpPr/>
          <p:nvPr/>
        </p:nvCxnSpPr>
        <p:spPr>
          <a:xfrm>
            <a:off x="7429500" y="0"/>
            <a:ext cx="0" cy="5143500"/>
          </a:xfrm>
          <a:prstGeom prst="straightConnector1">
            <a:avLst/>
          </a:prstGeom>
          <a:solidFill>
            <a:srgbClr val="FFFFFF"/>
          </a:solidFill>
          <a:ln cap="flat" cmpd="sng" w="762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2" name="Google Shape;832;p30"/>
          <p:cNvSpPr/>
          <p:nvPr/>
        </p:nvSpPr>
        <p:spPr>
          <a:xfrm>
            <a:off x="190500" y="190500"/>
            <a:ext cx="8763000" cy="4762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381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33" name="Google Shape;833;p30"/>
          <p:cNvGrpSpPr/>
          <p:nvPr/>
        </p:nvGrpSpPr>
        <p:grpSpPr>
          <a:xfrm>
            <a:off x="8058150" y="438150"/>
            <a:ext cx="457200" cy="457200"/>
            <a:chOff x="57150" y="57150"/>
            <a:chExt cx="457200" cy="457200"/>
          </a:xfrm>
        </p:grpSpPr>
        <p:sp>
          <p:nvSpPr>
            <p:cNvPr id="834" name="Google Shape;834;p30"/>
            <p:cNvSpPr/>
            <p:nvPr/>
          </p:nvSpPr>
          <p:spPr>
            <a:xfrm>
              <a:off x="57150" y="57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30"/>
            <p:cNvSpPr/>
            <p:nvPr/>
          </p:nvSpPr>
          <p:spPr>
            <a:xfrm>
              <a:off x="247650" y="57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30"/>
            <p:cNvSpPr/>
            <p:nvPr/>
          </p:nvSpPr>
          <p:spPr>
            <a:xfrm>
              <a:off x="438150" y="57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30"/>
            <p:cNvSpPr/>
            <p:nvPr/>
          </p:nvSpPr>
          <p:spPr>
            <a:xfrm>
              <a:off x="57150" y="2476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30"/>
            <p:cNvSpPr/>
            <p:nvPr/>
          </p:nvSpPr>
          <p:spPr>
            <a:xfrm>
              <a:off x="247650" y="2476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30"/>
            <p:cNvSpPr/>
            <p:nvPr/>
          </p:nvSpPr>
          <p:spPr>
            <a:xfrm>
              <a:off x="438150" y="2476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30"/>
            <p:cNvSpPr/>
            <p:nvPr/>
          </p:nvSpPr>
          <p:spPr>
            <a:xfrm>
              <a:off x="57150" y="438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30"/>
            <p:cNvSpPr/>
            <p:nvPr/>
          </p:nvSpPr>
          <p:spPr>
            <a:xfrm>
              <a:off x="247650" y="438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30"/>
            <p:cNvSpPr/>
            <p:nvPr/>
          </p:nvSpPr>
          <p:spPr>
            <a:xfrm>
              <a:off x="438150" y="438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43" name="Google Shape;843;p30"/>
          <p:cNvGrpSpPr/>
          <p:nvPr/>
        </p:nvGrpSpPr>
        <p:grpSpPr>
          <a:xfrm>
            <a:off x="7905750" y="4000500"/>
            <a:ext cx="762000" cy="713400"/>
            <a:chOff x="0" y="0"/>
            <a:chExt cx="762000" cy="713400"/>
          </a:xfrm>
        </p:grpSpPr>
        <p:sp>
          <p:nvSpPr>
            <p:cNvPr id="844" name="Google Shape;844;p30"/>
            <p:cNvSpPr/>
            <p:nvPr/>
          </p:nvSpPr>
          <p:spPr>
            <a:xfrm>
              <a:off x="0" y="0"/>
              <a:ext cx="762000" cy="713400"/>
            </a:xfrm>
            <a:custGeom>
              <a:rect b="b" l="l" r="r" t="t"/>
              <a:pathLst>
                <a:path extrusionOk="0" h="120000" w="120000">
                  <a:moveTo>
                    <a:pt x="0" y="31883"/>
                  </a:moveTo>
                  <a:lnTo>
                    <a:pt x="0" y="95968"/>
                  </a:lnTo>
                  <a:cubicBezTo>
                    <a:pt x="0" y="108785"/>
                    <a:pt x="27000" y="120000"/>
                    <a:pt x="60000" y="120000"/>
                  </a:cubicBezTo>
                  <a:cubicBezTo>
                    <a:pt x="93000" y="120000"/>
                    <a:pt x="120000" y="108785"/>
                    <a:pt x="120000" y="95968"/>
                  </a:cubicBezTo>
                  <a:lnTo>
                    <a:pt x="120000" y="0"/>
                  </a:lnTo>
                </a:path>
              </a:pathLst>
            </a:custGeom>
            <a:solidFill>
              <a:srgbClr val="00E676"/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30"/>
            <p:cNvSpPr/>
            <p:nvPr/>
          </p:nvSpPr>
          <p:spPr>
            <a:xfrm>
              <a:off x="0" y="0"/>
              <a:ext cx="762000" cy="285900"/>
            </a:xfrm>
            <a:prstGeom prst="ellipse">
              <a:avLst/>
            </a:prstGeom>
            <a:solidFill>
              <a:srgbClr val="00E676"/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30"/>
            <p:cNvSpPr/>
            <p:nvPr/>
          </p:nvSpPr>
          <p:spPr>
            <a:xfrm>
              <a:off x="0" y="190500"/>
              <a:ext cx="762000" cy="285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7" name="Google Shape;847;p30"/>
          <p:cNvSpPr txBox="1"/>
          <p:nvPr/>
        </p:nvSpPr>
        <p:spPr>
          <a:xfrm>
            <a:off x="476250" y="428625"/>
            <a:ext cx="6667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rPr>
              <a:t>SOURCE 8: CUSTOM DATASETS</a:t>
            </a:r>
            <a:endParaRPr b="0" sz="2400">
              <a:solidFill>
                <a:srgbClr val="11111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848" name="Google Shape;848;p30"/>
          <p:cNvGrpSpPr/>
          <p:nvPr/>
        </p:nvGrpSpPr>
        <p:grpSpPr>
          <a:xfrm>
            <a:off x="461963" y="1128713"/>
            <a:ext cx="3195788" cy="3481388"/>
            <a:chOff x="-14287" y="-14287"/>
            <a:chExt cx="3195788" cy="3481388"/>
          </a:xfrm>
        </p:grpSpPr>
        <p:pic>
          <p:nvPicPr>
            <p:cNvPr id="849" name="Google Shape;849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8100" y="38100"/>
              <a:ext cx="3143400" cy="3429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0" name="Google Shape;850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14287" y="-14287"/>
              <a:ext cx="3171900" cy="34575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51" name="Google Shape;851;p30"/>
            <p:cNvGrpSpPr/>
            <p:nvPr/>
          </p:nvGrpSpPr>
          <p:grpSpPr>
            <a:xfrm>
              <a:off x="133350" y="133350"/>
              <a:ext cx="2876700" cy="352500"/>
              <a:chOff x="-9525" y="-9525"/>
              <a:chExt cx="2876700" cy="352500"/>
            </a:xfrm>
          </p:grpSpPr>
          <p:pic>
            <p:nvPicPr>
              <p:cNvPr id="852" name="Google Shape;852;p30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-9525" y="-9525"/>
                <a:ext cx="2876700" cy="3525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53" name="Google Shape;853;p30"/>
              <p:cNvSpPr txBox="1"/>
              <p:nvPr/>
            </p:nvSpPr>
            <p:spPr>
              <a:xfrm>
                <a:off x="0" y="0"/>
                <a:ext cx="28575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111111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S8: CUSTOM GENERATION</a:t>
                </a:r>
                <a:endParaRPr b="0" sz="110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grpSp>
          <p:nvGrpSpPr>
            <p:cNvPr id="854" name="Google Shape;854;p30"/>
            <p:cNvGrpSpPr/>
            <p:nvPr/>
          </p:nvGrpSpPr>
          <p:grpSpPr>
            <a:xfrm>
              <a:off x="133350" y="609600"/>
              <a:ext cx="257100" cy="257100"/>
              <a:chOff x="-9525" y="-9525"/>
              <a:chExt cx="257100" cy="257100"/>
            </a:xfrm>
          </p:grpSpPr>
          <p:pic>
            <p:nvPicPr>
              <p:cNvPr id="855" name="Google Shape;855;p30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-9525" y="-9525"/>
                <a:ext cx="257100" cy="2571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56" name="Google Shape;856;p30"/>
              <p:cNvSpPr txBox="1"/>
              <p:nvPr/>
            </p:nvSpPr>
            <p:spPr>
              <a:xfrm>
                <a:off x="0" y="0"/>
                <a:ext cx="2382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S8</a:t>
                </a:r>
                <a:endParaRPr b="0" sz="11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sp>
          <p:nvSpPr>
            <p:cNvPr id="857" name="Google Shape;857;p30"/>
            <p:cNvSpPr txBox="1"/>
            <p:nvPr/>
          </p:nvSpPr>
          <p:spPr>
            <a:xfrm>
              <a:off x="476250" y="619125"/>
              <a:ext cx="25242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55555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THE METHODOLOGY</a:t>
              </a:r>
              <a:endParaRPr b="1" sz="750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25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Building From Scratch</a:t>
              </a:r>
              <a:endParaRPr b="0" sz="1250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111111"/>
                </a:buClr>
                <a:buSzPts val="1100"/>
                <a:buFont typeface="Inter"/>
                <a:buChar char="●"/>
              </a:pPr>
              <a:r>
                <a:rPr b="1" lang="en" sz="11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What it is:</a:t>
              </a:r>
              <a:r>
                <a:rPr b="0" lang="en" sz="110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When nothing else fits — a novel problem, niche domain, or proprietary need.</a:t>
              </a:r>
              <a:endParaRPr b="0" sz="1100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450"/>
                </a:spcAft>
                <a:buClr>
                  <a:srgbClr val="111111"/>
                </a:buClr>
                <a:buSzPts val="1100"/>
                <a:buFont typeface="Inter"/>
                <a:buChar char="●"/>
              </a:pPr>
              <a:r>
                <a:rPr b="1" lang="en" sz="11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Collection:</a:t>
              </a:r>
              <a:r>
                <a:rPr b="0" lang="en" sz="110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Scraping, sensors/hardware capture, crowdsourcing, or simulation (CARLA, Unity, Isaac Sim).</a:t>
              </a:r>
              <a:endParaRPr b="0" sz="1100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grpSp>
          <p:nvGrpSpPr>
            <p:cNvPr id="858" name="Google Shape;858;p30"/>
            <p:cNvGrpSpPr/>
            <p:nvPr/>
          </p:nvGrpSpPr>
          <p:grpSpPr>
            <a:xfrm>
              <a:off x="128588" y="2700338"/>
              <a:ext cx="2886000" cy="600000"/>
              <a:chOff x="-14287" y="-14287"/>
              <a:chExt cx="2886000" cy="600000"/>
            </a:xfrm>
          </p:grpSpPr>
          <p:pic>
            <p:nvPicPr>
              <p:cNvPr id="859" name="Google Shape;859;p30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-14287" y="-14287"/>
                <a:ext cx="2886000" cy="600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60" name="Google Shape;860;p30"/>
              <p:cNvSpPr txBox="1"/>
              <p:nvPr/>
            </p:nvSpPr>
            <p:spPr>
              <a:xfrm>
                <a:off x="0" y="0"/>
                <a:ext cx="2857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5250" lIns="95250" spcFirstLastPara="1" rIns="95250" wrap="square" tIns="952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Simulation is key for robotics/vision where real physical capture is impractical.</a:t>
                </a:r>
                <a:endParaRPr b="1" sz="9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861" name="Google Shape;861;p30"/>
          <p:cNvGrpSpPr/>
          <p:nvPr/>
        </p:nvGrpSpPr>
        <p:grpSpPr>
          <a:xfrm>
            <a:off x="3890963" y="1128713"/>
            <a:ext cx="3195788" cy="3481388"/>
            <a:chOff x="-14287" y="-14287"/>
            <a:chExt cx="3195788" cy="3481388"/>
          </a:xfrm>
        </p:grpSpPr>
        <p:pic>
          <p:nvPicPr>
            <p:cNvPr id="862" name="Google Shape;862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8100" y="38100"/>
              <a:ext cx="3143400" cy="3429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3" name="Google Shape;863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14287" y="-14287"/>
              <a:ext cx="3171900" cy="34575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64" name="Google Shape;864;p30"/>
            <p:cNvGrpSpPr/>
            <p:nvPr/>
          </p:nvGrpSpPr>
          <p:grpSpPr>
            <a:xfrm>
              <a:off x="133350" y="133350"/>
              <a:ext cx="2876700" cy="352500"/>
              <a:chOff x="-9525" y="-9525"/>
              <a:chExt cx="2876700" cy="352500"/>
            </a:xfrm>
          </p:grpSpPr>
          <p:pic>
            <p:nvPicPr>
              <p:cNvPr id="865" name="Google Shape;865;p30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-9525" y="-9525"/>
                <a:ext cx="2876700" cy="3525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66" name="Google Shape;866;p30"/>
              <p:cNvSpPr txBox="1"/>
              <p:nvPr/>
            </p:nvSpPr>
            <p:spPr>
              <a:xfrm>
                <a:off x="0" y="0"/>
                <a:ext cx="28575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111111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PIPELINE &amp; DEVELOPMENT</a:t>
                </a:r>
                <a:endParaRPr b="0" sz="110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sp>
          <p:nvSpPr>
            <p:cNvPr id="867" name="Google Shape;867;p30"/>
            <p:cNvSpPr txBox="1"/>
            <p:nvPr/>
          </p:nvSpPr>
          <p:spPr>
            <a:xfrm>
              <a:off x="142875" y="666750"/>
              <a:ext cx="28575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55555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THE LIFECYCLE</a:t>
              </a:r>
              <a:endParaRPr b="1" sz="850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End-to-End Dataset Pipeline</a:t>
              </a:r>
              <a:endParaRPr b="0" sz="1350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250">
                  <a:solidFill>
                    <a:srgbClr val="0044FF"/>
                  </a:solidFill>
                  <a:latin typeface="Inter"/>
                  <a:ea typeface="Inter"/>
                  <a:cs typeface="Inter"/>
                  <a:sym typeface="Inter"/>
                </a:rPr>
                <a:t>Source → Collect/Simulate → Label → Validate → Document → License</a:t>
              </a:r>
              <a:endParaRPr b="1" sz="1250">
                <a:solidFill>
                  <a:srgbClr val="0044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5555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Requires dedicated tooling like Label Studio, CVAT, or Roboflow to establish proper ground truth.</a:t>
              </a:r>
              <a:endParaRPr b="0" sz="1150">
                <a:solidFill>
                  <a:srgbClr val="5555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grpSp>
          <p:nvGrpSpPr>
            <p:cNvPr id="868" name="Google Shape;868;p30"/>
            <p:cNvGrpSpPr/>
            <p:nvPr/>
          </p:nvGrpSpPr>
          <p:grpSpPr>
            <a:xfrm>
              <a:off x="133350" y="2466975"/>
              <a:ext cx="2876700" cy="828600"/>
              <a:chOff x="-9525" y="-9525"/>
              <a:chExt cx="2876700" cy="828600"/>
            </a:xfrm>
          </p:grpSpPr>
          <p:pic>
            <p:nvPicPr>
              <p:cNvPr id="869" name="Google Shape;869;p30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-9525" y="-9525"/>
                <a:ext cx="2876700" cy="828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70" name="Google Shape;870;p30"/>
              <p:cNvSpPr txBox="1"/>
              <p:nvPr/>
            </p:nvSpPr>
            <p:spPr>
              <a:xfrm>
                <a:off x="0" y="0"/>
                <a:ext cx="2857500" cy="8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142875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700">
                    <a:solidFill>
                      <a:srgbClr val="FFCC00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TIME TO FIRST DATASET</a:t>
                </a:r>
                <a:endParaRPr b="1" sz="700">
                  <a:solidFill>
                    <a:srgbClr val="FFCC00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Days to Months*</a:t>
                </a:r>
                <a:endParaRPr b="0" sz="15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</p:grpSp>
      <p:sp>
        <p:nvSpPr>
          <p:cNvPr id="871" name="Google Shape;871;p30"/>
          <p:cNvSpPr txBox="1"/>
          <p:nvPr/>
        </p:nvSpPr>
        <p:spPr>
          <a:xfrm>
            <a:off x="7572375" y="1047750"/>
            <a:ext cx="14289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95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"Every model is a data problem before it's a model problem."</a:t>
            </a:r>
            <a:endParaRPr b="0" i="1" sz="95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844"/>
              </a:spcBef>
              <a:spcAft>
                <a:spcPts val="0"/>
              </a:spcAft>
              <a:buNone/>
            </a:pPr>
            <a:r>
              <a:rPr b="0" i="1" lang="en" sz="2600">
                <a:solidFill>
                  <a:srgbClr val="FFCC00"/>
                </a:solidFill>
                <a:latin typeface="Space Grotesk"/>
                <a:ea typeface="Space Grotesk"/>
                <a:cs typeface="Space Grotesk"/>
                <a:sym typeface="Space Grotesk"/>
              </a:rPr>
              <a:t>S8</a:t>
            </a:r>
            <a:endParaRPr b="0" i="1" sz="2600">
              <a:solidFill>
                <a:srgbClr val="FFCC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75"/>
              </a:spcBef>
              <a:spcAft>
                <a:spcPts val="0"/>
              </a:spcAft>
              <a:buNone/>
            </a:pPr>
            <a:r>
              <a:rPr b="0" i="1" lang="en" sz="900">
                <a:solidFill>
                  <a:srgbClr val="F4F4F0"/>
                </a:solidFill>
                <a:latin typeface="Inter Medium"/>
                <a:ea typeface="Inter Medium"/>
                <a:cs typeface="Inter Medium"/>
                <a:sym typeface="Inter Medium"/>
              </a:rPr>
              <a:t>Own Build</a:t>
            </a:r>
            <a:endParaRPr b="0" i="1" sz="900">
              <a:solidFill>
                <a:srgbClr val="F4F4F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1" lang="en" sz="2600">
                <a:solidFill>
                  <a:srgbClr val="FFCC00"/>
                </a:solidFill>
                <a:latin typeface="Space Grotesk"/>
                <a:ea typeface="Space Grotesk"/>
                <a:cs typeface="Space Grotesk"/>
                <a:sym typeface="Space Grotesk"/>
              </a:rPr>
              <a:t>Max</a:t>
            </a:r>
            <a:endParaRPr b="0" i="1" sz="2600">
              <a:solidFill>
                <a:srgbClr val="FFCC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75"/>
              </a:spcBef>
              <a:spcAft>
                <a:spcPts val="0"/>
              </a:spcAft>
              <a:buNone/>
            </a:pPr>
            <a:r>
              <a:rPr b="0" i="1" lang="en" sz="900">
                <a:solidFill>
                  <a:srgbClr val="F4F4F0"/>
                </a:solidFill>
                <a:latin typeface="Inter Medium"/>
                <a:ea typeface="Inter Medium"/>
                <a:cs typeface="Inter Medium"/>
                <a:sym typeface="Inter Medium"/>
              </a:rPr>
              <a:t>Relative Cost</a:t>
            </a:r>
            <a:endParaRPr b="0" i="1" sz="900">
              <a:solidFill>
                <a:srgbClr val="F4F4F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1" lang="en" sz="700">
                <a:solidFill>
                  <a:srgbClr val="FFCC00"/>
                </a:solidFill>
                <a:latin typeface="Inter Medium"/>
                <a:ea typeface="Inter Medium"/>
                <a:cs typeface="Inter Medium"/>
                <a:sym typeface="Inter Medium"/>
              </a:rPr>
              <a:t>* The most expensive and labor-intensive data acquisition option on this list</a:t>
            </a:r>
            <a:endParaRPr b="0" i="1" sz="700">
              <a:solidFill>
                <a:srgbClr val="FFCC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0"/>
        </a:solidFill>
      </p:bgPr>
    </p:bg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31"/>
          <p:cNvSpPr/>
          <p:nvPr/>
        </p:nvSpPr>
        <p:spPr>
          <a:xfrm>
            <a:off x="7429500" y="0"/>
            <a:ext cx="1714500" cy="5143500"/>
          </a:xfrm>
          <a:prstGeom prst="rect">
            <a:avLst/>
          </a:prstGeom>
          <a:solidFill>
            <a:srgbClr val="0044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77" name="Google Shape;877;p31"/>
          <p:cNvCxnSpPr/>
          <p:nvPr/>
        </p:nvCxnSpPr>
        <p:spPr>
          <a:xfrm>
            <a:off x="7429500" y="0"/>
            <a:ext cx="0" cy="5143500"/>
          </a:xfrm>
          <a:prstGeom prst="straightConnector1">
            <a:avLst/>
          </a:prstGeom>
          <a:solidFill>
            <a:srgbClr val="FFFFFF"/>
          </a:solidFill>
          <a:ln cap="flat" cmpd="sng" w="762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8" name="Google Shape;878;p31"/>
          <p:cNvSpPr/>
          <p:nvPr/>
        </p:nvSpPr>
        <p:spPr>
          <a:xfrm>
            <a:off x="190500" y="190500"/>
            <a:ext cx="8763000" cy="4762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381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79" name="Google Shape;879;p31"/>
          <p:cNvGrpSpPr/>
          <p:nvPr/>
        </p:nvGrpSpPr>
        <p:grpSpPr>
          <a:xfrm>
            <a:off x="8058150" y="438150"/>
            <a:ext cx="457200" cy="457200"/>
            <a:chOff x="57150" y="57150"/>
            <a:chExt cx="457200" cy="457200"/>
          </a:xfrm>
        </p:grpSpPr>
        <p:sp>
          <p:nvSpPr>
            <p:cNvPr id="880" name="Google Shape;880;p31"/>
            <p:cNvSpPr/>
            <p:nvPr/>
          </p:nvSpPr>
          <p:spPr>
            <a:xfrm>
              <a:off x="57150" y="57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31"/>
            <p:cNvSpPr/>
            <p:nvPr/>
          </p:nvSpPr>
          <p:spPr>
            <a:xfrm>
              <a:off x="247650" y="57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31"/>
            <p:cNvSpPr/>
            <p:nvPr/>
          </p:nvSpPr>
          <p:spPr>
            <a:xfrm>
              <a:off x="438150" y="57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31"/>
            <p:cNvSpPr/>
            <p:nvPr/>
          </p:nvSpPr>
          <p:spPr>
            <a:xfrm>
              <a:off x="57150" y="2476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31"/>
            <p:cNvSpPr/>
            <p:nvPr/>
          </p:nvSpPr>
          <p:spPr>
            <a:xfrm>
              <a:off x="247650" y="2476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31"/>
            <p:cNvSpPr/>
            <p:nvPr/>
          </p:nvSpPr>
          <p:spPr>
            <a:xfrm>
              <a:off x="438150" y="2476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31"/>
            <p:cNvSpPr/>
            <p:nvPr/>
          </p:nvSpPr>
          <p:spPr>
            <a:xfrm>
              <a:off x="57150" y="438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31"/>
            <p:cNvSpPr/>
            <p:nvPr/>
          </p:nvSpPr>
          <p:spPr>
            <a:xfrm>
              <a:off x="247650" y="438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31"/>
            <p:cNvSpPr/>
            <p:nvPr/>
          </p:nvSpPr>
          <p:spPr>
            <a:xfrm>
              <a:off x="438150" y="438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89" name="Google Shape;889;p31"/>
          <p:cNvGrpSpPr/>
          <p:nvPr/>
        </p:nvGrpSpPr>
        <p:grpSpPr>
          <a:xfrm>
            <a:off x="7905750" y="4000500"/>
            <a:ext cx="762000" cy="713400"/>
            <a:chOff x="0" y="0"/>
            <a:chExt cx="762000" cy="713400"/>
          </a:xfrm>
        </p:grpSpPr>
        <p:sp>
          <p:nvSpPr>
            <p:cNvPr id="890" name="Google Shape;890;p31"/>
            <p:cNvSpPr/>
            <p:nvPr/>
          </p:nvSpPr>
          <p:spPr>
            <a:xfrm>
              <a:off x="0" y="0"/>
              <a:ext cx="762000" cy="713400"/>
            </a:xfrm>
            <a:custGeom>
              <a:rect b="b" l="l" r="r" t="t"/>
              <a:pathLst>
                <a:path extrusionOk="0" h="120000" w="120000">
                  <a:moveTo>
                    <a:pt x="0" y="31883"/>
                  </a:moveTo>
                  <a:lnTo>
                    <a:pt x="0" y="95968"/>
                  </a:lnTo>
                  <a:cubicBezTo>
                    <a:pt x="0" y="108785"/>
                    <a:pt x="27000" y="120000"/>
                    <a:pt x="60000" y="120000"/>
                  </a:cubicBezTo>
                  <a:cubicBezTo>
                    <a:pt x="93000" y="120000"/>
                    <a:pt x="120000" y="108785"/>
                    <a:pt x="120000" y="95968"/>
                  </a:cubicBezTo>
                  <a:lnTo>
                    <a:pt x="120000" y="0"/>
                  </a:lnTo>
                </a:path>
              </a:pathLst>
            </a:custGeom>
            <a:solidFill>
              <a:srgbClr val="00E676"/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31"/>
            <p:cNvSpPr/>
            <p:nvPr/>
          </p:nvSpPr>
          <p:spPr>
            <a:xfrm>
              <a:off x="0" y="0"/>
              <a:ext cx="762000" cy="285900"/>
            </a:xfrm>
            <a:prstGeom prst="ellipse">
              <a:avLst/>
            </a:prstGeom>
            <a:solidFill>
              <a:srgbClr val="00E676"/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31"/>
            <p:cNvSpPr/>
            <p:nvPr/>
          </p:nvSpPr>
          <p:spPr>
            <a:xfrm>
              <a:off x="0" y="190500"/>
              <a:ext cx="762000" cy="285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3" name="Google Shape;893;p31"/>
          <p:cNvSpPr txBox="1"/>
          <p:nvPr/>
        </p:nvSpPr>
        <p:spPr>
          <a:xfrm>
            <a:off x="476250" y="428625"/>
            <a:ext cx="6667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rPr>
              <a:t>SOURCE 8: PROS &amp; CONS</a:t>
            </a:r>
            <a:endParaRPr b="0" sz="2400">
              <a:solidFill>
                <a:srgbClr val="11111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894" name="Google Shape;894;p31"/>
          <p:cNvGrpSpPr/>
          <p:nvPr/>
        </p:nvGrpSpPr>
        <p:grpSpPr>
          <a:xfrm>
            <a:off x="476250" y="1143000"/>
            <a:ext cx="3181500" cy="3467100"/>
            <a:chOff x="0" y="0"/>
            <a:chExt cx="3181500" cy="3467100"/>
          </a:xfrm>
        </p:grpSpPr>
        <p:sp>
          <p:nvSpPr>
            <p:cNvPr id="895" name="Google Shape;895;p31"/>
            <p:cNvSpPr/>
            <p:nvPr/>
          </p:nvSpPr>
          <p:spPr>
            <a:xfrm>
              <a:off x="0" y="0"/>
              <a:ext cx="3143400" cy="3429000"/>
            </a:xfrm>
            <a:prstGeom prst="roundRect">
              <a:avLst>
                <a:gd fmla="val 1818" name="adj"/>
              </a:avLst>
            </a:prstGeom>
            <a:solidFill>
              <a:srgbClr val="FFFFFF"/>
            </a:solidFill>
            <a:ln cap="flat" cmpd="sng" w="28575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31"/>
            <p:cNvSpPr/>
            <p:nvPr/>
          </p:nvSpPr>
          <p:spPr>
            <a:xfrm>
              <a:off x="38100" y="38100"/>
              <a:ext cx="3143400" cy="3429000"/>
            </a:xfrm>
            <a:prstGeom prst="roundRect">
              <a:avLst>
                <a:gd fmla="val 1818" name="adj"/>
              </a:avLst>
            </a:prstGeom>
            <a:solidFill>
              <a:srgbClr val="111111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97" name="Google Shape;897;p31"/>
            <p:cNvGrpSpPr/>
            <p:nvPr/>
          </p:nvGrpSpPr>
          <p:grpSpPr>
            <a:xfrm>
              <a:off x="142875" y="142875"/>
              <a:ext cx="2857500" cy="333300"/>
              <a:chOff x="0" y="0"/>
              <a:chExt cx="2857500" cy="333300"/>
            </a:xfrm>
          </p:grpSpPr>
          <p:sp>
            <p:nvSpPr>
              <p:cNvPr id="898" name="Google Shape;898;p31"/>
              <p:cNvSpPr/>
              <p:nvPr/>
            </p:nvSpPr>
            <p:spPr>
              <a:xfrm>
                <a:off x="0" y="0"/>
                <a:ext cx="2857500" cy="333300"/>
              </a:xfrm>
              <a:prstGeom prst="roundRect">
                <a:avLst>
                  <a:gd fmla="val 11428" name="adj"/>
                </a:avLst>
              </a:prstGeom>
              <a:solidFill>
                <a:srgbClr val="00E676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9" name="Google Shape;899;p31"/>
              <p:cNvSpPr txBox="1"/>
              <p:nvPr/>
            </p:nvSpPr>
            <p:spPr>
              <a:xfrm>
                <a:off x="0" y="0"/>
                <a:ext cx="28575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111111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ADVANTAGES / PROS</a:t>
                </a:r>
                <a:endParaRPr b="0" sz="110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grpSp>
          <p:nvGrpSpPr>
            <p:cNvPr id="900" name="Google Shape;900;p31"/>
            <p:cNvGrpSpPr/>
            <p:nvPr/>
          </p:nvGrpSpPr>
          <p:grpSpPr>
            <a:xfrm>
              <a:off x="142875" y="619125"/>
              <a:ext cx="238200" cy="238200"/>
              <a:chOff x="0" y="0"/>
              <a:chExt cx="238200" cy="238200"/>
            </a:xfrm>
          </p:grpSpPr>
          <p:sp>
            <p:nvSpPr>
              <p:cNvPr id="901" name="Google Shape;901;p31"/>
              <p:cNvSpPr/>
              <p:nvPr/>
            </p:nvSpPr>
            <p:spPr>
              <a:xfrm>
                <a:off x="0" y="0"/>
                <a:ext cx="238200" cy="238200"/>
              </a:xfrm>
              <a:prstGeom prst="roundRect">
                <a:avLst>
                  <a:gd fmla="val 16000" name="adj"/>
                </a:avLst>
              </a:prstGeom>
              <a:solidFill>
                <a:srgbClr val="0044FF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2" name="Google Shape;902;p31"/>
              <p:cNvSpPr txBox="1"/>
              <p:nvPr/>
            </p:nvSpPr>
            <p:spPr>
              <a:xfrm>
                <a:off x="0" y="0"/>
                <a:ext cx="2382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+</a:t>
                </a:r>
                <a:endParaRPr b="0" sz="10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sp>
          <p:nvSpPr>
            <p:cNvPr id="903" name="Google Shape;903;p31"/>
            <p:cNvSpPr txBox="1"/>
            <p:nvPr/>
          </p:nvSpPr>
          <p:spPr>
            <a:xfrm>
              <a:off x="476250" y="619125"/>
              <a:ext cx="25242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55555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CONTROL &amp; FLEXIBILITY</a:t>
              </a:r>
              <a:endParaRPr b="1" sz="750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-323850" lvl="0" marL="457200" rtl="0" algn="l">
                <a:spcBef>
                  <a:spcPts val="675"/>
                </a:spcBef>
                <a:spcAft>
                  <a:spcPts val="0"/>
                </a:spcAft>
                <a:buSzPts val="1500"/>
                <a:buChar char="●"/>
              </a:pPr>
              <a:r>
                <a:rPr b="1" lang="en" sz="11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Perfect Fit:</a:t>
              </a:r>
              <a:r>
                <a:rPr b="0" lang="en" sz="115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Exact match for your problem — full control over schema, labels, and scope.</a:t>
              </a:r>
              <a:endParaRPr b="0" sz="1150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323850" lvl="0" marL="457200" rtl="0" algn="l">
                <a:spcBef>
                  <a:spcPts val="675"/>
                </a:spcBef>
                <a:spcAft>
                  <a:spcPts val="0"/>
                </a:spcAft>
                <a:buSzPts val="1500"/>
                <a:buChar char="●"/>
              </a:pPr>
              <a:r>
                <a:rPr b="1" lang="en" sz="11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No Dependency:</a:t>
              </a:r>
              <a:r>
                <a:rPr b="0" lang="en" sz="115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No reliance on anyone else's data existing or being licensed right.</a:t>
              </a:r>
              <a:endParaRPr b="0" sz="1150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323850" lvl="0" marL="457200" rtl="0" algn="l">
                <a:spcBef>
                  <a:spcPts val="675"/>
                </a:spcBef>
                <a:spcAft>
                  <a:spcPts val="675"/>
                </a:spcAft>
                <a:buSzPts val="1500"/>
                <a:buChar char="●"/>
              </a:pPr>
              <a:r>
                <a:rPr b="1" lang="en" sz="11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Simulation Power:</a:t>
              </a:r>
              <a:r>
                <a:rPr b="0" lang="en" sz="115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Generate scenarios too rare, dangerous, or expensive to capture for real.</a:t>
              </a:r>
              <a:endParaRPr b="0" sz="1150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904" name="Google Shape;904;p31"/>
          <p:cNvGrpSpPr/>
          <p:nvPr/>
        </p:nvGrpSpPr>
        <p:grpSpPr>
          <a:xfrm>
            <a:off x="3905250" y="1143000"/>
            <a:ext cx="3181500" cy="3467100"/>
            <a:chOff x="0" y="0"/>
            <a:chExt cx="3181500" cy="3467100"/>
          </a:xfrm>
        </p:grpSpPr>
        <p:sp>
          <p:nvSpPr>
            <p:cNvPr id="905" name="Google Shape;905;p31"/>
            <p:cNvSpPr/>
            <p:nvPr/>
          </p:nvSpPr>
          <p:spPr>
            <a:xfrm>
              <a:off x="0" y="0"/>
              <a:ext cx="3143400" cy="3429000"/>
            </a:xfrm>
            <a:prstGeom prst="roundRect">
              <a:avLst>
                <a:gd fmla="val 1818" name="adj"/>
              </a:avLst>
            </a:prstGeom>
            <a:solidFill>
              <a:srgbClr val="FFFFFF"/>
            </a:solidFill>
            <a:ln cap="flat" cmpd="sng" w="28575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31"/>
            <p:cNvSpPr/>
            <p:nvPr/>
          </p:nvSpPr>
          <p:spPr>
            <a:xfrm>
              <a:off x="38100" y="38100"/>
              <a:ext cx="3143400" cy="3429000"/>
            </a:xfrm>
            <a:prstGeom prst="roundRect">
              <a:avLst>
                <a:gd fmla="val 1818" name="adj"/>
              </a:avLst>
            </a:prstGeom>
            <a:solidFill>
              <a:srgbClr val="111111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07" name="Google Shape;907;p31"/>
            <p:cNvGrpSpPr/>
            <p:nvPr/>
          </p:nvGrpSpPr>
          <p:grpSpPr>
            <a:xfrm>
              <a:off x="142875" y="142875"/>
              <a:ext cx="2857500" cy="333300"/>
              <a:chOff x="0" y="0"/>
              <a:chExt cx="2857500" cy="333300"/>
            </a:xfrm>
          </p:grpSpPr>
          <p:sp>
            <p:nvSpPr>
              <p:cNvPr id="908" name="Google Shape;908;p31"/>
              <p:cNvSpPr/>
              <p:nvPr/>
            </p:nvSpPr>
            <p:spPr>
              <a:xfrm>
                <a:off x="0" y="0"/>
                <a:ext cx="2857500" cy="333300"/>
              </a:xfrm>
              <a:prstGeom prst="roundRect">
                <a:avLst>
                  <a:gd fmla="val 11428" name="adj"/>
                </a:avLst>
              </a:prstGeom>
              <a:solidFill>
                <a:srgbClr val="FFCC00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9" name="Google Shape;909;p31"/>
              <p:cNvSpPr txBox="1"/>
              <p:nvPr/>
            </p:nvSpPr>
            <p:spPr>
              <a:xfrm>
                <a:off x="0" y="0"/>
                <a:ext cx="28575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111111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DISADVANTAGES / CONS</a:t>
                </a:r>
                <a:endParaRPr b="0" sz="110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grpSp>
          <p:nvGrpSpPr>
            <p:cNvPr id="910" name="Google Shape;910;p31"/>
            <p:cNvGrpSpPr/>
            <p:nvPr/>
          </p:nvGrpSpPr>
          <p:grpSpPr>
            <a:xfrm>
              <a:off x="142875" y="619125"/>
              <a:ext cx="238200" cy="238200"/>
              <a:chOff x="0" y="0"/>
              <a:chExt cx="238200" cy="238200"/>
            </a:xfrm>
          </p:grpSpPr>
          <p:sp>
            <p:nvSpPr>
              <p:cNvPr id="911" name="Google Shape;911;p31"/>
              <p:cNvSpPr/>
              <p:nvPr/>
            </p:nvSpPr>
            <p:spPr>
              <a:xfrm>
                <a:off x="0" y="0"/>
                <a:ext cx="238200" cy="238200"/>
              </a:xfrm>
              <a:prstGeom prst="roundRect">
                <a:avLst>
                  <a:gd fmla="val 16000" name="adj"/>
                </a:avLst>
              </a:prstGeom>
              <a:solidFill>
                <a:srgbClr val="111111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2" name="Google Shape;912;p31"/>
              <p:cNvSpPr txBox="1"/>
              <p:nvPr/>
            </p:nvSpPr>
            <p:spPr>
              <a:xfrm>
                <a:off x="0" y="0"/>
                <a:ext cx="2382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-</a:t>
                </a:r>
                <a:endParaRPr b="0" sz="10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sp>
          <p:nvSpPr>
            <p:cNvPr id="913" name="Google Shape;913;p31"/>
            <p:cNvSpPr txBox="1"/>
            <p:nvPr/>
          </p:nvSpPr>
          <p:spPr>
            <a:xfrm>
              <a:off x="476250" y="619125"/>
              <a:ext cx="25242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55555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OVERHEAD &amp; VALIDATION RISK</a:t>
              </a:r>
              <a:endParaRPr b="1" sz="750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-323850" lvl="0" marL="457200" rtl="0" algn="l">
                <a:spcBef>
                  <a:spcPts val="675"/>
                </a:spcBef>
                <a:spcAft>
                  <a:spcPts val="0"/>
                </a:spcAft>
                <a:buSzPts val="1500"/>
                <a:buChar char="●"/>
              </a:pPr>
              <a:r>
                <a:rPr b="1" lang="en" sz="11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Resource Intensive:</a:t>
              </a:r>
              <a:r>
                <a:rPr b="0" lang="en" sz="115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Extremely time- and resource-intensive.</a:t>
              </a:r>
              <a:endParaRPr b="0" sz="1150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323850" lvl="0" marL="457200" rtl="0" algn="l">
                <a:spcBef>
                  <a:spcPts val="675"/>
                </a:spcBef>
                <a:spcAft>
                  <a:spcPts val="0"/>
                </a:spcAft>
                <a:buSzPts val="1500"/>
                <a:buChar char="●"/>
              </a:pPr>
              <a:r>
                <a:rPr b="1" lang="en" sz="11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No Benchmarks:</a:t>
              </a:r>
              <a:r>
                <a:rPr b="0" lang="en" sz="115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No existing baseline to check against — errors and bias can go unnoticed longer.</a:t>
              </a:r>
              <a:endParaRPr b="0" sz="1150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323850" lvl="0" marL="457200" rtl="0" algn="l">
                <a:spcBef>
                  <a:spcPts val="675"/>
                </a:spcBef>
                <a:spcAft>
                  <a:spcPts val="675"/>
                </a:spcAft>
                <a:buSzPts val="1500"/>
                <a:buChar char="●"/>
              </a:pPr>
              <a:r>
                <a:rPr b="1" lang="en" sz="11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Total Burden:</a:t>
              </a:r>
              <a:r>
                <a:rPr b="0" lang="en" sz="115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You own 100% of labeling QC and the legal/ethics burden yourself.</a:t>
              </a:r>
              <a:endParaRPr b="0" sz="1150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914" name="Google Shape;914;p31"/>
          <p:cNvSpPr txBox="1"/>
          <p:nvPr/>
        </p:nvSpPr>
        <p:spPr>
          <a:xfrm>
            <a:off x="7572375" y="1047750"/>
            <a:ext cx="14289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95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"Every model is a data problem before it's a model problem."</a:t>
            </a:r>
            <a:endParaRPr b="0" i="1" sz="95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844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FFCC00"/>
                </a:solidFill>
                <a:latin typeface="Space Grotesk"/>
                <a:ea typeface="Space Grotesk"/>
                <a:cs typeface="Space Grotesk"/>
                <a:sym typeface="Space Grotesk"/>
              </a:rPr>
              <a:t>S8</a:t>
            </a:r>
            <a:endParaRPr b="0" sz="2600">
              <a:solidFill>
                <a:srgbClr val="FFCC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75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F4F4F0"/>
                </a:solidFill>
                <a:latin typeface="Inter Medium"/>
                <a:ea typeface="Inter Medium"/>
                <a:cs typeface="Inter Medium"/>
                <a:sym typeface="Inter Medium"/>
              </a:rPr>
              <a:t>Own Build</a:t>
            </a:r>
            <a:endParaRPr b="0" sz="900">
              <a:solidFill>
                <a:srgbClr val="F4F4F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FFCC00"/>
                </a:solidFill>
                <a:latin typeface="Space Grotesk"/>
                <a:ea typeface="Space Grotesk"/>
                <a:cs typeface="Space Grotesk"/>
                <a:sym typeface="Space Grotesk"/>
              </a:rPr>
              <a:t>Max</a:t>
            </a:r>
            <a:endParaRPr b="0" sz="2600">
              <a:solidFill>
                <a:srgbClr val="FFCC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75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F4F4F0"/>
                </a:solidFill>
                <a:latin typeface="Inter Medium"/>
                <a:ea typeface="Inter Medium"/>
                <a:cs typeface="Inter Medium"/>
                <a:sym typeface="Inter Medium"/>
              </a:rPr>
              <a:t>Relative Cost</a:t>
            </a:r>
            <a:endParaRPr b="0" sz="900">
              <a:solidFill>
                <a:srgbClr val="F4F4F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700">
                <a:solidFill>
                  <a:srgbClr val="FFCC00"/>
                </a:solidFill>
                <a:latin typeface="Inter Medium"/>
                <a:ea typeface="Inter Medium"/>
                <a:cs typeface="Inter Medium"/>
                <a:sym typeface="Inter Medium"/>
              </a:rPr>
              <a:t>* High-investment custom generation requires dedicated pipeline oversight</a:t>
            </a:r>
            <a:endParaRPr b="0" sz="700">
              <a:solidFill>
                <a:srgbClr val="FFCC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3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4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32"/>
          <p:cNvSpPr/>
          <p:nvPr/>
        </p:nvSpPr>
        <p:spPr>
          <a:xfrm>
            <a:off x="7429500" y="0"/>
            <a:ext cx="1714500" cy="5143500"/>
          </a:xfrm>
          <a:prstGeom prst="rect">
            <a:avLst/>
          </a:prstGeom>
          <a:solidFill>
            <a:srgbClr val="0044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21" name="Google Shape;92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1400" y="0"/>
            <a:ext cx="762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22" name="Google Shape;922;p32"/>
          <p:cNvSpPr/>
          <p:nvPr/>
        </p:nvSpPr>
        <p:spPr>
          <a:xfrm>
            <a:off x="190500" y="190500"/>
            <a:ext cx="8763000" cy="4762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381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23" name="Google Shape;923;p32"/>
          <p:cNvGrpSpPr/>
          <p:nvPr/>
        </p:nvGrpSpPr>
        <p:grpSpPr>
          <a:xfrm>
            <a:off x="8058150" y="438150"/>
            <a:ext cx="457200" cy="457200"/>
            <a:chOff x="57150" y="57150"/>
            <a:chExt cx="457200" cy="457200"/>
          </a:xfrm>
        </p:grpSpPr>
        <p:sp>
          <p:nvSpPr>
            <p:cNvPr id="924" name="Google Shape;924;p32"/>
            <p:cNvSpPr/>
            <p:nvPr/>
          </p:nvSpPr>
          <p:spPr>
            <a:xfrm>
              <a:off x="57150" y="57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32"/>
            <p:cNvSpPr/>
            <p:nvPr/>
          </p:nvSpPr>
          <p:spPr>
            <a:xfrm>
              <a:off x="247650" y="57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32"/>
            <p:cNvSpPr/>
            <p:nvPr/>
          </p:nvSpPr>
          <p:spPr>
            <a:xfrm>
              <a:off x="438150" y="57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32"/>
            <p:cNvSpPr/>
            <p:nvPr/>
          </p:nvSpPr>
          <p:spPr>
            <a:xfrm>
              <a:off x="57150" y="2476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32"/>
            <p:cNvSpPr/>
            <p:nvPr/>
          </p:nvSpPr>
          <p:spPr>
            <a:xfrm>
              <a:off x="247650" y="2476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32"/>
            <p:cNvSpPr/>
            <p:nvPr/>
          </p:nvSpPr>
          <p:spPr>
            <a:xfrm>
              <a:off x="438150" y="2476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32"/>
            <p:cNvSpPr/>
            <p:nvPr/>
          </p:nvSpPr>
          <p:spPr>
            <a:xfrm>
              <a:off x="57150" y="438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32"/>
            <p:cNvSpPr/>
            <p:nvPr/>
          </p:nvSpPr>
          <p:spPr>
            <a:xfrm>
              <a:off x="247650" y="438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32"/>
            <p:cNvSpPr/>
            <p:nvPr/>
          </p:nvSpPr>
          <p:spPr>
            <a:xfrm>
              <a:off x="438150" y="438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3" name="Google Shape;933;p32"/>
          <p:cNvGrpSpPr/>
          <p:nvPr/>
        </p:nvGrpSpPr>
        <p:grpSpPr>
          <a:xfrm>
            <a:off x="7905750" y="4000500"/>
            <a:ext cx="762000" cy="713400"/>
            <a:chOff x="0" y="0"/>
            <a:chExt cx="762000" cy="713400"/>
          </a:xfrm>
        </p:grpSpPr>
        <p:sp>
          <p:nvSpPr>
            <p:cNvPr id="934" name="Google Shape;934;p32"/>
            <p:cNvSpPr/>
            <p:nvPr/>
          </p:nvSpPr>
          <p:spPr>
            <a:xfrm>
              <a:off x="0" y="0"/>
              <a:ext cx="762000" cy="713400"/>
            </a:xfrm>
            <a:custGeom>
              <a:rect b="b" l="l" r="r" t="t"/>
              <a:pathLst>
                <a:path extrusionOk="0" h="120000" w="120000">
                  <a:moveTo>
                    <a:pt x="0" y="31883"/>
                  </a:moveTo>
                  <a:lnTo>
                    <a:pt x="0" y="95968"/>
                  </a:lnTo>
                  <a:cubicBezTo>
                    <a:pt x="0" y="108785"/>
                    <a:pt x="27000" y="120000"/>
                    <a:pt x="60000" y="120000"/>
                  </a:cubicBezTo>
                  <a:cubicBezTo>
                    <a:pt x="93000" y="120000"/>
                    <a:pt x="120000" y="108785"/>
                    <a:pt x="120000" y="95968"/>
                  </a:cubicBezTo>
                  <a:lnTo>
                    <a:pt x="120000" y="0"/>
                  </a:lnTo>
                </a:path>
              </a:pathLst>
            </a:custGeom>
            <a:solidFill>
              <a:srgbClr val="00E676"/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32"/>
            <p:cNvSpPr/>
            <p:nvPr/>
          </p:nvSpPr>
          <p:spPr>
            <a:xfrm>
              <a:off x="0" y="0"/>
              <a:ext cx="762000" cy="285900"/>
            </a:xfrm>
            <a:prstGeom prst="ellipse">
              <a:avLst/>
            </a:prstGeom>
            <a:solidFill>
              <a:srgbClr val="00E676"/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32"/>
            <p:cNvSpPr/>
            <p:nvPr/>
          </p:nvSpPr>
          <p:spPr>
            <a:xfrm>
              <a:off x="0" y="190500"/>
              <a:ext cx="762000" cy="285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7" name="Google Shape;937;p32"/>
          <p:cNvSpPr txBox="1"/>
          <p:nvPr/>
        </p:nvSpPr>
        <p:spPr>
          <a:xfrm>
            <a:off x="7572375" y="1143000"/>
            <a:ext cx="14289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95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"Every model is a data problem before it's a model problem."</a:t>
            </a:r>
            <a:endParaRPr b="0" i="1" sz="95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i="1" lang="en" sz="3200">
                <a:solidFill>
                  <a:srgbClr val="FFCC00"/>
                </a:solidFill>
                <a:latin typeface="Space Grotesk"/>
                <a:ea typeface="Space Grotesk"/>
                <a:cs typeface="Space Grotesk"/>
                <a:sym typeface="Space Grotesk"/>
              </a:rPr>
              <a:t>ACT 2</a:t>
            </a:r>
            <a:endParaRPr b="0" i="1" sz="3200">
              <a:solidFill>
                <a:srgbClr val="FFCC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000">
                <a:solidFill>
                  <a:srgbClr val="F4F4F0"/>
                </a:solidFill>
                <a:latin typeface="Inter Medium"/>
                <a:ea typeface="Inter Medium"/>
                <a:cs typeface="Inter Medium"/>
                <a:sym typeface="Inter Medium"/>
              </a:rPr>
              <a:t>Evaluate</a:t>
            </a:r>
            <a:endParaRPr b="0" i="1" sz="1000">
              <a:solidFill>
                <a:srgbClr val="F4F4F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t/>
            </a:r>
            <a:endParaRPr b="0" i="1" sz="1000">
              <a:solidFill>
                <a:srgbClr val="F4F4F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938" name="Google Shape;938;p32"/>
          <p:cNvSpPr txBox="1"/>
          <p:nvPr/>
        </p:nvSpPr>
        <p:spPr>
          <a:xfrm>
            <a:off x="476250" y="523875"/>
            <a:ext cx="666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800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rPr>
              <a:t>ACT 2: EVALUATING SOURCES</a:t>
            </a:r>
            <a:endParaRPr b="0" sz="3800">
              <a:solidFill>
                <a:srgbClr val="11111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939" name="Google Shape;939;p32"/>
          <p:cNvGrpSpPr/>
          <p:nvPr/>
        </p:nvGrpSpPr>
        <p:grpSpPr>
          <a:xfrm>
            <a:off x="952500" y="1524000"/>
            <a:ext cx="5581650" cy="2533650"/>
            <a:chOff x="0" y="0"/>
            <a:chExt cx="5581650" cy="2533650"/>
          </a:xfrm>
        </p:grpSpPr>
        <p:sp>
          <p:nvSpPr>
            <p:cNvPr id="940" name="Google Shape;940;p32"/>
            <p:cNvSpPr/>
            <p:nvPr/>
          </p:nvSpPr>
          <p:spPr>
            <a:xfrm>
              <a:off x="0" y="0"/>
              <a:ext cx="5524500" cy="2476500"/>
            </a:xfrm>
            <a:prstGeom prst="roundRect">
              <a:avLst>
                <a:gd fmla="val 3846" name="adj"/>
              </a:avLst>
            </a:prstGeom>
            <a:solidFill>
              <a:srgbClr val="FFFFFF"/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32"/>
            <p:cNvSpPr/>
            <p:nvPr/>
          </p:nvSpPr>
          <p:spPr>
            <a:xfrm>
              <a:off x="57150" y="57150"/>
              <a:ext cx="5524500" cy="2476500"/>
            </a:xfrm>
            <a:prstGeom prst="roundRect">
              <a:avLst>
                <a:gd fmla="val 3846" name="adj"/>
              </a:avLst>
            </a:prstGeom>
            <a:solidFill>
              <a:srgbClr val="111111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32"/>
            <p:cNvSpPr/>
            <p:nvPr/>
          </p:nvSpPr>
          <p:spPr>
            <a:xfrm>
              <a:off x="190500" y="190500"/>
              <a:ext cx="5143500" cy="476400"/>
            </a:xfrm>
            <a:prstGeom prst="roundRect">
              <a:avLst>
                <a:gd fmla="val 12000" name="adj"/>
              </a:avLst>
            </a:prstGeom>
            <a:solidFill>
              <a:srgbClr val="00E676"/>
            </a:solidFill>
            <a:ln cap="flat" cmpd="sng" w="28575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32"/>
            <p:cNvSpPr txBox="1"/>
            <p:nvPr/>
          </p:nvSpPr>
          <p:spPr>
            <a:xfrm>
              <a:off x="190500" y="190500"/>
              <a:ext cx="5143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DATASET EVALUATION FRAMEWORK</a:t>
              </a:r>
              <a:endParaRPr b="0" sz="14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944" name="Google Shape;944;p32"/>
            <p:cNvSpPr txBox="1"/>
            <p:nvPr/>
          </p:nvSpPr>
          <p:spPr>
            <a:xfrm>
              <a:off x="381000" y="919950"/>
              <a:ext cx="4762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75">
                  <a:solidFill>
                    <a:srgbClr val="0044FF"/>
                  </a:solidFill>
                  <a:latin typeface="Inter"/>
                  <a:ea typeface="Inter"/>
                  <a:cs typeface="Inter"/>
                  <a:sym typeface="Inter"/>
                </a:rPr>
                <a:t>Analyze, Prioritize, and Source</a:t>
              </a:r>
              <a:endParaRPr b="1" sz="1275">
                <a:solidFill>
                  <a:srgbClr val="0044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063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Evaluating the trade-offs of modern data acquisition pipelines:</a:t>
              </a:r>
              <a:endParaRPr b="0" sz="1063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96069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111111"/>
                </a:buClr>
                <a:buSzPts val="1063"/>
                <a:buFont typeface="Inter"/>
                <a:buChar char="●"/>
              </a:pPr>
              <a:r>
                <a:rPr b="0" lang="en" sz="1063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Reviewing accuracy vs. operational overhead</a:t>
              </a:r>
              <a:endParaRPr b="0" sz="1063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96069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111111"/>
                </a:buClr>
                <a:buSzPts val="1063"/>
                <a:buFont typeface="Inter"/>
                <a:buChar char="●"/>
              </a:pPr>
              <a:r>
                <a:rPr b="0" lang="en" sz="1063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Balancing manual effort with licensing constraints</a:t>
              </a:r>
              <a:endParaRPr b="0" sz="1063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96069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111111"/>
                </a:buClr>
                <a:buSzPts val="1063"/>
                <a:buFont typeface="Inter"/>
                <a:buChar char="●"/>
              </a:pPr>
              <a:r>
                <a:rPr b="0" lang="en" sz="1063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Vetting custom pipelines for scale and robustness</a:t>
              </a:r>
              <a:endParaRPr b="0" sz="1063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3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4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33"/>
          <p:cNvSpPr/>
          <p:nvPr/>
        </p:nvSpPr>
        <p:spPr>
          <a:xfrm>
            <a:off x="7429500" y="0"/>
            <a:ext cx="1714500" cy="5143500"/>
          </a:xfrm>
          <a:prstGeom prst="rect">
            <a:avLst/>
          </a:prstGeom>
          <a:solidFill>
            <a:srgbClr val="0044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51" name="Google Shape;951;p33"/>
          <p:cNvCxnSpPr/>
          <p:nvPr/>
        </p:nvCxnSpPr>
        <p:spPr>
          <a:xfrm>
            <a:off x="7429500" y="0"/>
            <a:ext cx="0" cy="5143500"/>
          </a:xfrm>
          <a:prstGeom prst="straightConnector1">
            <a:avLst/>
          </a:prstGeom>
          <a:solidFill>
            <a:srgbClr val="FFFFFF"/>
          </a:solidFill>
          <a:ln cap="flat" cmpd="sng" w="762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2" name="Google Shape;952;p33"/>
          <p:cNvSpPr/>
          <p:nvPr/>
        </p:nvSpPr>
        <p:spPr>
          <a:xfrm>
            <a:off x="190500" y="190500"/>
            <a:ext cx="8763000" cy="4762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381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53" name="Google Shape;953;p33"/>
          <p:cNvGrpSpPr/>
          <p:nvPr/>
        </p:nvGrpSpPr>
        <p:grpSpPr>
          <a:xfrm>
            <a:off x="8058150" y="438150"/>
            <a:ext cx="457200" cy="457200"/>
            <a:chOff x="57150" y="57150"/>
            <a:chExt cx="457200" cy="457200"/>
          </a:xfrm>
        </p:grpSpPr>
        <p:sp>
          <p:nvSpPr>
            <p:cNvPr id="954" name="Google Shape;954;p33"/>
            <p:cNvSpPr/>
            <p:nvPr/>
          </p:nvSpPr>
          <p:spPr>
            <a:xfrm>
              <a:off x="57150" y="57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33"/>
            <p:cNvSpPr/>
            <p:nvPr/>
          </p:nvSpPr>
          <p:spPr>
            <a:xfrm>
              <a:off x="247650" y="57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33"/>
            <p:cNvSpPr/>
            <p:nvPr/>
          </p:nvSpPr>
          <p:spPr>
            <a:xfrm>
              <a:off x="438150" y="57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33"/>
            <p:cNvSpPr/>
            <p:nvPr/>
          </p:nvSpPr>
          <p:spPr>
            <a:xfrm>
              <a:off x="57150" y="2476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33"/>
            <p:cNvSpPr/>
            <p:nvPr/>
          </p:nvSpPr>
          <p:spPr>
            <a:xfrm>
              <a:off x="247650" y="2476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33"/>
            <p:cNvSpPr/>
            <p:nvPr/>
          </p:nvSpPr>
          <p:spPr>
            <a:xfrm>
              <a:off x="438150" y="2476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33"/>
            <p:cNvSpPr/>
            <p:nvPr/>
          </p:nvSpPr>
          <p:spPr>
            <a:xfrm>
              <a:off x="57150" y="438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33"/>
            <p:cNvSpPr/>
            <p:nvPr/>
          </p:nvSpPr>
          <p:spPr>
            <a:xfrm>
              <a:off x="247650" y="438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33"/>
            <p:cNvSpPr/>
            <p:nvPr/>
          </p:nvSpPr>
          <p:spPr>
            <a:xfrm>
              <a:off x="438150" y="43815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63" name="Google Shape;963;p33"/>
          <p:cNvGrpSpPr/>
          <p:nvPr/>
        </p:nvGrpSpPr>
        <p:grpSpPr>
          <a:xfrm>
            <a:off x="7905750" y="4000500"/>
            <a:ext cx="762000" cy="713400"/>
            <a:chOff x="0" y="0"/>
            <a:chExt cx="762000" cy="713400"/>
          </a:xfrm>
        </p:grpSpPr>
        <p:sp>
          <p:nvSpPr>
            <p:cNvPr id="964" name="Google Shape;964;p33"/>
            <p:cNvSpPr/>
            <p:nvPr/>
          </p:nvSpPr>
          <p:spPr>
            <a:xfrm>
              <a:off x="0" y="0"/>
              <a:ext cx="762000" cy="713400"/>
            </a:xfrm>
            <a:custGeom>
              <a:rect b="b" l="l" r="r" t="t"/>
              <a:pathLst>
                <a:path extrusionOk="0" h="120000" w="120000">
                  <a:moveTo>
                    <a:pt x="0" y="31883"/>
                  </a:moveTo>
                  <a:lnTo>
                    <a:pt x="0" y="95968"/>
                  </a:lnTo>
                  <a:cubicBezTo>
                    <a:pt x="0" y="108785"/>
                    <a:pt x="27000" y="120000"/>
                    <a:pt x="60000" y="120000"/>
                  </a:cubicBezTo>
                  <a:cubicBezTo>
                    <a:pt x="93000" y="120000"/>
                    <a:pt x="120000" y="108785"/>
                    <a:pt x="120000" y="95968"/>
                  </a:cubicBezTo>
                  <a:lnTo>
                    <a:pt x="120000" y="0"/>
                  </a:lnTo>
                </a:path>
              </a:pathLst>
            </a:custGeom>
            <a:solidFill>
              <a:srgbClr val="00E676"/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33"/>
            <p:cNvSpPr/>
            <p:nvPr/>
          </p:nvSpPr>
          <p:spPr>
            <a:xfrm>
              <a:off x="0" y="0"/>
              <a:ext cx="762000" cy="285900"/>
            </a:xfrm>
            <a:prstGeom prst="ellipse">
              <a:avLst/>
            </a:prstGeom>
            <a:solidFill>
              <a:srgbClr val="00E676"/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33"/>
            <p:cNvSpPr/>
            <p:nvPr/>
          </p:nvSpPr>
          <p:spPr>
            <a:xfrm>
              <a:off x="0" y="190500"/>
              <a:ext cx="762000" cy="285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7" name="Google Shape;967;p33"/>
          <p:cNvSpPr txBox="1"/>
          <p:nvPr/>
        </p:nvSpPr>
        <p:spPr>
          <a:xfrm>
            <a:off x="476250" y="428625"/>
            <a:ext cx="6667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rPr>
              <a:t>EVALUATION: SIZE &amp; COVERAGE</a:t>
            </a:r>
            <a:endParaRPr b="0" sz="2600">
              <a:solidFill>
                <a:srgbClr val="11111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968" name="Google Shape;968;p33"/>
          <p:cNvGrpSpPr/>
          <p:nvPr/>
        </p:nvGrpSpPr>
        <p:grpSpPr>
          <a:xfrm>
            <a:off x="476250" y="1143000"/>
            <a:ext cx="3143400" cy="3429000"/>
            <a:chOff x="0" y="0"/>
            <a:chExt cx="3143400" cy="3429000"/>
          </a:xfrm>
        </p:grpSpPr>
        <p:sp>
          <p:nvSpPr>
            <p:cNvPr id="969" name="Google Shape;969;p33"/>
            <p:cNvSpPr/>
            <p:nvPr/>
          </p:nvSpPr>
          <p:spPr>
            <a:xfrm>
              <a:off x="0" y="0"/>
              <a:ext cx="3143400" cy="3429000"/>
            </a:xfrm>
            <a:prstGeom prst="roundRect">
              <a:avLst>
                <a:gd fmla="val 1818" name="adj"/>
              </a:avLst>
            </a:prstGeom>
            <a:solidFill>
              <a:srgbClr val="111111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33"/>
            <p:cNvSpPr/>
            <p:nvPr/>
          </p:nvSpPr>
          <p:spPr>
            <a:xfrm>
              <a:off x="0" y="0"/>
              <a:ext cx="3143400" cy="3429000"/>
            </a:xfrm>
            <a:prstGeom prst="roundRect">
              <a:avLst>
                <a:gd fmla="val 1818" name="adj"/>
              </a:avLst>
            </a:prstGeom>
            <a:solidFill>
              <a:srgbClr val="FFFFFF"/>
            </a:solidFill>
            <a:ln cap="flat" cmpd="sng" w="28575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71" name="Google Shape;971;p33"/>
            <p:cNvGrpSpPr/>
            <p:nvPr/>
          </p:nvGrpSpPr>
          <p:grpSpPr>
            <a:xfrm>
              <a:off x="142875" y="142875"/>
              <a:ext cx="2857500" cy="333300"/>
              <a:chOff x="0" y="0"/>
              <a:chExt cx="2857500" cy="333300"/>
            </a:xfrm>
          </p:grpSpPr>
          <p:sp>
            <p:nvSpPr>
              <p:cNvPr id="972" name="Google Shape;972;p33"/>
              <p:cNvSpPr/>
              <p:nvPr/>
            </p:nvSpPr>
            <p:spPr>
              <a:xfrm>
                <a:off x="0" y="0"/>
                <a:ext cx="2857500" cy="333300"/>
              </a:xfrm>
              <a:prstGeom prst="roundRect">
                <a:avLst>
                  <a:gd fmla="val 11428" name="adj"/>
                </a:avLst>
              </a:prstGeom>
              <a:solidFill>
                <a:srgbClr val="00E676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3" name="Google Shape;973;p33"/>
              <p:cNvSpPr txBox="1"/>
              <p:nvPr/>
            </p:nvSpPr>
            <p:spPr>
              <a:xfrm>
                <a:off x="0" y="0"/>
                <a:ext cx="28575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111111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QUANTITY CRITERIA</a:t>
                </a:r>
                <a:endParaRPr b="0" sz="110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grpSp>
          <p:nvGrpSpPr>
            <p:cNvPr id="974" name="Google Shape;974;p33"/>
            <p:cNvGrpSpPr/>
            <p:nvPr/>
          </p:nvGrpSpPr>
          <p:grpSpPr>
            <a:xfrm>
              <a:off x="142875" y="619125"/>
              <a:ext cx="238200" cy="238200"/>
              <a:chOff x="0" y="0"/>
              <a:chExt cx="238200" cy="238200"/>
            </a:xfrm>
          </p:grpSpPr>
          <p:sp>
            <p:nvSpPr>
              <p:cNvPr id="975" name="Google Shape;975;p33"/>
              <p:cNvSpPr/>
              <p:nvPr/>
            </p:nvSpPr>
            <p:spPr>
              <a:xfrm>
                <a:off x="0" y="0"/>
                <a:ext cx="238200" cy="238200"/>
              </a:xfrm>
              <a:prstGeom prst="roundRect">
                <a:avLst>
                  <a:gd fmla="val 16000" name="adj"/>
                </a:avLst>
              </a:prstGeom>
              <a:solidFill>
                <a:srgbClr val="0044FF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6" name="Google Shape;976;p33"/>
              <p:cNvSpPr txBox="1"/>
              <p:nvPr/>
            </p:nvSpPr>
            <p:spPr>
              <a:xfrm>
                <a:off x="0" y="0"/>
                <a:ext cx="2382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Q1</a:t>
                </a:r>
                <a:endParaRPr b="0" sz="10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sp>
          <p:nvSpPr>
            <p:cNvPr id="977" name="Google Shape;977;p33"/>
            <p:cNvSpPr txBox="1"/>
            <p:nvPr/>
          </p:nvSpPr>
          <p:spPr>
            <a:xfrm>
              <a:off x="476250" y="619125"/>
              <a:ext cx="25242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55555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CLASS DISTRIBUTION</a:t>
              </a:r>
              <a:endParaRPr b="0" sz="850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Evaluating Class Gaps</a:t>
              </a:r>
              <a:endParaRPr b="0" sz="1350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2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Per-Class Sufficiency:</a:t>
              </a:r>
              <a:r>
                <a:rPr b="0" lang="en" sz="125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Ensure you have enough examples per specific class, not just a high overall volume of data.</a:t>
              </a:r>
              <a:endParaRPr b="0" sz="1250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2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Distribution Gaps:</a:t>
              </a:r>
              <a:r>
                <a:rPr b="0" lang="en" sz="125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A massive dataset with neglected rare classes fails to train robust generalized boundaries.</a:t>
              </a:r>
              <a:endParaRPr b="0" sz="1250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978" name="Google Shape;978;p33"/>
          <p:cNvGrpSpPr/>
          <p:nvPr/>
        </p:nvGrpSpPr>
        <p:grpSpPr>
          <a:xfrm>
            <a:off x="3905250" y="1143000"/>
            <a:ext cx="3143400" cy="3429000"/>
            <a:chOff x="0" y="0"/>
            <a:chExt cx="3143400" cy="3429000"/>
          </a:xfrm>
        </p:grpSpPr>
        <p:sp>
          <p:nvSpPr>
            <p:cNvPr id="979" name="Google Shape;979;p33"/>
            <p:cNvSpPr/>
            <p:nvPr/>
          </p:nvSpPr>
          <p:spPr>
            <a:xfrm>
              <a:off x="0" y="0"/>
              <a:ext cx="3143400" cy="3429000"/>
            </a:xfrm>
            <a:prstGeom prst="roundRect">
              <a:avLst>
                <a:gd fmla="val 1818" name="adj"/>
              </a:avLst>
            </a:prstGeom>
            <a:solidFill>
              <a:srgbClr val="111111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33"/>
            <p:cNvSpPr/>
            <p:nvPr/>
          </p:nvSpPr>
          <p:spPr>
            <a:xfrm>
              <a:off x="0" y="0"/>
              <a:ext cx="3143400" cy="3429000"/>
            </a:xfrm>
            <a:prstGeom prst="roundRect">
              <a:avLst>
                <a:gd fmla="val 1818" name="adj"/>
              </a:avLst>
            </a:prstGeom>
            <a:solidFill>
              <a:srgbClr val="FFFFFF"/>
            </a:solidFill>
            <a:ln cap="flat" cmpd="sng" w="28575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81" name="Google Shape;981;p33"/>
            <p:cNvGrpSpPr/>
            <p:nvPr/>
          </p:nvGrpSpPr>
          <p:grpSpPr>
            <a:xfrm>
              <a:off x="142875" y="142875"/>
              <a:ext cx="2857500" cy="333300"/>
              <a:chOff x="0" y="0"/>
              <a:chExt cx="2857500" cy="333300"/>
            </a:xfrm>
          </p:grpSpPr>
          <p:sp>
            <p:nvSpPr>
              <p:cNvPr id="982" name="Google Shape;982;p33"/>
              <p:cNvSpPr/>
              <p:nvPr/>
            </p:nvSpPr>
            <p:spPr>
              <a:xfrm>
                <a:off x="0" y="0"/>
                <a:ext cx="2857500" cy="333300"/>
              </a:xfrm>
              <a:prstGeom prst="roundRect">
                <a:avLst>
                  <a:gd fmla="val 11428" name="adj"/>
                </a:avLst>
              </a:prstGeom>
              <a:solidFill>
                <a:srgbClr val="FFCC00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3" name="Google Shape;983;p33"/>
              <p:cNvSpPr txBox="1"/>
              <p:nvPr/>
            </p:nvSpPr>
            <p:spPr>
              <a:xfrm>
                <a:off x="0" y="0"/>
                <a:ext cx="28575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111111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DENSITY &amp; LIMITS</a:t>
                </a:r>
                <a:endParaRPr b="0" sz="110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grpSp>
          <p:nvGrpSpPr>
            <p:cNvPr id="984" name="Google Shape;984;p33"/>
            <p:cNvGrpSpPr/>
            <p:nvPr/>
          </p:nvGrpSpPr>
          <p:grpSpPr>
            <a:xfrm>
              <a:off x="142875" y="619125"/>
              <a:ext cx="238200" cy="238200"/>
              <a:chOff x="0" y="0"/>
              <a:chExt cx="238200" cy="238200"/>
            </a:xfrm>
          </p:grpSpPr>
          <p:sp>
            <p:nvSpPr>
              <p:cNvPr id="985" name="Google Shape;985;p33"/>
              <p:cNvSpPr/>
              <p:nvPr/>
            </p:nvSpPr>
            <p:spPr>
              <a:xfrm>
                <a:off x="0" y="0"/>
                <a:ext cx="238200" cy="238200"/>
              </a:xfrm>
              <a:prstGeom prst="roundRect">
                <a:avLst>
                  <a:gd fmla="val 16000" name="adj"/>
                </a:avLst>
              </a:prstGeom>
              <a:solidFill>
                <a:srgbClr val="111111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6" name="Google Shape;986;p33"/>
              <p:cNvSpPr txBox="1"/>
              <p:nvPr/>
            </p:nvSpPr>
            <p:spPr>
              <a:xfrm>
                <a:off x="0" y="0"/>
                <a:ext cx="2382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Q2</a:t>
                </a:r>
                <a:endParaRPr b="0" sz="10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sp>
          <p:nvSpPr>
            <p:cNvPr id="987" name="Google Shape;987;p33"/>
            <p:cNvSpPr txBox="1"/>
            <p:nvPr/>
          </p:nvSpPr>
          <p:spPr>
            <a:xfrm>
              <a:off x="476250" y="619125"/>
              <a:ext cx="25242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55555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RANGE &amp; TAILS</a:t>
              </a:r>
              <a:endParaRPr b="0" sz="850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Distribution Coverage</a:t>
              </a:r>
              <a:endParaRPr b="0" sz="1350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2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Edge Cases:</a:t>
              </a:r>
              <a:r>
                <a:rPr b="0" lang="en" sz="125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Audit whether your dataset actively covers rare edge cases or merely clusters around the "easy middle."</a:t>
              </a:r>
              <a:endParaRPr b="0" sz="1250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2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Hidden Caps:</a:t>
              </a:r>
              <a:r>
                <a:rPr b="0" lang="en" sz="125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Undersized, biased, or imbalanced data quietly caps your model's maximum possible performance ceiling.</a:t>
              </a:r>
              <a:endParaRPr b="0" sz="1250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988" name="Google Shape;988;p33"/>
          <p:cNvSpPr txBox="1"/>
          <p:nvPr/>
        </p:nvSpPr>
        <p:spPr>
          <a:xfrm>
            <a:off x="7572375" y="1047750"/>
            <a:ext cx="14289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95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"Every model is a data problem before it's a model problem."</a:t>
            </a:r>
            <a:endParaRPr b="0" i="1" sz="95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630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FFCC00"/>
                </a:solidFill>
                <a:latin typeface="Space Grotesk"/>
                <a:ea typeface="Space Grotesk"/>
                <a:cs typeface="Space Grotesk"/>
                <a:sym typeface="Space Grotesk"/>
              </a:rPr>
              <a:t>SIZE</a:t>
            </a:r>
            <a:endParaRPr b="0" sz="2600">
              <a:solidFill>
                <a:srgbClr val="FFCC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83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F4F4F0"/>
                </a:solidFill>
                <a:latin typeface="Inter Medium"/>
                <a:ea typeface="Inter Medium"/>
                <a:cs typeface="Inter Medium"/>
                <a:sym typeface="Inter Medium"/>
              </a:rPr>
              <a:t>And Coverage</a:t>
            </a:r>
            <a:endParaRPr b="0" sz="900">
              <a:solidFill>
                <a:srgbClr val="F4F4F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630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FFCC00"/>
                </a:solidFill>
                <a:latin typeface="Space Grotesk"/>
                <a:ea typeface="Space Grotesk"/>
                <a:cs typeface="Space Grotesk"/>
                <a:sym typeface="Space Grotesk"/>
              </a:rPr>
              <a:t>Low</a:t>
            </a:r>
            <a:endParaRPr b="0" sz="2600">
              <a:solidFill>
                <a:srgbClr val="FFCC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83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F4F4F0"/>
                </a:solidFill>
                <a:latin typeface="Inter Medium"/>
                <a:ea typeface="Inter Medium"/>
                <a:cs typeface="Inter Medium"/>
                <a:sym typeface="Inter Medium"/>
              </a:rPr>
              <a:t>Ceiling Risk</a:t>
            </a:r>
            <a:endParaRPr b="0" sz="900">
              <a:solidFill>
                <a:srgbClr val="F4F4F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630"/>
              </a:spcBef>
              <a:spcAft>
                <a:spcPts val="0"/>
              </a:spcAft>
              <a:buNone/>
            </a:pPr>
            <a:r>
              <a:rPr b="0" lang="en" sz="700">
                <a:solidFill>
                  <a:srgbClr val="FFCC00"/>
                </a:solidFill>
                <a:latin typeface="Inter Medium"/>
                <a:ea typeface="Inter Medium"/>
                <a:cs typeface="Inter Medium"/>
                <a:sym typeface="Inter Medium"/>
              </a:rPr>
              <a:t>* Insufficient tail representation quietly throttles final downstream model utility</a:t>
            </a:r>
            <a:endParaRPr b="0" sz="700">
              <a:solidFill>
                <a:srgbClr val="FFCC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3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4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34"/>
          <p:cNvSpPr/>
          <p:nvPr/>
        </p:nvSpPr>
        <p:spPr>
          <a:xfrm>
            <a:off x="7429500" y="0"/>
            <a:ext cx="1714500" cy="5143500"/>
          </a:xfrm>
          <a:prstGeom prst="rect">
            <a:avLst/>
          </a:prstGeom>
          <a:solidFill>
            <a:srgbClr val="0044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95" name="Google Shape;995;p34"/>
          <p:cNvCxnSpPr/>
          <p:nvPr/>
        </p:nvCxnSpPr>
        <p:spPr>
          <a:xfrm>
            <a:off x="7429500" y="0"/>
            <a:ext cx="0" cy="5143500"/>
          </a:xfrm>
          <a:prstGeom prst="straightConnector1">
            <a:avLst/>
          </a:prstGeom>
          <a:solidFill>
            <a:srgbClr val="FFFFFF"/>
          </a:solidFill>
          <a:ln cap="flat" cmpd="sng" w="762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6" name="Google Shape;996;p34"/>
          <p:cNvSpPr/>
          <p:nvPr/>
        </p:nvSpPr>
        <p:spPr>
          <a:xfrm>
            <a:off x="190500" y="190500"/>
            <a:ext cx="8763000" cy="4762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381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97" name="Google Shape;997;p34"/>
          <p:cNvGrpSpPr/>
          <p:nvPr/>
        </p:nvGrpSpPr>
        <p:grpSpPr>
          <a:xfrm>
            <a:off x="8001000" y="381000"/>
            <a:ext cx="457200" cy="457200"/>
            <a:chOff x="0" y="0"/>
            <a:chExt cx="457200" cy="457200"/>
          </a:xfrm>
        </p:grpSpPr>
        <p:sp>
          <p:nvSpPr>
            <p:cNvPr id="998" name="Google Shape;998;p34"/>
            <p:cNvSpPr/>
            <p:nvPr/>
          </p:nvSpPr>
          <p:spPr>
            <a:xfrm>
              <a:off x="0" y="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34"/>
            <p:cNvSpPr/>
            <p:nvPr/>
          </p:nvSpPr>
          <p:spPr>
            <a:xfrm>
              <a:off x="190500" y="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34"/>
            <p:cNvSpPr/>
            <p:nvPr/>
          </p:nvSpPr>
          <p:spPr>
            <a:xfrm>
              <a:off x="381000" y="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34"/>
            <p:cNvSpPr/>
            <p:nvPr/>
          </p:nvSpPr>
          <p:spPr>
            <a:xfrm>
              <a:off x="0" y="19050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34"/>
            <p:cNvSpPr/>
            <p:nvPr/>
          </p:nvSpPr>
          <p:spPr>
            <a:xfrm>
              <a:off x="190500" y="19050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34"/>
            <p:cNvSpPr/>
            <p:nvPr/>
          </p:nvSpPr>
          <p:spPr>
            <a:xfrm>
              <a:off x="381000" y="19050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34"/>
            <p:cNvSpPr/>
            <p:nvPr/>
          </p:nvSpPr>
          <p:spPr>
            <a:xfrm>
              <a:off x="0" y="38100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34"/>
            <p:cNvSpPr/>
            <p:nvPr/>
          </p:nvSpPr>
          <p:spPr>
            <a:xfrm>
              <a:off x="190500" y="38100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34"/>
            <p:cNvSpPr/>
            <p:nvPr/>
          </p:nvSpPr>
          <p:spPr>
            <a:xfrm>
              <a:off x="381000" y="38100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07" name="Google Shape;1007;p34"/>
          <p:cNvGrpSpPr/>
          <p:nvPr/>
        </p:nvGrpSpPr>
        <p:grpSpPr>
          <a:xfrm>
            <a:off x="7905750" y="4000500"/>
            <a:ext cx="762000" cy="713400"/>
            <a:chOff x="0" y="0"/>
            <a:chExt cx="762000" cy="713400"/>
          </a:xfrm>
        </p:grpSpPr>
        <p:sp>
          <p:nvSpPr>
            <p:cNvPr id="1008" name="Google Shape;1008;p34"/>
            <p:cNvSpPr/>
            <p:nvPr/>
          </p:nvSpPr>
          <p:spPr>
            <a:xfrm>
              <a:off x="0" y="0"/>
              <a:ext cx="762000" cy="713400"/>
            </a:xfrm>
            <a:custGeom>
              <a:rect b="b" l="l" r="r" t="t"/>
              <a:pathLst>
                <a:path extrusionOk="0" h="120000" w="120000">
                  <a:moveTo>
                    <a:pt x="0" y="31883"/>
                  </a:moveTo>
                  <a:lnTo>
                    <a:pt x="0" y="95968"/>
                  </a:lnTo>
                  <a:cubicBezTo>
                    <a:pt x="0" y="108785"/>
                    <a:pt x="27000" y="120000"/>
                    <a:pt x="60000" y="120000"/>
                  </a:cubicBezTo>
                  <a:cubicBezTo>
                    <a:pt x="93000" y="120000"/>
                    <a:pt x="120000" y="108785"/>
                    <a:pt x="120000" y="95968"/>
                  </a:cubicBezTo>
                  <a:lnTo>
                    <a:pt x="120000" y="0"/>
                  </a:lnTo>
                </a:path>
              </a:pathLst>
            </a:custGeom>
            <a:solidFill>
              <a:srgbClr val="00E676"/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34"/>
            <p:cNvSpPr/>
            <p:nvPr/>
          </p:nvSpPr>
          <p:spPr>
            <a:xfrm>
              <a:off x="0" y="0"/>
              <a:ext cx="762000" cy="285900"/>
            </a:xfrm>
            <a:prstGeom prst="ellipse">
              <a:avLst/>
            </a:prstGeom>
            <a:solidFill>
              <a:srgbClr val="00E676"/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34"/>
            <p:cNvSpPr/>
            <p:nvPr/>
          </p:nvSpPr>
          <p:spPr>
            <a:xfrm>
              <a:off x="0" y="190500"/>
              <a:ext cx="762000" cy="285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1" name="Google Shape;1011;p34"/>
          <p:cNvSpPr txBox="1"/>
          <p:nvPr/>
        </p:nvSpPr>
        <p:spPr>
          <a:xfrm>
            <a:off x="476250" y="428625"/>
            <a:ext cx="6667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rPr>
              <a:t>EVALUATION: LABEL QUALITY</a:t>
            </a:r>
            <a:endParaRPr b="0" sz="2600">
              <a:solidFill>
                <a:srgbClr val="11111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1012" name="Google Shape;1012;p34"/>
          <p:cNvGrpSpPr/>
          <p:nvPr/>
        </p:nvGrpSpPr>
        <p:grpSpPr>
          <a:xfrm>
            <a:off x="476250" y="1143000"/>
            <a:ext cx="3143400" cy="3429000"/>
            <a:chOff x="0" y="0"/>
            <a:chExt cx="3143400" cy="3429000"/>
          </a:xfrm>
        </p:grpSpPr>
        <p:sp>
          <p:nvSpPr>
            <p:cNvPr id="1013" name="Google Shape;1013;p34"/>
            <p:cNvSpPr/>
            <p:nvPr/>
          </p:nvSpPr>
          <p:spPr>
            <a:xfrm>
              <a:off x="0" y="0"/>
              <a:ext cx="3143400" cy="3429000"/>
            </a:xfrm>
            <a:prstGeom prst="roundRect">
              <a:avLst>
                <a:gd fmla="val 1818" name="adj"/>
              </a:avLst>
            </a:prstGeom>
            <a:solidFill>
              <a:srgbClr val="111111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34"/>
            <p:cNvSpPr/>
            <p:nvPr/>
          </p:nvSpPr>
          <p:spPr>
            <a:xfrm>
              <a:off x="0" y="0"/>
              <a:ext cx="3143400" cy="3429000"/>
            </a:xfrm>
            <a:prstGeom prst="roundRect">
              <a:avLst>
                <a:gd fmla="val 1818" name="adj"/>
              </a:avLst>
            </a:prstGeom>
            <a:solidFill>
              <a:srgbClr val="FFFFFF"/>
            </a:solidFill>
            <a:ln cap="flat" cmpd="sng" w="28575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15" name="Google Shape;1015;p34"/>
            <p:cNvGrpSpPr/>
            <p:nvPr/>
          </p:nvGrpSpPr>
          <p:grpSpPr>
            <a:xfrm>
              <a:off x="142875" y="142875"/>
              <a:ext cx="2857500" cy="333300"/>
              <a:chOff x="0" y="0"/>
              <a:chExt cx="2857500" cy="333300"/>
            </a:xfrm>
          </p:grpSpPr>
          <p:sp>
            <p:nvSpPr>
              <p:cNvPr id="1016" name="Google Shape;1016;p34"/>
              <p:cNvSpPr/>
              <p:nvPr/>
            </p:nvSpPr>
            <p:spPr>
              <a:xfrm>
                <a:off x="0" y="0"/>
                <a:ext cx="2857500" cy="333300"/>
              </a:xfrm>
              <a:prstGeom prst="roundRect">
                <a:avLst>
                  <a:gd fmla="val 11428" name="adj"/>
                </a:avLst>
              </a:prstGeom>
              <a:solidFill>
                <a:srgbClr val="00E676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7" name="Google Shape;1017;p34"/>
              <p:cNvSpPr txBox="1"/>
              <p:nvPr/>
            </p:nvSpPr>
            <p:spPr>
              <a:xfrm>
                <a:off x="0" y="0"/>
                <a:ext cx="28575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111111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ANNOTATION ORIGIN</a:t>
                </a:r>
                <a:endParaRPr b="0" sz="110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grpSp>
          <p:nvGrpSpPr>
            <p:cNvPr id="1018" name="Google Shape;1018;p34"/>
            <p:cNvGrpSpPr/>
            <p:nvPr/>
          </p:nvGrpSpPr>
          <p:grpSpPr>
            <a:xfrm>
              <a:off x="142875" y="619125"/>
              <a:ext cx="238200" cy="238200"/>
              <a:chOff x="0" y="0"/>
              <a:chExt cx="238200" cy="238200"/>
            </a:xfrm>
          </p:grpSpPr>
          <p:sp>
            <p:nvSpPr>
              <p:cNvPr id="1019" name="Google Shape;1019;p34"/>
              <p:cNvSpPr/>
              <p:nvPr/>
            </p:nvSpPr>
            <p:spPr>
              <a:xfrm>
                <a:off x="0" y="0"/>
                <a:ext cx="238200" cy="238200"/>
              </a:xfrm>
              <a:prstGeom prst="roundRect">
                <a:avLst>
                  <a:gd fmla="val 16000" name="adj"/>
                </a:avLst>
              </a:prstGeom>
              <a:solidFill>
                <a:srgbClr val="0044FF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0" name="Google Shape;1020;p34"/>
              <p:cNvSpPr txBox="1"/>
              <p:nvPr/>
            </p:nvSpPr>
            <p:spPr>
              <a:xfrm>
                <a:off x="0" y="0"/>
                <a:ext cx="2382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Q3</a:t>
                </a:r>
                <a:endParaRPr b="0" sz="10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sp>
          <p:nvSpPr>
            <p:cNvPr id="1021" name="Google Shape;1021;p34"/>
            <p:cNvSpPr txBox="1"/>
            <p:nvPr/>
          </p:nvSpPr>
          <p:spPr>
            <a:xfrm>
              <a:off x="476250" y="619125"/>
              <a:ext cx="25242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55555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OWNERSHIP &amp; PROVENANCE</a:t>
              </a:r>
              <a:endParaRPr b="0" sz="850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Who Labeled It?</a:t>
              </a:r>
              <a:endParaRPr b="0" sz="1350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2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Labeling Source:</a:t>
              </a:r>
              <a:r>
                <a:rPr b="0" lang="en" sz="125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Understand exactly who annotated your dataset and their baseline expertise level.</a:t>
              </a:r>
              <a:endParaRPr b="0" sz="1250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2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Disagreement Resolution:</a:t>
              </a:r>
              <a:r>
                <a:rPr b="0" lang="en" sz="125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Ensure there was a clear, documented protocol for resolving conflicting annotations instead of ignoring them.</a:t>
              </a:r>
              <a:endParaRPr b="0" sz="1250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022" name="Google Shape;1022;p34"/>
          <p:cNvGrpSpPr/>
          <p:nvPr/>
        </p:nvGrpSpPr>
        <p:grpSpPr>
          <a:xfrm>
            <a:off x="3905250" y="1143000"/>
            <a:ext cx="3143400" cy="3429000"/>
            <a:chOff x="0" y="0"/>
            <a:chExt cx="3143400" cy="3429000"/>
          </a:xfrm>
        </p:grpSpPr>
        <p:sp>
          <p:nvSpPr>
            <p:cNvPr id="1023" name="Google Shape;1023;p34"/>
            <p:cNvSpPr/>
            <p:nvPr/>
          </p:nvSpPr>
          <p:spPr>
            <a:xfrm>
              <a:off x="0" y="0"/>
              <a:ext cx="3143400" cy="3429000"/>
            </a:xfrm>
            <a:prstGeom prst="roundRect">
              <a:avLst>
                <a:gd fmla="val 1818" name="adj"/>
              </a:avLst>
            </a:prstGeom>
            <a:solidFill>
              <a:srgbClr val="111111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34"/>
            <p:cNvSpPr/>
            <p:nvPr/>
          </p:nvSpPr>
          <p:spPr>
            <a:xfrm>
              <a:off x="0" y="0"/>
              <a:ext cx="3143400" cy="3429000"/>
            </a:xfrm>
            <a:prstGeom prst="roundRect">
              <a:avLst>
                <a:gd fmla="val 1818" name="adj"/>
              </a:avLst>
            </a:prstGeom>
            <a:solidFill>
              <a:srgbClr val="FFFFFF"/>
            </a:solidFill>
            <a:ln cap="flat" cmpd="sng" w="28575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25" name="Google Shape;1025;p34"/>
            <p:cNvGrpSpPr/>
            <p:nvPr/>
          </p:nvGrpSpPr>
          <p:grpSpPr>
            <a:xfrm>
              <a:off x="142875" y="142875"/>
              <a:ext cx="2857500" cy="333300"/>
              <a:chOff x="0" y="0"/>
              <a:chExt cx="2857500" cy="333300"/>
            </a:xfrm>
          </p:grpSpPr>
          <p:sp>
            <p:nvSpPr>
              <p:cNvPr id="1026" name="Google Shape;1026;p34"/>
              <p:cNvSpPr/>
              <p:nvPr/>
            </p:nvSpPr>
            <p:spPr>
              <a:xfrm>
                <a:off x="0" y="0"/>
                <a:ext cx="2857500" cy="333300"/>
              </a:xfrm>
              <a:prstGeom prst="roundRect">
                <a:avLst>
                  <a:gd fmla="val 11428" name="adj"/>
                </a:avLst>
              </a:prstGeom>
              <a:solidFill>
                <a:srgbClr val="FFCC00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7" name="Google Shape;1027;p34"/>
              <p:cNvSpPr txBox="1"/>
              <p:nvPr/>
            </p:nvSpPr>
            <p:spPr>
              <a:xfrm>
                <a:off x="0" y="0"/>
                <a:ext cx="28575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111111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AGREEMENT METRICS</a:t>
                </a:r>
                <a:endParaRPr b="0" sz="110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grpSp>
          <p:nvGrpSpPr>
            <p:cNvPr id="1028" name="Google Shape;1028;p34"/>
            <p:cNvGrpSpPr/>
            <p:nvPr/>
          </p:nvGrpSpPr>
          <p:grpSpPr>
            <a:xfrm>
              <a:off x="142875" y="619125"/>
              <a:ext cx="238200" cy="238200"/>
              <a:chOff x="0" y="0"/>
              <a:chExt cx="238200" cy="238200"/>
            </a:xfrm>
          </p:grpSpPr>
          <p:sp>
            <p:nvSpPr>
              <p:cNvPr id="1029" name="Google Shape;1029;p34"/>
              <p:cNvSpPr/>
              <p:nvPr/>
            </p:nvSpPr>
            <p:spPr>
              <a:xfrm>
                <a:off x="0" y="0"/>
                <a:ext cx="238200" cy="238200"/>
              </a:xfrm>
              <a:prstGeom prst="roundRect">
                <a:avLst>
                  <a:gd fmla="val 16000" name="adj"/>
                </a:avLst>
              </a:prstGeom>
              <a:solidFill>
                <a:srgbClr val="111111"/>
              </a:solidFill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0" name="Google Shape;1030;p34"/>
              <p:cNvSpPr txBox="1"/>
              <p:nvPr/>
            </p:nvSpPr>
            <p:spPr>
              <a:xfrm>
                <a:off x="0" y="0"/>
                <a:ext cx="2382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Q4</a:t>
                </a:r>
                <a:endParaRPr b="0" sz="10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sp>
          <p:nvSpPr>
            <p:cNvPr id="1031" name="Google Shape;1031;p34"/>
            <p:cNvSpPr txBox="1"/>
            <p:nvPr/>
          </p:nvSpPr>
          <p:spPr>
            <a:xfrm>
              <a:off x="476250" y="619125"/>
              <a:ext cx="25242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55555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CONSISTENCY &amp; ALIGNMENT</a:t>
              </a:r>
              <a:endParaRPr b="0" sz="750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25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Inter-Annotator Agreement</a:t>
              </a:r>
              <a:endParaRPr b="0" sz="1250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Stated Scores:</a:t>
              </a:r>
              <a:r>
                <a:rPr b="0" lang="en" sz="115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Having a documented consensus or agreement score is a strong signal of deliberate dataset hygiene.</a:t>
              </a:r>
              <a:endParaRPr b="0" sz="1150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The Red Flag:</a:t>
              </a:r>
              <a:r>
                <a:rPr b="0" lang="en" sz="115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Having no stated alignment metrics is an immediate warning sign of highly divergent, low-confidence ground truth.</a:t>
              </a:r>
              <a:endParaRPr b="0" sz="1150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1032" name="Google Shape;1032;p34"/>
          <p:cNvSpPr txBox="1"/>
          <p:nvPr/>
        </p:nvSpPr>
        <p:spPr>
          <a:xfrm>
            <a:off x="7572375" y="1047750"/>
            <a:ext cx="14289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95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"Every model is a data problem before it's a model problem."</a:t>
            </a:r>
            <a:endParaRPr b="0" i="1" sz="95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473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FFCC00"/>
                </a:solidFill>
                <a:latin typeface="Space Grotesk"/>
                <a:ea typeface="Space Grotesk"/>
                <a:cs typeface="Space Grotesk"/>
                <a:sym typeface="Space Grotesk"/>
              </a:rPr>
              <a:t>LABELS</a:t>
            </a:r>
            <a:endParaRPr b="0" sz="2600">
              <a:solidFill>
                <a:srgbClr val="FFCC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6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F4F4F0"/>
                </a:solidFill>
                <a:latin typeface="Inter Medium"/>
                <a:ea typeface="Inter Medium"/>
                <a:cs typeface="Inter Medium"/>
                <a:sym typeface="Inter Medium"/>
              </a:rPr>
              <a:t>Quality Control</a:t>
            </a:r>
            <a:endParaRPr b="0" sz="900">
              <a:solidFill>
                <a:srgbClr val="F4F4F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473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FFCC00"/>
                </a:solidFill>
                <a:latin typeface="Space Grotesk"/>
                <a:ea typeface="Space Grotesk"/>
                <a:cs typeface="Space Grotesk"/>
                <a:sym typeface="Space Grotesk"/>
              </a:rPr>
              <a:t>High</a:t>
            </a:r>
            <a:endParaRPr b="0" sz="2600">
              <a:solidFill>
                <a:srgbClr val="FFCC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6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F4F4F0"/>
                </a:solidFill>
                <a:latin typeface="Inter Medium"/>
                <a:ea typeface="Inter Medium"/>
                <a:cs typeface="Inter Medium"/>
                <a:sym typeface="Inter Medium"/>
              </a:rPr>
              <a:t>Production Risk</a:t>
            </a:r>
            <a:endParaRPr b="0" sz="900">
              <a:solidFill>
                <a:srgbClr val="F4F4F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473"/>
              </a:spcBef>
              <a:spcAft>
                <a:spcPts val="0"/>
              </a:spcAft>
              <a:buNone/>
            </a:pPr>
            <a:r>
              <a:rPr b="0" lang="en" sz="700">
                <a:solidFill>
                  <a:srgbClr val="FFCC00"/>
                </a:solidFill>
                <a:latin typeface="Inter Medium"/>
                <a:ea typeface="Inter Medium"/>
                <a:cs typeface="Inter Medium"/>
                <a:sym typeface="Inter Medium"/>
              </a:rPr>
              <a:t>* Noisy labels don't show up in metrics until it's too late — they manifest directly as silent failures in production.</a:t>
            </a:r>
            <a:endParaRPr b="0" sz="700">
              <a:solidFill>
                <a:srgbClr val="FFCC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3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4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p35"/>
          <p:cNvSpPr/>
          <p:nvPr/>
        </p:nvSpPr>
        <p:spPr>
          <a:xfrm>
            <a:off x="7429500" y="0"/>
            <a:ext cx="1714500" cy="5143500"/>
          </a:xfrm>
          <a:prstGeom prst="rect">
            <a:avLst/>
          </a:prstGeom>
          <a:solidFill>
            <a:srgbClr val="0044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39" name="Google Shape;1039;p35"/>
          <p:cNvCxnSpPr/>
          <p:nvPr/>
        </p:nvCxnSpPr>
        <p:spPr>
          <a:xfrm>
            <a:off x="7429500" y="0"/>
            <a:ext cx="0" cy="5143500"/>
          </a:xfrm>
          <a:prstGeom prst="straightConnector1">
            <a:avLst/>
          </a:prstGeom>
          <a:solidFill>
            <a:srgbClr val="FFFFFF"/>
          </a:solidFill>
          <a:ln cap="flat" cmpd="sng" w="762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0" name="Google Shape;1040;p35"/>
          <p:cNvSpPr/>
          <p:nvPr/>
        </p:nvSpPr>
        <p:spPr>
          <a:xfrm>
            <a:off x="190500" y="190500"/>
            <a:ext cx="8763000" cy="4762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381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41" name="Google Shape;1041;p35"/>
          <p:cNvGrpSpPr/>
          <p:nvPr/>
        </p:nvGrpSpPr>
        <p:grpSpPr>
          <a:xfrm>
            <a:off x="8001000" y="381000"/>
            <a:ext cx="457200" cy="457200"/>
            <a:chOff x="0" y="0"/>
            <a:chExt cx="457200" cy="457200"/>
          </a:xfrm>
        </p:grpSpPr>
        <p:sp>
          <p:nvSpPr>
            <p:cNvPr id="1042" name="Google Shape;1042;p35"/>
            <p:cNvSpPr/>
            <p:nvPr/>
          </p:nvSpPr>
          <p:spPr>
            <a:xfrm>
              <a:off x="0" y="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35"/>
            <p:cNvSpPr/>
            <p:nvPr/>
          </p:nvSpPr>
          <p:spPr>
            <a:xfrm>
              <a:off x="190500" y="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35"/>
            <p:cNvSpPr/>
            <p:nvPr/>
          </p:nvSpPr>
          <p:spPr>
            <a:xfrm>
              <a:off x="381000" y="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35"/>
            <p:cNvSpPr/>
            <p:nvPr/>
          </p:nvSpPr>
          <p:spPr>
            <a:xfrm>
              <a:off x="0" y="19050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35"/>
            <p:cNvSpPr/>
            <p:nvPr/>
          </p:nvSpPr>
          <p:spPr>
            <a:xfrm>
              <a:off x="190500" y="19050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35"/>
            <p:cNvSpPr/>
            <p:nvPr/>
          </p:nvSpPr>
          <p:spPr>
            <a:xfrm>
              <a:off x="381000" y="19050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35"/>
            <p:cNvSpPr/>
            <p:nvPr/>
          </p:nvSpPr>
          <p:spPr>
            <a:xfrm>
              <a:off x="0" y="38100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35"/>
            <p:cNvSpPr/>
            <p:nvPr/>
          </p:nvSpPr>
          <p:spPr>
            <a:xfrm>
              <a:off x="190500" y="38100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35"/>
            <p:cNvSpPr/>
            <p:nvPr/>
          </p:nvSpPr>
          <p:spPr>
            <a:xfrm>
              <a:off x="381000" y="38100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1" name="Google Shape;1051;p35"/>
          <p:cNvGrpSpPr/>
          <p:nvPr/>
        </p:nvGrpSpPr>
        <p:grpSpPr>
          <a:xfrm>
            <a:off x="7905750" y="4000500"/>
            <a:ext cx="762000" cy="713400"/>
            <a:chOff x="0" y="0"/>
            <a:chExt cx="762000" cy="713400"/>
          </a:xfrm>
        </p:grpSpPr>
        <p:sp>
          <p:nvSpPr>
            <p:cNvPr id="1052" name="Google Shape;1052;p35"/>
            <p:cNvSpPr/>
            <p:nvPr/>
          </p:nvSpPr>
          <p:spPr>
            <a:xfrm>
              <a:off x="0" y="0"/>
              <a:ext cx="762000" cy="713400"/>
            </a:xfrm>
            <a:custGeom>
              <a:rect b="b" l="l" r="r" t="t"/>
              <a:pathLst>
                <a:path extrusionOk="0" h="120000" w="120000">
                  <a:moveTo>
                    <a:pt x="0" y="31883"/>
                  </a:moveTo>
                  <a:lnTo>
                    <a:pt x="0" y="95968"/>
                  </a:lnTo>
                  <a:cubicBezTo>
                    <a:pt x="0" y="108785"/>
                    <a:pt x="27000" y="120000"/>
                    <a:pt x="60000" y="120000"/>
                  </a:cubicBezTo>
                  <a:cubicBezTo>
                    <a:pt x="93000" y="120000"/>
                    <a:pt x="120000" y="108785"/>
                    <a:pt x="120000" y="95968"/>
                  </a:cubicBezTo>
                  <a:lnTo>
                    <a:pt x="120000" y="0"/>
                  </a:lnTo>
                </a:path>
              </a:pathLst>
            </a:custGeom>
            <a:solidFill>
              <a:srgbClr val="00E676"/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35"/>
            <p:cNvSpPr/>
            <p:nvPr/>
          </p:nvSpPr>
          <p:spPr>
            <a:xfrm>
              <a:off x="0" y="0"/>
              <a:ext cx="762000" cy="285900"/>
            </a:xfrm>
            <a:prstGeom prst="ellipse">
              <a:avLst/>
            </a:prstGeom>
            <a:solidFill>
              <a:srgbClr val="00E676"/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35"/>
            <p:cNvSpPr/>
            <p:nvPr/>
          </p:nvSpPr>
          <p:spPr>
            <a:xfrm>
              <a:off x="0" y="190500"/>
              <a:ext cx="762000" cy="285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55" name="Google Shape;1055;p35"/>
          <p:cNvSpPr txBox="1"/>
          <p:nvPr/>
        </p:nvSpPr>
        <p:spPr>
          <a:xfrm>
            <a:off x="476250" y="428625"/>
            <a:ext cx="6667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rPr>
              <a:t>EVALUATION: BIAS &amp; REPRESENTATION</a:t>
            </a:r>
            <a:endParaRPr b="0" sz="2600">
              <a:solidFill>
                <a:srgbClr val="11111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1056" name="Google Shape;1056;p35"/>
          <p:cNvGrpSpPr/>
          <p:nvPr/>
        </p:nvGrpSpPr>
        <p:grpSpPr>
          <a:xfrm>
            <a:off x="476250" y="1143000"/>
            <a:ext cx="3143400" cy="3429000"/>
            <a:chOff x="0" y="0"/>
            <a:chExt cx="3143400" cy="3429000"/>
          </a:xfrm>
        </p:grpSpPr>
        <p:sp>
          <p:nvSpPr>
            <p:cNvPr id="1057" name="Google Shape;1057;p35"/>
            <p:cNvSpPr/>
            <p:nvPr/>
          </p:nvSpPr>
          <p:spPr>
            <a:xfrm>
              <a:off x="0" y="0"/>
              <a:ext cx="3143400" cy="3429000"/>
            </a:xfrm>
            <a:prstGeom prst="roundRect">
              <a:avLst>
                <a:gd fmla="val 1818" name="adj"/>
              </a:avLst>
            </a:prstGeom>
            <a:solidFill>
              <a:srgbClr val="111111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35"/>
            <p:cNvSpPr/>
            <p:nvPr/>
          </p:nvSpPr>
          <p:spPr>
            <a:xfrm>
              <a:off x="0" y="0"/>
              <a:ext cx="3143400" cy="3429000"/>
            </a:xfrm>
            <a:prstGeom prst="roundRect">
              <a:avLst>
                <a:gd fmla="val 1818" name="adj"/>
              </a:avLst>
            </a:prstGeom>
            <a:solidFill>
              <a:srgbClr val="FFFFFF"/>
            </a:solidFill>
            <a:ln cap="flat" cmpd="sng" w="28575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59" name="Google Shape;1059;p35"/>
            <p:cNvGrpSpPr/>
            <p:nvPr/>
          </p:nvGrpSpPr>
          <p:grpSpPr>
            <a:xfrm>
              <a:off x="142875" y="142875"/>
              <a:ext cx="2857500" cy="333300"/>
              <a:chOff x="0" y="0"/>
              <a:chExt cx="2857500" cy="333300"/>
            </a:xfrm>
          </p:grpSpPr>
          <p:sp>
            <p:nvSpPr>
              <p:cNvPr id="1060" name="Google Shape;1060;p35"/>
              <p:cNvSpPr/>
              <p:nvPr/>
            </p:nvSpPr>
            <p:spPr>
              <a:xfrm>
                <a:off x="0" y="0"/>
                <a:ext cx="2857500" cy="333300"/>
              </a:xfrm>
              <a:prstGeom prst="roundRect">
                <a:avLst>
                  <a:gd fmla="val 11428" name="adj"/>
                </a:avLst>
              </a:prstGeom>
              <a:solidFill>
                <a:srgbClr val="00E676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1" name="Google Shape;1061;p35"/>
              <p:cNvSpPr txBox="1"/>
              <p:nvPr/>
            </p:nvSpPr>
            <p:spPr>
              <a:xfrm>
                <a:off x="0" y="0"/>
                <a:ext cx="28575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111111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DEMOGRAPHIC COVERAGE</a:t>
                </a:r>
                <a:endParaRPr b="0" sz="110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grpSp>
          <p:nvGrpSpPr>
            <p:cNvPr id="1062" name="Google Shape;1062;p35"/>
            <p:cNvGrpSpPr/>
            <p:nvPr/>
          </p:nvGrpSpPr>
          <p:grpSpPr>
            <a:xfrm>
              <a:off x="142875" y="619125"/>
              <a:ext cx="238200" cy="238200"/>
              <a:chOff x="0" y="0"/>
              <a:chExt cx="238200" cy="238200"/>
            </a:xfrm>
          </p:grpSpPr>
          <p:sp>
            <p:nvSpPr>
              <p:cNvPr id="1063" name="Google Shape;1063;p35"/>
              <p:cNvSpPr/>
              <p:nvPr/>
            </p:nvSpPr>
            <p:spPr>
              <a:xfrm>
                <a:off x="0" y="0"/>
                <a:ext cx="238200" cy="238200"/>
              </a:xfrm>
              <a:prstGeom prst="roundRect">
                <a:avLst>
                  <a:gd fmla="val 16000" name="adj"/>
                </a:avLst>
              </a:prstGeom>
              <a:solidFill>
                <a:srgbClr val="0044FF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4" name="Google Shape;1064;p35"/>
              <p:cNvSpPr txBox="1"/>
              <p:nvPr/>
            </p:nvSpPr>
            <p:spPr>
              <a:xfrm>
                <a:off x="0" y="0"/>
                <a:ext cx="2382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Q5</a:t>
                </a:r>
                <a:endParaRPr b="0" sz="10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sp>
          <p:nvSpPr>
            <p:cNvPr id="1065" name="Google Shape;1065;p35"/>
            <p:cNvSpPr txBox="1"/>
            <p:nvPr/>
          </p:nvSpPr>
          <p:spPr>
            <a:xfrm>
              <a:off x="476250" y="619125"/>
              <a:ext cx="25242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55555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REPRESENTATION AUDIT</a:t>
              </a:r>
              <a:endParaRPr b="0" sz="750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25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Who Is Missing?</a:t>
              </a:r>
              <a:endParaRPr b="0" sz="1250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Imbalance Check:</a:t>
              </a:r>
              <a:r>
                <a:rPr lang="en" sz="1500"/>
                <a:t> </a:t>
              </a:r>
              <a:r>
                <a:rPr b="0" lang="en" sz="115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Understand exactly who or what is over-represented in the training data, and identify who is missing entirely from the sample set.</a:t>
              </a:r>
              <a:endParaRPr sz="1500"/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Real-World Gaps:</a:t>
              </a:r>
              <a:r>
                <a:rPr lang="en" sz="1500"/>
                <a:t> </a:t>
              </a:r>
              <a:r>
                <a:rPr b="0" lang="en" sz="115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 dataset that neglects entire demographics or geographic regions produces models that generalize poorly in multi-faceted environments.</a:t>
              </a:r>
              <a:endParaRPr sz="1500"/>
            </a:p>
          </p:txBody>
        </p:sp>
      </p:grpSp>
      <p:grpSp>
        <p:nvGrpSpPr>
          <p:cNvPr id="1066" name="Google Shape;1066;p35"/>
          <p:cNvGrpSpPr/>
          <p:nvPr/>
        </p:nvGrpSpPr>
        <p:grpSpPr>
          <a:xfrm>
            <a:off x="3905250" y="1143000"/>
            <a:ext cx="3143400" cy="3429000"/>
            <a:chOff x="0" y="0"/>
            <a:chExt cx="3143400" cy="3429000"/>
          </a:xfrm>
        </p:grpSpPr>
        <p:sp>
          <p:nvSpPr>
            <p:cNvPr id="1067" name="Google Shape;1067;p35"/>
            <p:cNvSpPr/>
            <p:nvPr/>
          </p:nvSpPr>
          <p:spPr>
            <a:xfrm>
              <a:off x="0" y="0"/>
              <a:ext cx="3143400" cy="3429000"/>
            </a:xfrm>
            <a:prstGeom prst="roundRect">
              <a:avLst>
                <a:gd fmla="val 1818" name="adj"/>
              </a:avLst>
            </a:prstGeom>
            <a:solidFill>
              <a:srgbClr val="111111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35"/>
            <p:cNvSpPr/>
            <p:nvPr/>
          </p:nvSpPr>
          <p:spPr>
            <a:xfrm>
              <a:off x="0" y="0"/>
              <a:ext cx="3143400" cy="3429000"/>
            </a:xfrm>
            <a:prstGeom prst="roundRect">
              <a:avLst>
                <a:gd fmla="val 1818" name="adj"/>
              </a:avLst>
            </a:prstGeom>
            <a:solidFill>
              <a:srgbClr val="FFFFFF"/>
            </a:solidFill>
            <a:ln cap="flat" cmpd="sng" w="28575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69" name="Google Shape;1069;p35"/>
            <p:cNvGrpSpPr/>
            <p:nvPr/>
          </p:nvGrpSpPr>
          <p:grpSpPr>
            <a:xfrm>
              <a:off x="142875" y="142875"/>
              <a:ext cx="2857500" cy="333300"/>
              <a:chOff x="0" y="0"/>
              <a:chExt cx="2857500" cy="333300"/>
            </a:xfrm>
          </p:grpSpPr>
          <p:sp>
            <p:nvSpPr>
              <p:cNvPr id="1070" name="Google Shape;1070;p35"/>
              <p:cNvSpPr/>
              <p:nvPr/>
            </p:nvSpPr>
            <p:spPr>
              <a:xfrm>
                <a:off x="0" y="0"/>
                <a:ext cx="2857500" cy="333300"/>
              </a:xfrm>
              <a:prstGeom prst="roundRect">
                <a:avLst>
                  <a:gd fmla="val 11428" name="adj"/>
                </a:avLst>
              </a:prstGeom>
              <a:solidFill>
                <a:srgbClr val="FFCC00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1" name="Google Shape;1071;p35"/>
              <p:cNvSpPr txBox="1"/>
              <p:nvPr/>
            </p:nvSpPr>
            <p:spPr>
              <a:xfrm>
                <a:off x="0" y="0"/>
                <a:ext cx="28575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111111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SYSTEMIC BIAS</a:t>
                </a:r>
                <a:endParaRPr b="0" sz="110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grpSp>
          <p:nvGrpSpPr>
            <p:cNvPr id="1072" name="Google Shape;1072;p35"/>
            <p:cNvGrpSpPr/>
            <p:nvPr/>
          </p:nvGrpSpPr>
          <p:grpSpPr>
            <a:xfrm>
              <a:off x="142875" y="619125"/>
              <a:ext cx="238200" cy="238200"/>
              <a:chOff x="0" y="0"/>
              <a:chExt cx="238200" cy="238200"/>
            </a:xfrm>
          </p:grpSpPr>
          <p:sp>
            <p:nvSpPr>
              <p:cNvPr id="1073" name="Google Shape;1073;p35"/>
              <p:cNvSpPr/>
              <p:nvPr/>
            </p:nvSpPr>
            <p:spPr>
              <a:xfrm>
                <a:off x="0" y="0"/>
                <a:ext cx="238200" cy="238200"/>
              </a:xfrm>
              <a:prstGeom prst="roundRect">
                <a:avLst>
                  <a:gd fmla="val 16000" name="adj"/>
                </a:avLst>
              </a:prstGeom>
              <a:solidFill>
                <a:srgbClr val="111111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4" name="Google Shape;1074;p35"/>
              <p:cNvSpPr txBox="1"/>
              <p:nvPr/>
            </p:nvSpPr>
            <p:spPr>
              <a:xfrm>
                <a:off x="0" y="0"/>
                <a:ext cx="2382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Q6</a:t>
                </a:r>
                <a:endParaRPr b="0" sz="10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sp>
          <p:nvSpPr>
            <p:cNvPr id="1075" name="Google Shape;1075;p35"/>
            <p:cNvSpPr txBox="1"/>
            <p:nvPr/>
          </p:nvSpPr>
          <p:spPr>
            <a:xfrm>
              <a:off x="476250" y="619125"/>
              <a:ext cx="25242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55555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PREDICTIVE ALIGNMENT</a:t>
              </a:r>
              <a:endParaRPr b="0" sz="750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25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Baked-In Bias</a:t>
              </a:r>
              <a:endParaRPr b="0" sz="1250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Data to Prediction:</a:t>
              </a:r>
              <a:r>
                <a:rPr lang="en" sz="1500"/>
                <a:t> </a:t>
              </a:r>
              <a:r>
                <a:rPr b="0" lang="en" sz="115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Bias baked into your training data inevitably becomes systemic bias baked directly into downstream model predictions and decisions.</a:t>
              </a:r>
              <a:endParaRPr sz="1500"/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The Gut-Check:</a:t>
              </a:r>
              <a:r>
                <a:rPr lang="en" sz="1500"/>
                <a:t> </a:t>
              </a:r>
              <a:r>
                <a:rPr b="0" lang="en" sz="115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Ask yourself, "If I only trained on this specific dataset, who would this system fail?" Identify the silent failures before deployment.</a:t>
              </a:r>
              <a:endParaRPr sz="1500"/>
            </a:p>
          </p:txBody>
        </p:sp>
      </p:grpSp>
      <p:sp>
        <p:nvSpPr>
          <p:cNvPr id="1076" name="Google Shape;1076;p35"/>
          <p:cNvSpPr txBox="1"/>
          <p:nvPr/>
        </p:nvSpPr>
        <p:spPr>
          <a:xfrm>
            <a:off x="7572375" y="1047750"/>
            <a:ext cx="14289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95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"Every model is a data problem before it's a model problem."</a:t>
            </a:r>
            <a:endParaRPr b="0" i="1" sz="95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FFCC00"/>
                </a:solidFill>
                <a:latin typeface="Space Grotesk"/>
                <a:ea typeface="Space Grotesk"/>
                <a:cs typeface="Space Grotesk"/>
                <a:sym typeface="Space Grotesk"/>
              </a:rPr>
              <a:t>BIAS</a:t>
            </a:r>
            <a:endParaRPr b="0" sz="2600">
              <a:solidFill>
                <a:srgbClr val="FFCC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6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F4F4F0"/>
                </a:solidFill>
                <a:latin typeface="Inter Medium"/>
                <a:ea typeface="Inter Medium"/>
                <a:cs typeface="Inter Medium"/>
                <a:sym typeface="Inter Medium"/>
              </a:rPr>
              <a:t>Representation</a:t>
            </a:r>
            <a:endParaRPr b="0" sz="900">
              <a:solidFill>
                <a:srgbClr val="F4F4F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470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FFCC00"/>
                </a:solidFill>
                <a:latin typeface="Space Grotesk"/>
                <a:ea typeface="Space Grotesk"/>
                <a:cs typeface="Space Grotesk"/>
                <a:sym typeface="Space Grotesk"/>
              </a:rPr>
              <a:t>Fatal</a:t>
            </a:r>
            <a:endParaRPr b="0" sz="2600">
              <a:solidFill>
                <a:srgbClr val="FFCC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6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F4F4F0"/>
                </a:solidFill>
                <a:latin typeface="Inter Medium"/>
                <a:ea typeface="Inter Medium"/>
                <a:cs typeface="Inter Medium"/>
                <a:sym typeface="Inter Medium"/>
              </a:rPr>
              <a:t>Systemic Risk</a:t>
            </a:r>
            <a:endParaRPr b="0" sz="900">
              <a:solidFill>
                <a:srgbClr val="F4F4F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470"/>
              </a:spcBef>
              <a:spcAft>
                <a:spcPts val="0"/>
              </a:spcAft>
              <a:buNone/>
            </a:pPr>
            <a:r>
              <a:rPr b="0" lang="en" sz="700">
                <a:solidFill>
                  <a:srgbClr val="FFCC00"/>
                </a:solidFill>
                <a:latin typeface="Inter Medium"/>
                <a:ea typeface="Inter Medium"/>
                <a:cs typeface="Inter Medium"/>
                <a:sym typeface="Inter Medium"/>
              </a:rPr>
              <a:t>* Failing to represent the true distribution causes critical, unpredictable blindspots in production environments.</a:t>
            </a:r>
            <a:endParaRPr b="0" sz="700">
              <a:solidFill>
                <a:srgbClr val="FFCC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3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4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p36"/>
          <p:cNvSpPr/>
          <p:nvPr/>
        </p:nvSpPr>
        <p:spPr>
          <a:xfrm>
            <a:off x="7429500" y="0"/>
            <a:ext cx="1714500" cy="5143500"/>
          </a:xfrm>
          <a:prstGeom prst="rect">
            <a:avLst/>
          </a:prstGeom>
          <a:solidFill>
            <a:srgbClr val="0044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83" name="Google Shape;1083;p36"/>
          <p:cNvCxnSpPr/>
          <p:nvPr/>
        </p:nvCxnSpPr>
        <p:spPr>
          <a:xfrm>
            <a:off x="7429500" y="0"/>
            <a:ext cx="0" cy="5143500"/>
          </a:xfrm>
          <a:prstGeom prst="straightConnector1">
            <a:avLst/>
          </a:prstGeom>
          <a:solidFill>
            <a:srgbClr val="FFFFFF"/>
          </a:solidFill>
          <a:ln cap="flat" cmpd="sng" w="762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4" name="Google Shape;1084;p36"/>
          <p:cNvSpPr/>
          <p:nvPr/>
        </p:nvSpPr>
        <p:spPr>
          <a:xfrm>
            <a:off x="190500" y="190500"/>
            <a:ext cx="8763000" cy="4762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381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85" name="Google Shape;1085;p36"/>
          <p:cNvGrpSpPr/>
          <p:nvPr/>
        </p:nvGrpSpPr>
        <p:grpSpPr>
          <a:xfrm>
            <a:off x="8001000" y="381000"/>
            <a:ext cx="457200" cy="457200"/>
            <a:chOff x="0" y="0"/>
            <a:chExt cx="457200" cy="457200"/>
          </a:xfrm>
        </p:grpSpPr>
        <p:sp>
          <p:nvSpPr>
            <p:cNvPr id="1086" name="Google Shape;1086;p36"/>
            <p:cNvSpPr/>
            <p:nvPr/>
          </p:nvSpPr>
          <p:spPr>
            <a:xfrm>
              <a:off x="0" y="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36"/>
            <p:cNvSpPr/>
            <p:nvPr/>
          </p:nvSpPr>
          <p:spPr>
            <a:xfrm>
              <a:off x="190500" y="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36"/>
            <p:cNvSpPr/>
            <p:nvPr/>
          </p:nvSpPr>
          <p:spPr>
            <a:xfrm>
              <a:off x="381000" y="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36"/>
            <p:cNvSpPr/>
            <p:nvPr/>
          </p:nvSpPr>
          <p:spPr>
            <a:xfrm>
              <a:off x="0" y="19050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36"/>
            <p:cNvSpPr/>
            <p:nvPr/>
          </p:nvSpPr>
          <p:spPr>
            <a:xfrm>
              <a:off x="190500" y="19050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36"/>
            <p:cNvSpPr/>
            <p:nvPr/>
          </p:nvSpPr>
          <p:spPr>
            <a:xfrm>
              <a:off x="381000" y="19050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36"/>
            <p:cNvSpPr/>
            <p:nvPr/>
          </p:nvSpPr>
          <p:spPr>
            <a:xfrm>
              <a:off x="0" y="38100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36"/>
            <p:cNvSpPr/>
            <p:nvPr/>
          </p:nvSpPr>
          <p:spPr>
            <a:xfrm>
              <a:off x="190500" y="38100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36"/>
            <p:cNvSpPr/>
            <p:nvPr/>
          </p:nvSpPr>
          <p:spPr>
            <a:xfrm>
              <a:off x="381000" y="38100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95" name="Google Shape;1095;p36"/>
          <p:cNvGrpSpPr/>
          <p:nvPr/>
        </p:nvGrpSpPr>
        <p:grpSpPr>
          <a:xfrm>
            <a:off x="7905750" y="4000500"/>
            <a:ext cx="762000" cy="713400"/>
            <a:chOff x="0" y="0"/>
            <a:chExt cx="762000" cy="713400"/>
          </a:xfrm>
        </p:grpSpPr>
        <p:sp>
          <p:nvSpPr>
            <p:cNvPr id="1096" name="Google Shape;1096;p36"/>
            <p:cNvSpPr/>
            <p:nvPr/>
          </p:nvSpPr>
          <p:spPr>
            <a:xfrm>
              <a:off x="0" y="0"/>
              <a:ext cx="762000" cy="713400"/>
            </a:xfrm>
            <a:custGeom>
              <a:rect b="b" l="l" r="r" t="t"/>
              <a:pathLst>
                <a:path extrusionOk="0" h="120000" w="120000">
                  <a:moveTo>
                    <a:pt x="0" y="31883"/>
                  </a:moveTo>
                  <a:lnTo>
                    <a:pt x="0" y="95968"/>
                  </a:lnTo>
                  <a:cubicBezTo>
                    <a:pt x="0" y="108785"/>
                    <a:pt x="27000" y="120000"/>
                    <a:pt x="60000" y="120000"/>
                  </a:cubicBezTo>
                  <a:cubicBezTo>
                    <a:pt x="93000" y="120000"/>
                    <a:pt x="120000" y="108785"/>
                    <a:pt x="120000" y="95968"/>
                  </a:cubicBezTo>
                  <a:lnTo>
                    <a:pt x="120000" y="0"/>
                  </a:lnTo>
                </a:path>
              </a:pathLst>
            </a:custGeom>
            <a:solidFill>
              <a:srgbClr val="00E676"/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36"/>
            <p:cNvSpPr/>
            <p:nvPr/>
          </p:nvSpPr>
          <p:spPr>
            <a:xfrm>
              <a:off x="0" y="0"/>
              <a:ext cx="762000" cy="285900"/>
            </a:xfrm>
            <a:prstGeom prst="ellipse">
              <a:avLst/>
            </a:prstGeom>
            <a:solidFill>
              <a:srgbClr val="00E676"/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36"/>
            <p:cNvSpPr/>
            <p:nvPr/>
          </p:nvSpPr>
          <p:spPr>
            <a:xfrm>
              <a:off x="0" y="190500"/>
              <a:ext cx="762000" cy="285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9" name="Google Shape;1099;p36"/>
          <p:cNvSpPr txBox="1"/>
          <p:nvPr/>
        </p:nvSpPr>
        <p:spPr>
          <a:xfrm>
            <a:off x="476250" y="428625"/>
            <a:ext cx="6667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rPr>
              <a:t>EVALUATION: LICENSE &amp; CONSENT</a:t>
            </a:r>
            <a:endParaRPr b="0" sz="2600">
              <a:solidFill>
                <a:srgbClr val="11111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1100" name="Google Shape;1100;p36"/>
          <p:cNvGrpSpPr/>
          <p:nvPr/>
        </p:nvGrpSpPr>
        <p:grpSpPr>
          <a:xfrm>
            <a:off x="476250" y="1143000"/>
            <a:ext cx="3143400" cy="3429000"/>
            <a:chOff x="0" y="0"/>
            <a:chExt cx="3143400" cy="3429000"/>
          </a:xfrm>
        </p:grpSpPr>
        <p:sp>
          <p:nvSpPr>
            <p:cNvPr id="1101" name="Google Shape;1101;p36"/>
            <p:cNvSpPr/>
            <p:nvPr/>
          </p:nvSpPr>
          <p:spPr>
            <a:xfrm>
              <a:off x="0" y="0"/>
              <a:ext cx="3143400" cy="3429000"/>
            </a:xfrm>
            <a:prstGeom prst="roundRect">
              <a:avLst>
                <a:gd fmla="val 1818" name="adj"/>
              </a:avLst>
            </a:prstGeom>
            <a:solidFill>
              <a:srgbClr val="111111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36"/>
            <p:cNvSpPr/>
            <p:nvPr/>
          </p:nvSpPr>
          <p:spPr>
            <a:xfrm>
              <a:off x="0" y="0"/>
              <a:ext cx="3143400" cy="3429000"/>
            </a:xfrm>
            <a:prstGeom prst="roundRect">
              <a:avLst>
                <a:gd fmla="val 1818" name="adj"/>
              </a:avLst>
            </a:prstGeom>
            <a:solidFill>
              <a:srgbClr val="FFFFFF"/>
            </a:solidFill>
            <a:ln cap="flat" cmpd="sng" w="28575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03" name="Google Shape;1103;p36"/>
            <p:cNvGrpSpPr/>
            <p:nvPr/>
          </p:nvGrpSpPr>
          <p:grpSpPr>
            <a:xfrm>
              <a:off x="142875" y="142875"/>
              <a:ext cx="2857500" cy="333300"/>
              <a:chOff x="0" y="0"/>
              <a:chExt cx="2857500" cy="333300"/>
            </a:xfrm>
          </p:grpSpPr>
          <p:sp>
            <p:nvSpPr>
              <p:cNvPr id="1104" name="Google Shape;1104;p36"/>
              <p:cNvSpPr/>
              <p:nvPr/>
            </p:nvSpPr>
            <p:spPr>
              <a:xfrm>
                <a:off x="0" y="0"/>
                <a:ext cx="2857500" cy="333300"/>
              </a:xfrm>
              <a:prstGeom prst="roundRect">
                <a:avLst>
                  <a:gd fmla="val 11428" name="adj"/>
                </a:avLst>
              </a:prstGeom>
              <a:solidFill>
                <a:srgbClr val="00E676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5" name="Google Shape;1105;p36"/>
              <p:cNvSpPr txBox="1"/>
              <p:nvPr/>
            </p:nvSpPr>
            <p:spPr>
              <a:xfrm>
                <a:off x="0" y="0"/>
                <a:ext cx="28575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111111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TERMS OF ACQUISITION</a:t>
                </a:r>
                <a:endParaRPr b="0" sz="110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grpSp>
          <p:nvGrpSpPr>
            <p:cNvPr id="1106" name="Google Shape;1106;p36"/>
            <p:cNvGrpSpPr/>
            <p:nvPr/>
          </p:nvGrpSpPr>
          <p:grpSpPr>
            <a:xfrm>
              <a:off x="142875" y="619125"/>
              <a:ext cx="238200" cy="238200"/>
              <a:chOff x="0" y="0"/>
              <a:chExt cx="238200" cy="238200"/>
            </a:xfrm>
          </p:grpSpPr>
          <p:sp>
            <p:nvSpPr>
              <p:cNvPr id="1107" name="Google Shape;1107;p36"/>
              <p:cNvSpPr/>
              <p:nvPr/>
            </p:nvSpPr>
            <p:spPr>
              <a:xfrm>
                <a:off x="0" y="0"/>
                <a:ext cx="238200" cy="238200"/>
              </a:xfrm>
              <a:prstGeom prst="roundRect">
                <a:avLst>
                  <a:gd fmla="val 16000" name="adj"/>
                </a:avLst>
              </a:prstGeom>
              <a:solidFill>
                <a:srgbClr val="0044FF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8" name="Google Shape;1108;p36"/>
              <p:cNvSpPr txBox="1"/>
              <p:nvPr/>
            </p:nvSpPr>
            <p:spPr>
              <a:xfrm>
                <a:off x="0" y="0"/>
                <a:ext cx="2382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Q7</a:t>
                </a:r>
                <a:endParaRPr b="0" sz="10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sp>
          <p:nvSpPr>
            <p:cNvPr id="1109" name="Google Shape;1109;p36"/>
            <p:cNvSpPr txBox="1"/>
            <p:nvPr/>
          </p:nvSpPr>
          <p:spPr>
            <a:xfrm>
              <a:off x="476250" y="619125"/>
              <a:ext cx="25242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55555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INTENDED RE-USE</a:t>
              </a:r>
              <a:endParaRPr b="0" sz="750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25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Authorized Scope</a:t>
              </a:r>
              <a:endParaRPr b="0" sz="1250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Release Validity:</a:t>
              </a:r>
              <a:r>
                <a:rPr lang="en" sz="1500"/>
                <a:t> </a:t>
              </a:r>
              <a:r>
                <a:rPr b="0" lang="en" sz="115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Was this data actually released for the use you have in mind? Vetting authorization boundaries is critical prior to downstream training.</a:t>
              </a:r>
              <a:endParaRPr sz="1500"/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Scraping Reality:</a:t>
              </a:r>
              <a:r>
                <a:rPr lang="en" sz="1500"/>
                <a:t> </a:t>
              </a:r>
              <a:r>
                <a:rPr b="0" lang="en" sz="115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"It's public" ≠ "it's licensed". Relying on scraped-without-permission data introduces substantial, active legal exposures.</a:t>
              </a:r>
              <a:endParaRPr sz="1500"/>
            </a:p>
          </p:txBody>
        </p:sp>
      </p:grpSp>
      <p:grpSp>
        <p:nvGrpSpPr>
          <p:cNvPr id="1110" name="Google Shape;1110;p36"/>
          <p:cNvGrpSpPr/>
          <p:nvPr/>
        </p:nvGrpSpPr>
        <p:grpSpPr>
          <a:xfrm>
            <a:off x="3905250" y="1143000"/>
            <a:ext cx="3143400" cy="3429000"/>
            <a:chOff x="0" y="0"/>
            <a:chExt cx="3143400" cy="3429000"/>
          </a:xfrm>
        </p:grpSpPr>
        <p:sp>
          <p:nvSpPr>
            <p:cNvPr id="1111" name="Google Shape;1111;p36"/>
            <p:cNvSpPr/>
            <p:nvPr/>
          </p:nvSpPr>
          <p:spPr>
            <a:xfrm>
              <a:off x="0" y="0"/>
              <a:ext cx="3143400" cy="3429000"/>
            </a:xfrm>
            <a:prstGeom prst="roundRect">
              <a:avLst>
                <a:gd fmla="val 1818" name="adj"/>
              </a:avLst>
            </a:prstGeom>
            <a:solidFill>
              <a:srgbClr val="111111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36"/>
            <p:cNvSpPr/>
            <p:nvPr/>
          </p:nvSpPr>
          <p:spPr>
            <a:xfrm>
              <a:off x="0" y="0"/>
              <a:ext cx="3143400" cy="3429000"/>
            </a:xfrm>
            <a:prstGeom prst="roundRect">
              <a:avLst>
                <a:gd fmla="val 1818" name="adj"/>
              </a:avLst>
            </a:prstGeom>
            <a:solidFill>
              <a:srgbClr val="FFFFFF"/>
            </a:solidFill>
            <a:ln cap="flat" cmpd="sng" w="28575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13" name="Google Shape;1113;p36"/>
            <p:cNvGrpSpPr/>
            <p:nvPr/>
          </p:nvGrpSpPr>
          <p:grpSpPr>
            <a:xfrm>
              <a:off x="142875" y="142875"/>
              <a:ext cx="2857500" cy="333300"/>
              <a:chOff x="0" y="0"/>
              <a:chExt cx="2857500" cy="333300"/>
            </a:xfrm>
          </p:grpSpPr>
          <p:sp>
            <p:nvSpPr>
              <p:cNvPr id="1114" name="Google Shape;1114;p36"/>
              <p:cNvSpPr/>
              <p:nvPr/>
            </p:nvSpPr>
            <p:spPr>
              <a:xfrm>
                <a:off x="0" y="0"/>
                <a:ext cx="2857500" cy="333300"/>
              </a:xfrm>
              <a:prstGeom prst="roundRect">
                <a:avLst>
                  <a:gd fmla="val 11428" name="adj"/>
                </a:avLst>
              </a:prstGeom>
              <a:solidFill>
                <a:srgbClr val="FFCC00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5" name="Google Shape;1115;p36"/>
              <p:cNvSpPr txBox="1"/>
              <p:nvPr/>
            </p:nvSpPr>
            <p:spPr>
              <a:xfrm>
                <a:off x="0" y="0"/>
                <a:ext cx="28575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111111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PRIVACY AUDIT</a:t>
                </a:r>
                <a:endParaRPr b="0" sz="110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grpSp>
          <p:nvGrpSpPr>
            <p:cNvPr id="1116" name="Google Shape;1116;p36"/>
            <p:cNvGrpSpPr/>
            <p:nvPr/>
          </p:nvGrpSpPr>
          <p:grpSpPr>
            <a:xfrm>
              <a:off x="142875" y="619125"/>
              <a:ext cx="238200" cy="238200"/>
              <a:chOff x="0" y="0"/>
              <a:chExt cx="238200" cy="238200"/>
            </a:xfrm>
          </p:grpSpPr>
          <p:sp>
            <p:nvSpPr>
              <p:cNvPr id="1117" name="Google Shape;1117;p36"/>
              <p:cNvSpPr/>
              <p:nvPr/>
            </p:nvSpPr>
            <p:spPr>
              <a:xfrm>
                <a:off x="0" y="0"/>
                <a:ext cx="238200" cy="238200"/>
              </a:xfrm>
              <a:prstGeom prst="roundRect">
                <a:avLst>
                  <a:gd fmla="val 16000" name="adj"/>
                </a:avLst>
              </a:prstGeom>
              <a:solidFill>
                <a:srgbClr val="111111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8" name="Google Shape;1118;p36"/>
              <p:cNvSpPr txBox="1"/>
              <p:nvPr/>
            </p:nvSpPr>
            <p:spPr>
              <a:xfrm>
                <a:off x="0" y="0"/>
                <a:ext cx="2382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Q8</a:t>
                </a:r>
                <a:endParaRPr b="0" sz="10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sp>
          <p:nvSpPr>
            <p:cNvPr id="1119" name="Google Shape;1119;p36"/>
            <p:cNvSpPr txBox="1"/>
            <p:nvPr/>
          </p:nvSpPr>
          <p:spPr>
            <a:xfrm>
              <a:off x="476250" y="619125"/>
              <a:ext cx="25242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55555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DATA PRIVACY</a:t>
              </a:r>
              <a:endParaRPr b="0" sz="750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25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Consent Vetting</a:t>
              </a:r>
              <a:endParaRPr b="0" sz="1250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PII Red Flags:</a:t>
              </a:r>
              <a:r>
                <a:rPr lang="en" sz="1500"/>
                <a:t> </a:t>
              </a:r>
              <a:r>
                <a:rPr b="0" lang="en" sz="115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Strictly audit for names, faces, medical files, or financial records that persist without clear, documented explicit consent.</a:t>
              </a:r>
              <a:endParaRPr sz="1500"/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Anonymization Gaps:</a:t>
              </a:r>
              <a:r>
                <a:rPr lang="en" sz="1500"/>
                <a:t> </a:t>
              </a:r>
              <a:r>
                <a:rPr b="0" lang="en" sz="115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Even minor leakage of unmasked identifier fields creates compliance risk under global regulatory frame-works.</a:t>
              </a:r>
              <a:endParaRPr sz="1500"/>
            </a:p>
          </p:txBody>
        </p:sp>
      </p:grpSp>
      <p:sp>
        <p:nvSpPr>
          <p:cNvPr id="1120" name="Google Shape;1120;p36"/>
          <p:cNvSpPr txBox="1"/>
          <p:nvPr/>
        </p:nvSpPr>
        <p:spPr>
          <a:xfrm>
            <a:off x="7572375" y="1047750"/>
            <a:ext cx="14289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95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"Every model is a data problem before it's a model problem."</a:t>
            </a:r>
            <a:endParaRPr b="0" i="1" sz="95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FFCC00"/>
                </a:solidFill>
                <a:latin typeface="Space Grotesk"/>
                <a:ea typeface="Space Grotesk"/>
                <a:cs typeface="Space Grotesk"/>
                <a:sym typeface="Space Grotesk"/>
              </a:rPr>
              <a:t>LEGAL</a:t>
            </a:r>
            <a:endParaRPr b="0" sz="2600">
              <a:solidFill>
                <a:srgbClr val="FFCC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6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F4F4F0"/>
                </a:solidFill>
                <a:latin typeface="Inter Medium"/>
                <a:ea typeface="Inter Medium"/>
                <a:cs typeface="Inter Medium"/>
                <a:sym typeface="Inter Medium"/>
              </a:rPr>
              <a:t>Consent &amp; Rights</a:t>
            </a:r>
            <a:endParaRPr b="0" sz="900">
              <a:solidFill>
                <a:srgbClr val="F4F4F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470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FFCC00"/>
                </a:solidFill>
                <a:latin typeface="Space Grotesk"/>
                <a:ea typeface="Space Grotesk"/>
                <a:cs typeface="Space Grotesk"/>
                <a:sym typeface="Space Grotesk"/>
              </a:rPr>
              <a:t>Risk</a:t>
            </a:r>
            <a:endParaRPr b="0" sz="2600">
              <a:solidFill>
                <a:srgbClr val="FFCC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6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F4F4F0"/>
                </a:solidFill>
                <a:latin typeface="Inter Medium"/>
                <a:ea typeface="Inter Medium"/>
                <a:cs typeface="Inter Medium"/>
                <a:sym typeface="Inter Medium"/>
              </a:rPr>
              <a:t>Legal Exposure</a:t>
            </a:r>
            <a:endParaRPr b="0" sz="900">
              <a:solidFill>
                <a:srgbClr val="F4F4F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470"/>
              </a:spcBef>
              <a:spcAft>
                <a:spcPts val="0"/>
              </a:spcAft>
              <a:buNone/>
            </a:pPr>
            <a:r>
              <a:rPr b="0" lang="en" sz="700">
                <a:solidFill>
                  <a:srgbClr val="FFCC00"/>
                </a:solidFill>
                <a:latin typeface="Inter Medium"/>
                <a:ea typeface="Inter Medium"/>
                <a:cs typeface="Inter Medium"/>
                <a:sym typeface="Inter Medium"/>
              </a:rPr>
              <a:t>* Unauthorized data usage guarantees silent legal and regulatory liabilities in enterprise scale deployments.</a:t>
            </a:r>
            <a:endParaRPr b="0" sz="700">
              <a:solidFill>
                <a:srgbClr val="FFCC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3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4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6" name="Google Shape;1126;p37"/>
          <p:cNvSpPr/>
          <p:nvPr/>
        </p:nvSpPr>
        <p:spPr>
          <a:xfrm>
            <a:off x="7429500" y="0"/>
            <a:ext cx="1714500" cy="5143500"/>
          </a:xfrm>
          <a:prstGeom prst="rect">
            <a:avLst/>
          </a:prstGeom>
          <a:solidFill>
            <a:srgbClr val="0044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27" name="Google Shape;1127;p37"/>
          <p:cNvCxnSpPr/>
          <p:nvPr/>
        </p:nvCxnSpPr>
        <p:spPr>
          <a:xfrm>
            <a:off x="7429500" y="0"/>
            <a:ext cx="0" cy="5143500"/>
          </a:xfrm>
          <a:prstGeom prst="straightConnector1">
            <a:avLst/>
          </a:prstGeom>
          <a:solidFill>
            <a:srgbClr val="FFFFFF"/>
          </a:solidFill>
          <a:ln cap="flat" cmpd="sng" w="762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8" name="Google Shape;1128;p37"/>
          <p:cNvSpPr/>
          <p:nvPr/>
        </p:nvSpPr>
        <p:spPr>
          <a:xfrm>
            <a:off x="190500" y="190500"/>
            <a:ext cx="8763000" cy="4762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381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29" name="Google Shape;1129;p37"/>
          <p:cNvGrpSpPr/>
          <p:nvPr/>
        </p:nvGrpSpPr>
        <p:grpSpPr>
          <a:xfrm>
            <a:off x="8001000" y="381000"/>
            <a:ext cx="457200" cy="457200"/>
            <a:chOff x="0" y="0"/>
            <a:chExt cx="457200" cy="457200"/>
          </a:xfrm>
        </p:grpSpPr>
        <p:sp>
          <p:nvSpPr>
            <p:cNvPr id="1130" name="Google Shape;1130;p37"/>
            <p:cNvSpPr/>
            <p:nvPr/>
          </p:nvSpPr>
          <p:spPr>
            <a:xfrm>
              <a:off x="0" y="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37"/>
            <p:cNvSpPr/>
            <p:nvPr/>
          </p:nvSpPr>
          <p:spPr>
            <a:xfrm>
              <a:off x="190500" y="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37"/>
            <p:cNvSpPr/>
            <p:nvPr/>
          </p:nvSpPr>
          <p:spPr>
            <a:xfrm>
              <a:off x="381000" y="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37"/>
            <p:cNvSpPr/>
            <p:nvPr/>
          </p:nvSpPr>
          <p:spPr>
            <a:xfrm>
              <a:off x="0" y="19050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37"/>
            <p:cNvSpPr/>
            <p:nvPr/>
          </p:nvSpPr>
          <p:spPr>
            <a:xfrm>
              <a:off x="190500" y="19050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37"/>
            <p:cNvSpPr/>
            <p:nvPr/>
          </p:nvSpPr>
          <p:spPr>
            <a:xfrm>
              <a:off x="381000" y="19050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37"/>
            <p:cNvSpPr/>
            <p:nvPr/>
          </p:nvSpPr>
          <p:spPr>
            <a:xfrm>
              <a:off x="0" y="38100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37"/>
            <p:cNvSpPr/>
            <p:nvPr/>
          </p:nvSpPr>
          <p:spPr>
            <a:xfrm>
              <a:off x="190500" y="38100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37"/>
            <p:cNvSpPr/>
            <p:nvPr/>
          </p:nvSpPr>
          <p:spPr>
            <a:xfrm>
              <a:off x="381000" y="38100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39" name="Google Shape;1139;p37"/>
          <p:cNvGrpSpPr/>
          <p:nvPr/>
        </p:nvGrpSpPr>
        <p:grpSpPr>
          <a:xfrm>
            <a:off x="7905750" y="4000500"/>
            <a:ext cx="762000" cy="714300"/>
            <a:chOff x="0" y="0"/>
            <a:chExt cx="762000" cy="714300"/>
          </a:xfrm>
        </p:grpSpPr>
        <p:sp>
          <p:nvSpPr>
            <p:cNvPr id="1140" name="Google Shape;1140;p37"/>
            <p:cNvSpPr/>
            <p:nvPr/>
          </p:nvSpPr>
          <p:spPr>
            <a:xfrm>
              <a:off x="0" y="0"/>
              <a:ext cx="762000" cy="714300"/>
            </a:xfrm>
            <a:custGeom>
              <a:rect b="b" l="l" r="r" t="t"/>
              <a:pathLst>
                <a:path extrusionOk="0" h="120000" w="120000">
                  <a:moveTo>
                    <a:pt x="0" y="32000"/>
                  </a:moveTo>
                  <a:lnTo>
                    <a:pt x="0" y="96000"/>
                  </a:lnTo>
                  <a:cubicBezTo>
                    <a:pt x="0" y="108800"/>
                    <a:pt x="27000" y="120000"/>
                    <a:pt x="60000" y="120000"/>
                  </a:cubicBezTo>
                  <a:cubicBezTo>
                    <a:pt x="93000" y="120000"/>
                    <a:pt x="120000" y="108800"/>
                    <a:pt x="120000" y="96000"/>
                  </a:cubicBezTo>
                  <a:lnTo>
                    <a:pt x="120000" y="0"/>
                  </a:lnTo>
                </a:path>
              </a:pathLst>
            </a:custGeom>
            <a:solidFill>
              <a:srgbClr val="00E676"/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37"/>
            <p:cNvSpPr/>
            <p:nvPr/>
          </p:nvSpPr>
          <p:spPr>
            <a:xfrm>
              <a:off x="0" y="0"/>
              <a:ext cx="762000" cy="285900"/>
            </a:xfrm>
            <a:prstGeom prst="ellipse">
              <a:avLst/>
            </a:prstGeom>
            <a:solidFill>
              <a:srgbClr val="00E676"/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37"/>
            <p:cNvSpPr/>
            <p:nvPr/>
          </p:nvSpPr>
          <p:spPr>
            <a:xfrm>
              <a:off x="0" y="190500"/>
              <a:ext cx="762000" cy="285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43" name="Google Shape;1143;p37"/>
          <p:cNvSpPr txBox="1"/>
          <p:nvPr/>
        </p:nvSpPr>
        <p:spPr>
          <a:xfrm>
            <a:off x="476250" y="428625"/>
            <a:ext cx="6667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rPr>
              <a:t>EVALUATION: DOCUMENTATION</a:t>
            </a:r>
            <a:endParaRPr b="0" sz="2600">
              <a:solidFill>
                <a:srgbClr val="11111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1144" name="Google Shape;1144;p37"/>
          <p:cNvGrpSpPr/>
          <p:nvPr/>
        </p:nvGrpSpPr>
        <p:grpSpPr>
          <a:xfrm>
            <a:off x="476250" y="1143000"/>
            <a:ext cx="3143400" cy="3429000"/>
            <a:chOff x="0" y="0"/>
            <a:chExt cx="3143400" cy="3429000"/>
          </a:xfrm>
        </p:grpSpPr>
        <p:sp>
          <p:nvSpPr>
            <p:cNvPr id="1145" name="Google Shape;1145;p37"/>
            <p:cNvSpPr/>
            <p:nvPr/>
          </p:nvSpPr>
          <p:spPr>
            <a:xfrm>
              <a:off x="0" y="0"/>
              <a:ext cx="3143400" cy="3429000"/>
            </a:xfrm>
            <a:prstGeom prst="roundRect">
              <a:avLst>
                <a:gd fmla="val 1818" name="adj"/>
              </a:avLst>
            </a:prstGeom>
            <a:solidFill>
              <a:srgbClr val="111111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37"/>
            <p:cNvSpPr/>
            <p:nvPr/>
          </p:nvSpPr>
          <p:spPr>
            <a:xfrm>
              <a:off x="0" y="0"/>
              <a:ext cx="3143400" cy="3429000"/>
            </a:xfrm>
            <a:prstGeom prst="roundRect">
              <a:avLst>
                <a:gd fmla="val 1818" name="adj"/>
              </a:avLst>
            </a:prstGeom>
            <a:solidFill>
              <a:srgbClr val="FFFFFF"/>
            </a:solidFill>
            <a:ln cap="flat" cmpd="sng" w="28575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47" name="Google Shape;1147;p37"/>
            <p:cNvGrpSpPr/>
            <p:nvPr/>
          </p:nvGrpSpPr>
          <p:grpSpPr>
            <a:xfrm>
              <a:off x="142875" y="142875"/>
              <a:ext cx="2857500" cy="333300"/>
              <a:chOff x="0" y="0"/>
              <a:chExt cx="2857500" cy="333300"/>
            </a:xfrm>
          </p:grpSpPr>
          <p:sp>
            <p:nvSpPr>
              <p:cNvPr id="1148" name="Google Shape;1148;p37"/>
              <p:cNvSpPr/>
              <p:nvPr/>
            </p:nvSpPr>
            <p:spPr>
              <a:xfrm>
                <a:off x="0" y="0"/>
                <a:ext cx="2857500" cy="333300"/>
              </a:xfrm>
              <a:prstGeom prst="roundRect">
                <a:avLst>
                  <a:gd fmla="val 11428" name="adj"/>
                </a:avLst>
              </a:prstGeom>
              <a:solidFill>
                <a:srgbClr val="00E676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9" name="Google Shape;1149;p37"/>
              <p:cNvSpPr txBox="1"/>
              <p:nvPr/>
            </p:nvSpPr>
            <p:spPr>
              <a:xfrm>
                <a:off x="0" y="0"/>
                <a:ext cx="28575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111111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PROVENANCE RECORD</a:t>
                </a:r>
                <a:endParaRPr b="0" sz="110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grpSp>
          <p:nvGrpSpPr>
            <p:cNvPr id="1150" name="Google Shape;1150;p37"/>
            <p:cNvGrpSpPr/>
            <p:nvPr/>
          </p:nvGrpSpPr>
          <p:grpSpPr>
            <a:xfrm>
              <a:off x="142875" y="619125"/>
              <a:ext cx="238200" cy="238200"/>
              <a:chOff x="0" y="0"/>
              <a:chExt cx="238200" cy="238200"/>
            </a:xfrm>
          </p:grpSpPr>
          <p:sp>
            <p:nvSpPr>
              <p:cNvPr id="1151" name="Google Shape;1151;p37"/>
              <p:cNvSpPr/>
              <p:nvPr/>
            </p:nvSpPr>
            <p:spPr>
              <a:xfrm>
                <a:off x="0" y="0"/>
                <a:ext cx="238200" cy="238200"/>
              </a:xfrm>
              <a:prstGeom prst="roundRect">
                <a:avLst>
                  <a:gd fmla="val 16000" name="adj"/>
                </a:avLst>
              </a:prstGeom>
              <a:solidFill>
                <a:srgbClr val="0044FF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2" name="Google Shape;1152;p37"/>
              <p:cNvSpPr txBox="1"/>
              <p:nvPr/>
            </p:nvSpPr>
            <p:spPr>
              <a:xfrm>
                <a:off x="0" y="0"/>
                <a:ext cx="2382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Q9</a:t>
                </a:r>
                <a:endParaRPr b="0" sz="10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sp>
          <p:nvSpPr>
            <p:cNvPr id="1153" name="Google Shape;1153;p37"/>
            <p:cNvSpPr txBox="1"/>
            <p:nvPr/>
          </p:nvSpPr>
          <p:spPr>
            <a:xfrm>
              <a:off x="476250" y="619125"/>
              <a:ext cx="25242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55555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DATASET PROVENANCE</a:t>
              </a:r>
              <a:endParaRPr b="0" sz="850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Collection Timeline</a:t>
              </a:r>
              <a:endParaRPr b="0" sz="1350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2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Acquisition Path:</a:t>
              </a:r>
              <a:r>
                <a:rPr b="0" lang="en" sz="125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Do you know exactly how and when this dataset was collected and structured?</a:t>
              </a:r>
              <a:endParaRPr b="0" sz="1250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2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Traceability:</a:t>
              </a:r>
              <a:r>
                <a:rPr b="0" lang="en" sz="125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Undocumented data leads directly to untraceable failures down the line where origin issues manifest unexpectedly.</a:t>
              </a:r>
              <a:endParaRPr b="0" sz="1250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154" name="Google Shape;1154;p37"/>
          <p:cNvGrpSpPr/>
          <p:nvPr/>
        </p:nvGrpSpPr>
        <p:grpSpPr>
          <a:xfrm>
            <a:off x="3905250" y="1143000"/>
            <a:ext cx="3143400" cy="3429000"/>
            <a:chOff x="0" y="0"/>
            <a:chExt cx="3143400" cy="3429000"/>
          </a:xfrm>
        </p:grpSpPr>
        <p:sp>
          <p:nvSpPr>
            <p:cNvPr id="1155" name="Google Shape;1155;p37"/>
            <p:cNvSpPr/>
            <p:nvPr/>
          </p:nvSpPr>
          <p:spPr>
            <a:xfrm>
              <a:off x="0" y="0"/>
              <a:ext cx="3143400" cy="3429000"/>
            </a:xfrm>
            <a:prstGeom prst="roundRect">
              <a:avLst>
                <a:gd fmla="val 1818" name="adj"/>
              </a:avLst>
            </a:prstGeom>
            <a:solidFill>
              <a:srgbClr val="111111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37"/>
            <p:cNvSpPr/>
            <p:nvPr/>
          </p:nvSpPr>
          <p:spPr>
            <a:xfrm>
              <a:off x="0" y="0"/>
              <a:ext cx="3143400" cy="3429000"/>
            </a:xfrm>
            <a:prstGeom prst="roundRect">
              <a:avLst>
                <a:gd fmla="val 1818" name="adj"/>
              </a:avLst>
            </a:prstGeom>
            <a:solidFill>
              <a:srgbClr val="FFFFFF"/>
            </a:solidFill>
            <a:ln cap="flat" cmpd="sng" w="28575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57" name="Google Shape;1157;p37"/>
            <p:cNvGrpSpPr/>
            <p:nvPr/>
          </p:nvGrpSpPr>
          <p:grpSpPr>
            <a:xfrm>
              <a:off x="142875" y="142875"/>
              <a:ext cx="2857500" cy="333300"/>
              <a:chOff x="0" y="0"/>
              <a:chExt cx="2857500" cy="333300"/>
            </a:xfrm>
          </p:grpSpPr>
          <p:sp>
            <p:nvSpPr>
              <p:cNvPr id="1158" name="Google Shape;1158;p37"/>
              <p:cNvSpPr/>
              <p:nvPr/>
            </p:nvSpPr>
            <p:spPr>
              <a:xfrm>
                <a:off x="0" y="0"/>
                <a:ext cx="2857500" cy="333300"/>
              </a:xfrm>
              <a:prstGeom prst="roundRect">
                <a:avLst>
                  <a:gd fmla="val 11428" name="adj"/>
                </a:avLst>
              </a:prstGeom>
              <a:solidFill>
                <a:srgbClr val="FFCC00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9" name="Google Shape;1159;p37"/>
              <p:cNvSpPr txBox="1"/>
              <p:nvPr/>
            </p:nvSpPr>
            <p:spPr>
              <a:xfrm>
                <a:off x="0" y="0"/>
                <a:ext cx="28575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111111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METADATA CARDS</a:t>
                </a:r>
                <a:endParaRPr b="0" sz="110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grpSp>
          <p:nvGrpSpPr>
            <p:cNvPr id="1160" name="Google Shape;1160;p37"/>
            <p:cNvGrpSpPr/>
            <p:nvPr/>
          </p:nvGrpSpPr>
          <p:grpSpPr>
            <a:xfrm>
              <a:off x="142875" y="619125"/>
              <a:ext cx="238200" cy="238200"/>
              <a:chOff x="0" y="0"/>
              <a:chExt cx="238200" cy="238200"/>
            </a:xfrm>
          </p:grpSpPr>
          <p:sp>
            <p:nvSpPr>
              <p:cNvPr id="1161" name="Google Shape;1161;p37"/>
              <p:cNvSpPr/>
              <p:nvPr/>
            </p:nvSpPr>
            <p:spPr>
              <a:xfrm>
                <a:off x="0" y="0"/>
                <a:ext cx="238200" cy="238200"/>
              </a:xfrm>
              <a:prstGeom prst="roundRect">
                <a:avLst>
                  <a:gd fmla="val 16000" name="adj"/>
                </a:avLst>
              </a:prstGeom>
              <a:solidFill>
                <a:srgbClr val="111111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2" name="Google Shape;1162;p37"/>
              <p:cNvSpPr txBox="1"/>
              <p:nvPr/>
            </p:nvSpPr>
            <p:spPr>
              <a:xfrm>
                <a:off x="0" y="0"/>
                <a:ext cx="2382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Q10</a:t>
                </a:r>
                <a:endParaRPr b="0" sz="10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sp>
          <p:nvSpPr>
            <p:cNvPr id="1163" name="Google Shape;1163;p37"/>
            <p:cNvSpPr txBox="1"/>
            <p:nvPr/>
          </p:nvSpPr>
          <p:spPr>
            <a:xfrm>
              <a:off x="476250" y="619125"/>
              <a:ext cx="25242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55555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DOCUMENTATION STANDARDS</a:t>
              </a:r>
              <a:endParaRPr b="0" sz="850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Model Cards &amp; Specs</a:t>
              </a:r>
              <a:endParaRPr b="0" sz="1350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2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The Standard:</a:t>
              </a:r>
              <a:r>
                <a:rPr b="0" lang="en" sz="125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Having no README or model card acts as a yellow flag rather than an automatic disqualifier.</a:t>
              </a:r>
              <a:endParaRPr b="0" sz="1250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2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Deep Verification:</a:t>
              </a:r>
              <a:r>
                <a:rPr b="0" lang="en" sz="125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Always dig deeper and manually audit the sample metadata before placing complete trust in it.</a:t>
              </a:r>
              <a:endParaRPr b="0" sz="1250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1164" name="Google Shape;1164;p37"/>
          <p:cNvSpPr txBox="1"/>
          <p:nvPr/>
        </p:nvSpPr>
        <p:spPr>
          <a:xfrm>
            <a:off x="7572375" y="1047750"/>
            <a:ext cx="14289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95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"Every model is a data problem before it's a model problem."</a:t>
            </a:r>
            <a:endParaRPr b="0" i="1" sz="95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" sz="2600">
                <a:latin typeface="Space Grotesk"/>
                <a:ea typeface="Space Grotesk"/>
                <a:cs typeface="Space Grotesk"/>
                <a:sym typeface="Space Grotesk"/>
              </a:rPr>
              <a:t>DATA</a:t>
            </a:r>
            <a:endParaRPr/>
          </a:p>
          <a:p>
            <a:pPr indent="0" lvl="0" marL="0" rtl="0" algn="l">
              <a:spcBef>
                <a:spcPts val="6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F4F4F0"/>
                </a:solidFill>
                <a:latin typeface="Inter Medium"/>
                <a:ea typeface="Inter Medium"/>
                <a:cs typeface="Inter Medium"/>
                <a:sym typeface="Inter Medium"/>
              </a:rPr>
              <a:t>Provenance</a:t>
            </a:r>
            <a:endParaRPr/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" sz="2600">
                <a:latin typeface="Space Grotesk"/>
                <a:ea typeface="Space Grotesk"/>
                <a:cs typeface="Space Grotesk"/>
                <a:sym typeface="Space Grotesk"/>
              </a:rPr>
              <a:t>Risk</a:t>
            </a:r>
            <a:endParaRPr/>
          </a:p>
          <a:p>
            <a:pPr indent="0" lvl="0" marL="0" rtl="0" algn="l">
              <a:spcBef>
                <a:spcPts val="6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F4F4F0"/>
                </a:solidFill>
                <a:latin typeface="Inter Medium"/>
                <a:ea typeface="Inter Medium"/>
                <a:cs typeface="Inter Medium"/>
                <a:sym typeface="Inter Medium"/>
              </a:rPr>
              <a:t>Blind Failures</a:t>
            </a:r>
            <a:endParaRPr/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" sz="700">
                <a:latin typeface="Inter Medium"/>
                <a:ea typeface="Inter Medium"/>
                <a:cs typeface="Inter Medium"/>
                <a:sym typeface="Inter Medium"/>
              </a:rPr>
              <a:t>* Building models on unverified data guarantees untraceable anomalies in production systems.</a:t>
            </a:r>
            <a:endParaRPr b="0" sz="700"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p3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4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0" name="Google Shape;1170;p38"/>
          <p:cNvSpPr/>
          <p:nvPr/>
        </p:nvSpPr>
        <p:spPr>
          <a:xfrm>
            <a:off x="7429500" y="0"/>
            <a:ext cx="1714500" cy="5143500"/>
          </a:xfrm>
          <a:prstGeom prst="rect">
            <a:avLst/>
          </a:prstGeom>
          <a:solidFill>
            <a:srgbClr val="0044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71" name="Google Shape;1171;p38"/>
          <p:cNvCxnSpPr/>
          <p:nvPr/>
        </p:nvCxnSpPr>
        <p:spPr>
          <a:xfrm>
            <a:off x="7429500" y="0"/>
            <a:ext cx="0" cy="5143500"/>
          </a:xfrm>
          <a:prstGeom prst="straightConnector1">
            <a:avLst/>
          </a:prstGeom>
          <a:solidFill>
            <a:srgbClr val="FFFFFF"/>
          </a:solidFill>
          <a:ln cap="flat" cmpd="sng" w="762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2" name="Google Shape;1172;p38"/>
          <p:cNvSpPr/>
          <p:nvPr/>
        </p:nvSpPr>
        <p:spPr>
          <a:xfrm>
            <a:off x="190500" y="190500"/>
            <a:ext cx="8763000" cy="4762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381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73" name="Google Shape;1173;p38"/>
          <p:cNvGrpSpPr/>
          <p:nvPr/>
        </p:nvGrpSpPr>
        <p:grpSpPr>
          <a:xfrm>
            <a:off x="8001000" y="381000"/>
            <a:ext cx="457200" cy="457200"/>
            <a:chOff x="0" y="0"/>
            <a:chExt cx="457200" cy="457200"/>
          </a:xfrm>
        </p:grpSpPr>
        <p:sp>
          <p:nvSpPr>
            <p:cNvPr id="1174" name="Google Shape;1174;p38"/>
            <p:cNvSpPr/>
            <p:nvPr/>
          </p:nvSpPr>
          <p:spPr>
            <a:xfrm>
              <a:off x="0" y="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38"/>
            <p:cNvSpPr/>
            <p:nvPr/>
          </p:nvSpPr>
          <p:spPr>
            <a:xfrm>
              <a:off x="190500" y="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38"/>
            <p:cNvSpPr/>
            <p:nvPr/>
          </p:nvSpPr>
          <p:spPr>
            <a:xfrm>
              <a:off x="381000" y="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38"/>
            <p:cNvSpPr/>
            <p:nvPr/>
          </p:nvSpPr>
          <p:spPr>
            <a:xfrm>
              <a:off x="0" y="19050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38"/>
            <p:cNvSpPr/>
            <p:nvPr/>
          </p:nvSpPr>
          <p:spPr>
            <a:xfrm>
              <a:off x="190500" y="19050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38"/>
            <p:cNvSpPr/>
            <p:nvPr/>
          </p:nvSpPr>
          <p:spPr>
            <a:xfrm>
              <a:off x="381000" y="19050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38"/>
            <p:cNvSpPr/>
            <p:nvPr/>
          </p:nvSpPr>
          <p:spPr>
            <a:xfrm>
              <a:off x="0" y="38100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38"/>
            <p:cNvSpPr/>
            <p:nvPr/>
          </p:nvSpPr>
          <p:spPr>
            <a:xfrm>
              <a:off x="190500" y="38100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38"/>
            <p:cNvSpPr/>
            <p:nvPr/>
          </p:nvSpPr>
          <p:spPr>
            <a:xfrm>
              <a:off x="381000" y="38100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83" name="Google Shape;1183;p38"/>
          <p:cNvGrpSpPr/>
          <p:nvPr/>
        </p:nvGrpSpPr>
        <p:grpSpPr>
          <a:xfrm>
            <a:off x="7905750" y="4000500"/>
            <a:ext cx="762000" cy="714300"/>
            <a:chOff x="0" y="0"/>
            <a:chExt cx="762000" cy="714300"/>
          </a:xfrm>
        </p:grpSpPr>
        <p:sp>
          <p:nvSpPr>
            <p:cNvPr id="1184" name="Google Shape;1184;p38"/>
            <p:cNvSpPr/>
            <p:nvPr/>
          </p:nvSpPr>
          <p:spPr>
            <a:xfrm>
              <a:off x="0" y="0"/>
              <a:ext cx="762000" cy="714300"/>
            </a:xfrm>
            <a:custGeom>
              <a:rect b="b" l="l" r="r" t="t"/>
              <a:pathLst>
                <a:path extrusionOk="0" h="120000" w="120000">
                  <a:moveTo>
                    <a:pt x="0" y="32000"/>
                  </a:moveTo>
                  <a:lnTo>
                    <a:pt x="0" y="96000"/>
                  </a:lnTo>
                  <a:cubicBezTo>
                    <a:pt x="0" y="108800"/>
                    <a:pt x="27000" y="120000"/>
                    <a:pt x="60000" y="120000"/>
                  </a:cubicBezTo>
                  <a:cubicBezTo>
                    <a:pt x="93000" y="120000"/>
                    <a:pt x="120000" y="108800"/>
                    <a:pt x="120000" y="96000"/>
                  </a:cubicBezTo>
                  <a:lnTo>
                    <a:pt x="120000" y="0"/>
                  </a:lnTo>
                </a:path>
              </a:pathLst>
            </a:custGeom>
            <a:solidFill>
              <a:srgbClr val="00E676"/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38"/>
            <p:cNvSpPr/>
            <p:nvPr/>
          </p:nvSpPr>
          <p:spPr>
            <a:xfrm>
              <a:off x="0" y="0"/>
              <a:ext cx="762000" cy="285900"/>
            </a:xfrm>
            <a:prstGeom prst="ellipse">
              <a:avLst/>
            </a:prstGeom>
            <a:solidFill>
              <a:srgbClr val="00E676"/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38"/>
            <p:cNvSpPr/>
            <p:nvPr/>
          </p:nvSpPr>
          <p:spPr>
            <a:xfrm>
              <a:off x="0" y="190500"/>
              <a:ext cx="762000" cy="285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87" name="Google Shape;1187;p38"/>
          <p:cNvSpPr txBox="1"/>
          <p:nvPr/>
        </p:nvSpPr>
        <p:spPr>
          <a:xfrm>
            <a:off x="476250" y="428625"/>
            <a:ext cx="6667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rPr>
              <a:t>EVALUATION: STANDARDIZATION</a:t>
            </a:r>
            <a:endParaRPr b="0" sz="2600">
              <a:solidFill>
                <a:srgbClr val="11111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1188" name="Google Shape;1188;p38"/>
          <p:cNvGrpSpPr/>
          <p:nvPr/>
        </p:nvGrpSpPr>
        <p:grpSpPr>
          <a:xfrm>
            <a:off x="476250" y="1143000"/>
            <a:ext cx="3143400" cy="3429000"/>
            <a:chOff x="0" y="0"/>
            <a:chExt cx="3143400" cy="3429000"/>
          </a:xfrm>
        </p:grpSpPr>
        <p:sp>
          <p:nvSpPr>
            <p:cNvPr id="1189" name="Google Shape;1189;p38"/>
            <p:cNvSpPr/>
            <p:nvPr/>
          </p:nvSpPr>
          <p:spPr>
            <a:xfrm>
              <a:off x="0" y="0"/>
              <a:ext cx="3143400" cy="3429000"/>
            </a:xfrm>
            <a:prstGeom prst="roundRect">
              <a:avLst>
                <a:gd fmla="val 1818" name="adj"/>
              </a:avLst>
            </a:prstGeom>
            <a:solidFill>
              <a:srgbClr val="111111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38"/>
            <p:cNvSpPr/>
            <p:nvPr/>
          </p:nvSpPr>
          <p:spPr>
            <a:xfrm>
              <a:off x="0" y="0"/>
              <a:ext cx="3143400" cy="3429000"/>
            </a:xfrm>
            <a:prstGeom prst="roundRect">
              <a:avLst>
                <a:gd fmla="val 1818" name="adj"/>
              </a:avLst>
            </a:prstGeom>
            <a:solidFill>
              <a:srgbClr val="FFFFFF"/>
            </a:solidFill>
            <a:ln cap="flat" cmpd="sng" w="28575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91" name="Google Shape;1191;p38"/>
            <p:cNvGrpSpPr/>
            <p:nvPr/>
          </p:nvGrpSpPr>
          <p:grpSpPr>
            <a:xfrm>
              <a:off x="142875" y="142875"/>
              <a:ext cx="2857500" cy="333300"/>
              <a:chOff x="0" y="0"/>
              <a:chExt cx="2857500" cy="333300"/>
            </a:xfrm>
          </p:grpSpPr>
          <p:sp>
            <p:nvSpPr>
              <p:cNvPr id="1192" name="Google Shape;1192;p38"/>
              <p:cNvSpPr/>
              <p:nvPr/>
            </p:nvSpPr>
            <p:spPr>
              <a:xfrm>
                <a:off x="0" y="0"/>
                <a:ext cx="2857500" cy="333300"/>
              </a:xfrm>
              <a:prstGeom prst="roundRect">
                <a:avLst>
                  <a:gd fmla="val 11428" name="adj"/>
                </a:avLst>
              </a:prstGeom>
              <a:solidFill>
                <a:srgbClr val="00E676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3" name="Google Shape;1193;p38"/>
              <p:cNvSpPr txBox="1"/>
              <p:nvPr/>
            </p:nvSpPr>
            <p:spPr>
              <a:xfrm>
                <a:off x="0" y="0"/>
                <a:ext cx="28575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111111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DATASHEET BLUEPRINT</a:t>
                </a:r>
                <a:endParaRPr b="0" sz="110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grpSp>
          <p:nvGrpSpPr>
            <p:cNvPr id="1194" name="Google Shape;1194;p38"/>
            <p:cNvGrpSpPr/>
            <p:nvPr/>
          </p:nvGrpSpPr>
          <p:grpSpPr>
            <a:xfrm>
              <a:off x="142875" y="619125"/>
              <a:ext cx="238200" cy="238200"/>
              <a:chOff x="0" y="0"/>
              <a:chExt cx="238200" cy="238200"/>
            </a:xfrm>
          </p:grpSpPr>
          <p:sp>
            <p:nvSpPr>
              <p:cNvPr id="1195" name="Google Shape;1195;p38"/>
              <p:cNvSpPr/>
              <p:nvPr/>
            </p:nvSpPr>
            <p:spPr>
              <a:xfrm>
                <a:off x="0" y="0"/>
                <a:ext cx="238200" cy="238200"/>
              </a:xfrm>
              <a:prstGeom prst="roundRect">
                <a:avLst>
                  <a:gd fmla="val 16000" name="adj"/>
                </a:avLst>
              </a:prstGeom>
              <a:solidFill>
                <a:srgbClr val="0044FF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6" name="Google Shape;1196;p38"/>
              <p:cNvSpPr txBox="1"/>
              <p:nvPr/>
            </p:nvSpPr>
            <p:spPr>
              <a:xfrm>
                <a:off x="0" y="0"/>
                <a:ext cx="2382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Q11</a:t>
                </a:r>
                <a:endParaRPr b="0" sz="10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sp>
          <p:nvSpPr>
            <p:cNvPr id="1197" name="Google Shape;1197;p38"/>
            <p:cNvSpPr txBox="1"/>
            <p:nvPr/>
          </p:nvSpPr>
          <p:spPr>
            <a:xfrm>
              <a:off x="476250" y="619125"/>
              <a:ext cx="25242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55555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DATASET SPECS</a:t>
              </a:r>
              <a:endParaRPr b="0" sz="850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Gebru et al. (2018)</a:t>
              </a:r>
              <a:endParaRPr b="0" sz="1350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Hardware Analogy:</a:t>
              </a:r>
              <a:r>
                <a:rPr b="0" lang="en" sz="120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Proposes that every dataset must be treated like a hardware component, shipping with a standardized datasheet.</a:t>
              </a:r>
              <a:endParaRPr sz="12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Core Areas:</a:t>
              </a:r>
              <a:r>
                <a:rPr b="0" lang="en" sz="120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Evaluates four essential pillars: motivation, composition, collection process, and intended use.</a:t>
              </a:r>
              <a:endParaRPr sz="12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98" name="Google Shape;1198;p38"/>
          <p:cNvGrpSpPr/>
          <p:nvPr/>
        </p:nvGrpSpPr>
        <p:grpSpPr>
          <a:xfrm>
            <a:off x="3905250" y="1143000"/>
            <a:ext cx="3143400" cy="3429000"/>
            <a:chOff x="0" y="0"/>
            <a:chExt cx="3143400" cy="3429000"/>
          </a:xfrm>
        </p:grpSpPr>
        <p:sp>
          <p:nvSpPr>
            <p:cNvPr id="1199" name="Google Shape;1199;p38"/>
            <p:cNvSpPr/>
            <p:nvPr/>
          </p:nvSpPr>
          <p:spPr>
            <a:xfrm>
              <a:off x="0" y="0"/>
              <a:ext cx="3143400" cy="3429000"/>
            </a:xfrm>
            <a:prstGeom prst="roundRect">
              <a:avLst>
                <a:gd fmla="val 1818" name="adj"/>
              </a:avLst>
            </a:prstGeom>
            <a:solidFill>
              <a:srgbClr val="111111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38"/>
            <p:cNvSpPr/>
            <p:nvPr/>
          </p:nvSpPr>
          <p:spPr>
            <a:xfrm>
              <a:off x="0" y="0"/>
              <a:ext cx="3143400" cy="3429000"/>
            </a:xfrm>
            <a:prstGeom prst="roundRect">
              <a:avLst>
                <a:gd fmla="val 1818" name="adj"/>
              </a:avLst>
            </a:prstGeom>
            <a:solidFill>
              <a:srgbClr val="FFFFFF"/>
            </a:solidFill>
            <a:ln cap="flat" cmpd="sng" w="28575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01" name="Google Shape;1201;p38"/>
            <p:cNvGrpSpPr/>
            <p:nvPr/>
          </p:nvGrpSpPr>
          <p:grpSpPr>
            <a:xfrm>
              <a:off x="142875" y="142875"/>
              <a:ext cx="2857500" cy="333300"/>
              <a:chOff x="0" y="0"/>
              <a:chExt cx="2857500" cy="333300"/>
            </a:xfrm>
          </p:grpSpPr>
          <p:sp>
            <p:nvSpPr>
              <p:cNvPr id="1202" name="Google Shape;1202;p38"/>
              <p:cNvSpPr/>
              <p:nvPr/>
            </p:nvSpPr>
            <p:spPr>
              <a:xfrm>
                <a:off x="0" y="0"/>
                <a:ext cx="2857500" cy="333300"/>
              </a:xfrm>
              <a:prstGeom prst="roundRect">
                <a:avLst>
                  <a:gd fmla="val 11428" name="adj"/>
                </a:avLst>
              </a:prstGeom>
              <a:solidFill>
                <a:srgbClr val="FFCC00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3" name="Google Shape;1203;p38"/>
              <p:cNvSpPr txBox="1"/>
              <p:nvPr/>
            </p:nvSpPr>
            <p:spPr>
              <a:xfrm>
                <a:off x="0" y="0"/>
                <a:ext cx="28575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111111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LIVING DOCUMENTATION</a:t>
                </a:r>
                <a:endParaRPr b="0" sz="110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grpSp>
          <p:nvGrpSpPr>
            <p:cNvPr id="1204" name="Google Shape;1204;p38"/>
            <p:cNvGrpSpPr/>
            <p:nvPr/>
          </p:nvGrpSpPr>
          <p:grpSpPr>
            <a:xfrm>
              <a:off x="142875" y="619125"/>
              <a:ext cx="238200" cy="238200"/>
              <a:chOff x="0" y="0"/>
              <a:chExt cx="238200" cy="238200"/>
            </a:xfrm>
          </p:grpSpPr>
          <p:sp>
            <p:nvSpPr>
              <p:cNvPr id="1205" name="Google Shape;1205;p38"/>
              <p:cNvSpPr/>
              <p:nvPr/>
            </p:nvSpPr>
            <p:spPr>
              <a:xfrm>
                <a:off x="0" y="0"/>
                <a:ext cx="238200" cy="238200"/>
              </a:xfrm>
              <a:prstGeom prst="roundRect">
                <a:avLst>
                  <a:gd fmla="val 16000" name="adj"/>
                </a:avLst>
              </a:prstGeom>
              <a:solidFill>
                <a:srgbClr val="111111"/>
              </a:solidFill>
              <a:ln cap="flat" cmpd="sng" w="1905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6" name="Google Shape;1206;p38"/>
              <p:cNvSpPr txBox="1"/>
              <p:nvPr/>
            </p:nvSpPr>
            <p:spPr>
              <a:xfrm>
                <a:off x="0" y="0"/>
                <a:ext cx="2382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Q12</a:t>
                </a:r>
                <a:endParaRPr b="0" sz="10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sp>
          <p:nvSpPr>
            <p:cNvPr id="1207" name="Google Shape;1207;p38"/>
            <p:cNvSpPr txBox="1"/>
            <p:nvPr/>
          </p:nvSpPr>
          <p:spPr>
            <a:xfrm>
              <a:off x="476250" y="619125"/>
              <a:ext cx="25242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55555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PORTAL INTEGRATION</a:t>
              </a:r>
              <a:endParaRPr b="0" sz="850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HuggingFace Cards</a:t>
              </a:r>
              <a:endParaRPr b="0" sz="1350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Modern Standard:</a:t>
              </a:r>
              <a:r>
                <a:rPr b="0" lang="en" sz="120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Dataset cards serve as the modern, living iteration of original hardware-inspired datasheets.</a:t>
              </a:r>
              <a:endParaRPr sz="12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Hub Ecosystem:</a:t>
              </a:r>
              <a:r>
                <a:rPr b="0" lang="en" sz="120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Directly filled in and maintained peer-to-peer on the Hub for every hosted dataset to enforce downstream transparency.</a:t>
              </a:r>
              <a:endParaRPr sz="12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208" name="Google Shape;1208;p38"/>
          <p:cNvSpPr txBox="1"/>
          <p:nvPr/>
        </p:nvSpPr>
        <p:spPr>
          <a:xfrm>
            <a:off x="7572375" y="1047750"/>
            <a:ext cx="14289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900">
                <a:solidFill>
                  <a:srgbClr val="F4F4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"Every model is a data problem before it's a model problem."</a:t>
            </a:r>
            <a:endParaRPr b="0" i="1" sz="900">
              <a:solidFill>
                <a:srgbClr val="F4F4F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i="1" lang="en" sz="24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SHEETS</a:t>
            </a:r>
            <a:endParaRPr b="0" i="1" sz="900">
              <a:solidFill>
                <a:srgbClr val="F4F4F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60"/>
              </a:spcBef>
              <a:spcAft>
                <a:spcPts val="0"/>
              </a:spcAft>
              <a:buNone/>
            </a:pPr>
            <a:r>
              <a:rPr b="0" i="1" lang="en" sz="900">
                <a:solidFill>
                  <a:srgbClr val="F4F4F0"/>
                </a:solidFill>
                <a:latin typeface="Inter Medium"/>
                <a:ea typeface="Inter Medium"/>
                <a:cs typeface="Inter Medium"/>
                <a:sym typeface="Inter Medium"/>
              </a:rPr>
              <a:t>For Datasets</a:t>
            </a:r>
            <a:endParaRPr b="0" i="1" sz="900">
              <a:solidFill>
                <a:srgbClr val="F4F4F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i="1" lang="en" sz="24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Audit</a:t>
            </a:r>
            <a:endParaRPr b="0" i="1" sz="900">
              <a:solidFill>
                <a:srgbClr val="F4F4F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60"/>
              </a:spcBef>
              <a:spcAft>
                <a:spcPts val="0"/>
              </a:spcAft>
              <a:buNone/>
            </a:pPr>
            <a:r>
              <a:rPr b="0" i="1" lang="en" sz="900">
                <a:solidFill>
                  <a:srgbClr val="F4F4F0"/>
                </a:solidFill>
                <a:latin typeface="Inter Medium"/>
                <a:ea typeface="Inter Medium"/>
                <a:cs typeface="Inter Medium"/>
                <a:sym typeface="Inter Medium"/>
              </a:rPr>
              <a:t>Transparency</a:t>
            </a:r>
            <a:endParaRPr b="0" i="1" sz="900">
              <a:solidFill>
                <a:srgbClr val="F4F4F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i="1" lang="en" sz="7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* Without standardized datasheets, models inherit silent, untraceable data-level assumptions.</a:t>
            </a:r>
            <a:endParaRPr b="0" i="1" sz="700">
              <a:solidFill>
                <a:srgbClr val="F4F4F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p3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4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4" name="Google Shape;1214;p39"/>
          <p:cNvSpPr/>
          <p:nvPr/>
        </p:nvSpPr>
        <p:spPr>
          <a:xfrm>
            <a:off x="7429500" y="0"/>
            <a:ext cx="1714500" cy="5143500"/>
          </a:xfrm>
          <a:prstGeom prst="rect">
            <a:avLst/>
          </a:prstGeom>
          <a:solidFill>
            <a:srgbClr val="0044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15" name="Google Shape;1215;p39"/>
          <p:cNvCxnSpPr/>
          <p:nvPr/>
        </p:nvCxnSpPr>
        <p:spPr>
          <a:xfrm>
            <a:off x="7429500" y="0"/>
            <a:ext cx="0" cy="5143500"/>
          </a:xfrm>
          <a:prstGeom prst="straightConnector1">
            <a:avLst/>
          </a:prstGeom>
          <a:solidFill>
            <a:srgbClr val="FFFFFF"/>
          </a:solidFill>
          <a:ln cap="flat" cmpd="sng" w="762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6" name="Google Shape;1216;p39"/>
          <p:cNvSpPr/>
          <p:nvPr/>
        </p:nvSpPr>
        <p:spPr>
          <a:xfrm>
            <a:off x="190500" y="190500"/>
            <a:ext cx="8763000" cy="4762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381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17" name="Google Shape;1217;p39"/>
          <p:cNvGrpSpPr/>
          <p:nvPr/>
        </p:nvGrpSpPr>
        <p:grpSpPr>
          <a:xfrm>
            <a:off x="8001000" y="381000"/>
            <a:ext cx="457200" cy="457200"/>
            <a:chOff x="0" y="0"/>
            <a:chExt cx="457200" cy="457200"/>
          </a:xfrm>
        </p:grpSpPr>
        <p:sp>
          <p:nvSpPr>
            <p:cNvPr id="1218" name="Google Shape;1218;p39"/>
            <p:cNvSpPr/>
            <p:nvPr/>
          </p:nvSpPr>
          <p:spPr>
            <a:xfrm>
              <a:off x="0" y="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39"/>
            <p:cNvSpPr/>
            <p:nvPr/>
          </p:nvSpPr>
          <p:spPr>
            <a:xfrm>
              <a:off x="190500" y="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39"/>
            <p:cNvSpPr/>
            <p:nvPr/>
          </p:nvSpPr>
          <p:spPr>
            <a:xfrm>
              <a:off x="381000" y="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39"/>
            <p:cNvSpPr/>
            <p:nvPr/>
          </p:nvSpPr>
          <p:spPr>
            <a:xfrm>
              <a:off x="0" y="19050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39"/>
            <p:cNvSpPr/>
            <p:nvPr/>
          </p:nvSpPr>
          <p:spPr>
            <a:xfrm>
              <a:off x="190500" y="19050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39"/>
            <p:cNvSpPr/>
            <p:nvPr/>
          </p:nvSpPr>
          <p:spPr>
            <a:xfrm>
              <a:off x="381000" y="19050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39"/>
            <p:cNvSpPr/>
            <p:nvPr/>
          </p:nvSpPr>
          <p:spPr>
            <a:xfrm>
              <a:off x="0" y="38100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39"/>
            <p:cNvSpPr/>
            <p:nvPr/>
          </p:nvSpPr>
          <p:spPr>
            <a:xfrm>
              <a:off x="190500" y="38100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39"/>
            <p:cNvSpPr/>
            <p:nvPr/>
          </p:nvSpPr>
          <p:spPr>
            <a:xfrm>
              <a:off x="381000" y="38100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27" name="Google Shape;1227;p39"/>
          <p:cNvGrpSpPr/>
          <p:nvPr/>
        </p:nvGrpSpPr>
        <p:grpSpPr>
          <a:xfrm>
            <a:off x="7905750" y="4000500"/>
            <a:ext cx="762000" cy="714300"/>
            <a:chOff x="0" y="0"/>
            <a:chExt cx="762000" cy="714300"/>
          </a:xfrm>
        </p:grpSpPr>
        <p:sp>
          <p:nvSpPr>
            <p:cNvPr id="1228" name="Google Shape;1228;p39"/>
            <p:cNvSpPr/>
            <p:nvPr/>
          </p:nvSpPr>
          <p:spPr>
            <a:xfrm>
              <a:off x="0" y="0"/>
              <a:ext cx="762000" cy="714300"/>
            </a:xfrm>
            <a:custGeom>
              <a:rect b="b" l="l" r="r" t="t"/>
              <a:pathLst>
                <a:path extrusionOk="0" h="120000" w="120000">
                  <a:moveTo>
                    <a:pt x="0" y="31999"/>
                  </a:moveTo>
                  <a:lnTo>
                    <a:pt x="0" y="96002"/>
                  </a:lnTo>
                  <a:cubicBezTo>
                    <a:pt x="0" y="108799"/>
                    <a:pt x="27000" y="120000"/>
                    <a:pt x="60000" y="120000"/>
                  </a:cubicBezTo>
                  <a:cubicBezTo>
                    <a:pt x="93000" y="120000"/>
                    <a:pt x="120000" y="108799"/>
                    <a:pt x="120000" y="96002"/>
                  </a:cubicBezTo>
                  <a:lnTo>
                    <a:pt x="120000" y="0"/>
                  </a:lnTo>
                </a:path>
              </a:pathLst>
            </a:custGeom>
            <a:solidFill>
              <a:srgbClr val="00E676"/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39"/>
            <p:cNvSpPr/>
            <p:nvPr/>
          </p:nvSpPr>
          <p:spPr>
            <a:xfrm>
              <a:off x="0" y="0"/>
              <a:ext cx="762000" cy="285900"/>
            </a:xfrm>
            <a:prstGeom prst="ellipse">
              <a:avLst/>
            </a:prstGeom>
            <a:solidFill>
              <a:srgbClr val="00E676"/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39"/>
            <p:cNvSpPr/>
            <p:nvPr/>
          </p:nvSpPr>
          <p:spPr>
            <a:xfrm>
              <a:off x="0" y="190500"/>
              <a:ext cx="762000" cy="285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31" name="Google Shape;1231;p39"/>
          <p:cNvSpPr txBox="1"/>
          <p:nvPr/>
        </p:nvSpPr>
        <p:spPr>
          <a:xfrm>
            <a:off x="476250" y="428625"/>
            <a:ext cx="6667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rPr>
              <a:t>EVALUATION: SOURCE LIMITATIONS</a:t>
            </a:r>
            <a:endParaRPr b="0" sz="2400">
              <a:solidFill>
                <a:srgbClr val="11111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1232" name="Google Shape;1232;p39"/>
          <p:cNvGrpSpPr/>
          <p:nvPr/>
        </p:nvGrpSpPr>
        <p:grpSpPr>
          <a:xfrm>
            <a:off x="476250" y="1095375"/>
            <a:ext cx="1619100" cy="1666800"/>
            <a:chOff x="0" y="0"/>
            <a:chExt cx="1619100" cy="1666800"/>
          </a:xfrm>
        </p:grpSpPr>
        <p:sp>
          <p:nvSpPr>
            <p:cNvPr id="1233" name="Google Shape;1233;p39"/>
            <p:cNvSpPr/>
            <p:nvPr/>
          </p:nvSpPr>
          <p:spPr>
            <a:xfrm>
              <a:off x="0" y="0"/>
              <a:ext cx="1619100" cy="1666800"/>
            </a:xfrm>
            <a:prstGeom prst="roundRect">
              <a:avLst>
                <a:gd fmla="val 3529" name="adj"/>
              </a:avLst>
            </a:prstGeom>
            <a:solidFill>
              <a:srgbClr val="111111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39"/>
            <p:cNvSpPr/>
            <p:nvPr/>
          </p:nvSpPr>
          <p:spPr>
            <a:xfrm>
              <a:off x="0" y="0"/>
              <a:ext cx="1619100" cy="1666800"/>
            </a:xfrm>
            <a:prstGeom prst="roundRect">
              <a:avLst>
                <a:gd fmla="val 3529" name="adj"/>
              </a:avLst>
            </a:prstGeom>
            <a:solidFill>
              <a:srgbClr val="FFFFFF"/>
            </a:solidFill>
            <a:ln cap="flat" cmpd="sng" w="28575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39"/>
            <p:cNvSpPr/>
            <p:nvPr/>
          </p:nvSpPr>
          <p:spPr>
            <a:xfrm>
              <a:off x="123825" y="123825"/>
              <a:ext cx="1371600" cy="266700"/>
            </a:xfrm>
            <a:prstGeom prst="roundRect">
              <a:avLst>
                <a:gd fmla="val 14285" name="adj"/>
              </a:avLst>
            </a:prstGeom>
            <a:solidFill>
              <a:srgbClr val="00E676"/>
            </a:solidFill>
            <a:ln cap="flat" cmpd="sng" w="1905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39"/>
            <p:cNvSpPr txBox="1"/>
            <p:nvPr/>
          </p:nvSpPr>
          <p:spPr>
            <a:xfrm>
              <a:off x="123825" y="123825"/>
              <a:ext cx="13716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SYNTHETIC GENERATION</a:t>
              </a:r>
              <a:endParaRPr b="0" sz="925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237" name="Google Shape;1237;p39"/>
            <p:cNvSpPr/>
            <p:nvPr/>
          </p:nvSpPr>
          <p:spPr>
            <a:xfrm>
              <a:off x="123825" y="514350"/>
              <a:ext cx="238200" cy="238200"/>
            </a:xfrm>
            <a:prstGeom prst="roundRect">
              <a:avLst>
                <a:gd fmla="val 16000" name="adj"/>
              </a:avLst>
            </a:prstGeom>
            <a:solidFill>
              <a:srgbClr val="0044FF"/>
            </a:solidFill>
            <a:ln cap="flat" cmpd="sng" w="1905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39"/>
            <p:cNvSpPr txBox="1"/>
            <p:nvPr/>
          </p:nvSpPr>
          <p:spPr>
            <a:xfrm>
              <a:off x="123825" y="514350"/>
              <a:ext cx="2382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S1</a:t>
              </a:r>
              <a:endParaRPr b="0" sz="9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239" name="Google Shape;1239;p39"/>
            <p:cNvSpPr txBox="1"/>
            <p:nvPr/>
          </p:nvSpPr>
          <p:spPr>
            <a:xfrm>
              <a:off x="428625" y="514350"/>
              <a:ext cx="10668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620">
                  <a:solidFill>
                    <a:srgbClr val="55555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ASK AN AI</a:t>
              </a:r>
              <a:endParaRPr b="0" sz="620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891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Unrealistic Data</a:t>
              </a:r>
              <a:endParaRPr b="0" sz="891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736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Generates highly structured yet fundamentally unrealistic distributions.</a:t>
              </a:r>
              <a:endParaRPr b="0" sz="736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240" name="Google Shape;1240;p39"/>
          <p:cNvGrpSpPr/>
          <p:nvPr/>
        </p:nvGrpSpPr>
        <p:grpSpPr>
          <a:xfrm>
            <a:off x="2190750" y="1095375"/>
            <a:ext cx="1619100" cy="1666800"/>
            <a:chOff x="0" y="0"/>
            <a:chExt cx="1619100" cy="1666800"/>
          </a:xfrm>
        </p:grpSpPr>
        <p:sp>
          <p:nvSpPr>
            <p:cNvPr id="1241" name="Google Shape;1241;p39"/>
            <p:cNvSpPr/>
            <p:nvPr/>
          </p:nvSpPr>
          <p:spPr>
            <a:xfrm>
              <a:off x="0" y="0"/>
              <a:ext cx="1619100" cy="1666800"/>
            </a:xfrm>
            <a:prstGeom prst="roundRect">
              <a:avLst>
                <a:gd fmla="val 3529" name="adj"/>
              </a:avLst>
            </a:prstGeom>
            <a:solidFill>
              <a:srgbClr val="111111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39"/>
            <p:cNvSpPr/>
            <p:nvPr/>
          </p:nvSpPr>
          <p:spPr>
            <a:xfrm>
              <a:off x="0" y="0"/>
              <a:ext cx="1619100" cy="1666800"/>
            </a:xfrm>
            <a:prstGeom prst="roundRect">
              <a:avLst>
                <a:gd fmla="val 3529" name="adj"/>
              </a:avLst>
            </a:prstGeom>
            <a:solidFill>
              <a:srgbClr val="FFFFFF"/>
            </a:solidFill>
            <a:ln cap="flat" cmpd="sng" w="28575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39"/>
            <p:cNvSpPr/>
            <p:nvPr/>
          </p:nvSpPr>
          <p:spPr>
            <a:xfrm>
              <a:off x="123825" y="123825"/>
              <a:ext cx="1371600" cy="266700"/>
            </a:xfrm>
            <a:prstGeom prst="roundRect">
              <a:avLst>
                <a:gd fmla="val 14285" name="adj"/>
              </a:avLst>
            </a:prstGeom>
            <a:solidFill>
              <a:srgbClr val="FFCC00"/>
            </a:solidFill>
            <a:ln cap="flat" cmpd="sng" w="1905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39"/>
            <p:cNvSpPr txBox="1"/>
            <p:nvPr/>
          </p:nvSpPr>
          <p:spPr>
            <a:xfrm>
              <a:off x="123825" y="123825"/>
              <a:ext cx="13716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PUBLIC PORTALS</a:t>
              </a:r>
              <a:endParaRPr b="0" sz="925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245" name="Google Shape;1245;p39"/>
            <p:cNvSpPr/>
            <p:nvPr/>
          </p:nvSpPr>
          <p:spPr>
            <a:xfrm>
              <a:off x="123825" y="514350"/>
              <a:ext cx="238200" cy="238200"/>
            </a:xfrm>
            <a:prstGeom prst="roundRect">
              <a:avLst>
                <a:gd fmla="val 16000" name="adj"/>
              </a:avLst>
            </a:prstGeom>
            <a:solidFill>
              <a:srgbClr val="111111"/>
            </a:solidFill>
            <a:ln cap="flat" cmpd="sng" w="1905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39"/>
            <p:cNvSpPr txBox="1"/>
            <p:nvPr/>
          </p:nvSpPr>
          <p:spPr>
            <a:xfrm>
              <a:off x="123825" y="514350"/>
              <a:ext cx="2382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S2</a:t>
              </a:r>
              <a:endParaRPr b="0" sz="9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247" name="Google Shape;1247;p39"/>
            <p:cNvSpPr txBox="1"/>
            <p:nvPr/>
          </p:nvSpPr>
          <p:spPr>
            <a:xfrm>
              <a:off x="428625" y="514350"/>
              <a:ext cx="10668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620">
                  <a:solidFill>
                    <a:srgbClr val="55555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KAGGLE &amp; HF</a:t>
              </a:r>
              <a:endParaRPr b="0" sz="620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891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Overused Hubs</a:t>
              </a:r>
              <a:endParaRPr b="0" sz="891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736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Repetitive benchmarks with highly variable licensing clarity.</a:t>
              </a:r>
              <a:endParaRPr b="0" sz="736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248" name="Google Shape;1248;p39"/>
          <p:cNvGrpSpPr/>
          <p:nvPr/>
        </p:nvGrpSpPr>
        <p:grpSpPr>
          <a:xfrm>
            <a:off x="3905250" y="1095375"/>
            <a:ext cx="1619100" cy="1666800"/>
            <a:chOff x="0" y="0"/>
            <a:chExt cx="1619100" cy="1666800"/>
          </a:xfrm>
        </p:grpSpPr>
        <p:sp>
          <p:nvSpPr>
            <p:cNvPr id="1249" name="Google Shape;1249;p39"/>
            <p:cNvSpPr/>
            <p:nvPr/>
          </p:nvSpPr>
          <p:spPr>
            <a:xfrm>
              <a:off x="0" y="0"/>
              <a:ext cx="1619100" cy="1666800"/>
            </a:xfrm>
            <a:prstGeom prst="roundRect">
              <a:avLst>
                <a:gd fmla="val 3529" name="adj"/>
              </a:avLst>
            </a:prstGeom>
            <a:solidFill>
              <a:srgbClr val="111111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39"/>
            <p:cNvSpPr/>
            <p:nvPr/>
          </p:nvSpPr>
          <p:spPr>
            <a:xfrm>
              <a:off x="0" y="0"/>
              <a:ext cx="1619100" cy="1666800"/>
            </a:xfrm>
            <a:prstGeom prst="roundRect">
              <a:avLst>
                <a:gd fmla="val 3529" name="adj"/>
              </a:avLst>
            </a:prstGeom>
            <a:solidFill>
              <a:srgbClr val="FFFFFF"/>
            </a:solidFill>
            <a:ln cap="flat" cmpd="sng" w="28575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39"/>
            <p:cNvSpPr/>
            <p:nvPr/>
          </p:nvSpPr>
          <p:spPr>
            <a:xfrm>
              <a:off x="123825" y="123825"/>
              <a:ext cx="1371600" cy="266700"/>
            </a:xfrm>
            <a:prstGeom prst="roundRect">
              <a:avLst>
                <a:gd fmla="val 14285" name="adj"/>
              </a:avLst>
            </a:prstGeom>
            <a:solidFill>
              <a:srgbClr val="00E676"/>
            </a:solidFill>
            <a:ln cap="flat" cmpd="sng" w="1905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39"/>
            <p:cNvSpPr txBox="1"/>
            <p:nvPr/>
          </p:nvSpPr>
          <p:spPr>
            <a:xfrm>
              <a:off x="123825" y="123825"/>
              <a:ext cx="13716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LEGACY REPOS</a:t>
              </a:r>
              <a:endParaRPr b="0" sz="925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253" name="Google Shape;1253;p39"/>
            <p:cNvSpPr/>
            <p:nvPr/>
          </p:nvSpPr>
          <p:spPr>
            <a:xfrm>
              <a:off x="123825" y="514350"/>
              <a:ext cx="238200" cy="238200"/>
            </a:xfrm>
            <a:prstGeom prst="roundRect">
              <a:avLst>
                <a:gd fmla="val 16000" name="adj"/>
              </a:avLst>
            </a:prstGeom>
            <a:solidFill>
              <a:srgbClr val="0044FF"/>
            </a:solidFill>
            <a:ln cap="flat" cmpd="sng" w="1905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39"/>
            <p:cNvSpPr txBox="1"/>
            <p:nvPr/>
          </p:nvSpPr>
          <p:spPr>
            <a:xfrm>
              <a:off x="123825" y="514350"/>
              <a:ext cx="2382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S3</a:t>
              </a:r>
              <a:endParaRPr b="0" sz="9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255" name="Google Shape;1255;p39"/>
            <p:cNvSpPr txBox="1"/>
            <p:nvPr/>
          </p:nvSpPr>
          <p:spPr>
            <a:xfrm>
              <a:off x="428625" y="514350"/>
              <a:ext cx="10668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620">
                  <a:solidFill>
                    <a:srgbClr val="55555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UCI &amp; GOVT</a:t>
              </a:r>
              <a:endParaRPr b="0" sz="620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891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Outdated Formats</a:t>
              </a:r>
              <a:endParaRPr b="0" sz="891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736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Often completely obsolete or structured inconsistently.</a:t>
              </a:r>
              <a:endParaRPr b="0" sz="736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256" name="Google Shape;1256;p39"/>
          <p:cNvGrpSpPr/>
          <p:nvPr/>
        </p:nvGrpSpPr>
        <p:grpSpPr>
          <a:xfrm>
            <a:off x="5619750" y="1095375"/>
            <a:ext cx="1619100" cy="1666800"/>
            <a:chOff x="0" y="0"/>
            <a:chExt cx="1619100" cy="1666800"/>
          </a:xfrm>
        </p:grpSpPr>
        <p:sp>
          <p:nvSpPr>
            <p:cNvPr id="1257" name="Google Shape;1257;p39"/>
            <p:cNvSpPr/>
            <p:nvPr/>
          </p:nvSpPr>
          <p:spPr>
            <a:xfrm>
              <a:off x="0" y="0"/>
              <a:ext cx="1619100" cy="1666800"/>
            </a:xfrm>
            <a:prstGeom prst="roundRect">
              <a:avLst>
                <a:gd fmla="val 3529" name="adj"/>
              </a:avLst>
            </a:prstGeom>
            <a:solidFill>
              <a:srgbClr val="111111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39"/>
            <p:cNvSpPr/>
            <p:nvPr/>
          </p:nvSpPr>
          <p:spPr>
            <a:xfrm>
              <a:off x="0" y="0"/>
              <a:ext cx="1619100" cy="1666800"/>
            </a:xfrm>
            <a:prstGeom prst="roundRect">
              <a:avLst>
                <a:gd fmla="val 3529" name="adj"/>
              </a:avLst>
            </a:prstGeom>
            <a:solidFill>
              <a:srgbClr val="FFFFFF"/>
            </a:solidFill>
            <a:ln cap="flat" cmpd="sng" w="28575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39"/>
            <p:cNvSpPr/>
            <p:nvPr/>
          </p:nvSpPr>
          <p:spPr>
            <a:xfrm>
              <a:off x="123825" y="123825"/>
              <a:ext cx="1371600" cy="266700"/>
            </a:xfrm>
            <a:prstGeom prst="roundRect">
              <a:avLst>
                <a:gd fmla="val 14285" name="adj"/>
              </a:avLst>
            </a:prstGeom>
            <a:solidFill>
              <a:srgbClr val="FFCC00"/>
            </a:solidFill>
            <a:ln cap="flat" cmpd="sng" w="1905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39"/>
            <p:cNvSpPr txBox="1"/>
            <p:nvPr/>
          </p:nvSpPr>
          <p:spPr>
            <a:xfrm>
              <a:off x="123825" y="123825"/>
              <a:ext cx="13716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AUGMENTATION</a:t>
              </a:r>
              <a:endParaRPr b="0" sz="925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261" name="Google Shape;1261;p39"/>
            <p:cNvSpPr/>
            <p:nvPr/>
          </p:nvSpPr>
          <p:spPr>
            <a:xfrm>
              <a:off x="123825" y="514350"/>
              <a:ext cx="238200" cy="238200"/>
            </a:xfrm>
            <a:prstGeom prst="roundRect">
              <a:avLst>
                <a:gd fmla="val 16000" name="adj"/>
              </a:avLst>
            </a:prstGeom>
            <a:solidFill>
              <a:srgbClr val="111111"/>
            </a:solidFill>
            <a:ln cap="flat" cmpd="sng" w="1905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39"/>
            <p:cNvSpPr txBox="1"/>
            <p:nvPr/>
          </p:nvSpPr>
          <p:spPr>
            <a:xfrm>
              <a:off x="123825" y="514350"/>
              <a:ext cx="2382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S4</a:t>
              </a:r>
              <a:endParaRPr b="0" sz="9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263" name="Google Shape;1263;p39"/>
            <p:cNvSpPr txBox="1"/>
            <p:nvPr/>
          </p:nvSpPr>
          <p:spPr>
            <a:xfrm>
              <a:off x="428625" y="514350"/>
              <a:ext cx="10668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620">
                  <a:solidFill>
                    <a:srgbClr val="55555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DATA SPINNING</a:t>
              </a:r>
              <a:endParaRPr b="0" sz="620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891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Bias Amplified</a:t>
              </a:r>
              <a:endParaRPr b="0" sz="891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736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Artificially multiplying samples amplifies baseline seed bias.</a:t>
              </a:r>
              <a:endParaRPr b="0" sz="736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264" name="Google Shape;1264;p39"/>
          <p:cNvGrpSpPr/>
          <p:nvPr/>
        </p:nvGrpSpPr>
        <p:grpSpPr>
          <a:xfrm>
            <a:off x="476250" y="2905125"/>
            <a:ext cx="1619100" cy="1666800"/>
            <a:chOff x="0" y="0"/>
            <a:chExt cx="1619100" cy="1666800"/>
          </a:xfrm>
        </p:grpSpPr>
        <p:sp>
          <p:nvSpPr>
            <p:cNvPr id="1265" name="Google Shape;1265;p39"/>
            <p:cNvSpPr/>
            <p:nvPr/>
          </p:nvSpPr>
          <p:spPr>
            <a:xfrm>
              <a:off x="0" y="0"/>
              <a:ext cx="1619100" cy="1666800"/>
            </a:xfrm>
            <a:prstGeom prst="roundRect">
              <a:avLst>
                <a:gd fmla="val 3529" name="adj"/>
              </a:avLst>
            </a:prstGeom>
            <a:solidFill>
              <a:srgbClr val="111111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39"/>
            <p:cNvSpPr/>
            <p:nvPr/>
          </p:nvSpPr>
          <p:spPr>
            <a:xfrm>
              <a:off x="0" y="0"/>
              <a:ext cx="1619100" cy="1666800"/>
            </a:xfrm>
            <a:prstGeom prst="roundRect">
              <a:avLst>
                <a:gd fmla="val 3529" name="adj"/>
              </a:avLst>
            </a:prstGeom>
            <a:solidFill>
              <a:srgbClr val="FFFFFF"/>
            </a:solidFill>
            <a:ln cap="flat" cmpd="sng" w="28575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39"/>
            <p:cNvSpPr/>
            <p:nvPr/>
          </p:nvSpPr>
          <p:spPr>
            <a:xfrm>
              <a:off x="123825" y="123825"/>
              <a:ext cx="1371600" cy="266700"/>
            </a:xfrm>
            <a:prstGeom prst="roundRect">
              <a:avLst>
                <a:gd fmla="val 14285" name="adj"/>
              </a:avLst>
            </a:prstGeom>
            <a:solidFill>
              <a:srgbClr val="FFCC00"/>
            </a:solidFill>
            <a:ln cap="flat" cmpd="sng" w="1905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39"/>
            <p:cNvSpPr txBox="1"/>
            <p:nvPr/>
          </p:nvSpPr>
          <p:spPr>
            <a:xfrm>
              <a:off x="123825" y="123825"/>
              <a:ext cx="13716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CLOSED RESEARCH</a:t>
              </a:r>
              <a:endParaRPr b="0" sz="925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269" name="Google Shape;1269;p39"/>
            <p:cNvSpPr/>
            <p:nvPr/>
          </p:nvSpPr>
          <p:spPr>
            <a:xfrm>
              <a:off x="123825" y="514350"/>
              <a:ext cx="238200" cy="238200"/>
            </a:xfrm>
            <a:prstGeom prst="roundRect">
              <a:avLst>
                <a:gd fmla="val 16000" name="adj"/>
              </a:avLst>
            </a:prstGeom>
            <a:solidFill>
              <a:srgbClr val="111111"/>
            </a:solidFill>
            <a:ln cap="flat" cmpd="sng" w="1905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39"/>
            <p:cNvSpPr txBox="1"/>
            <p:nvPr/>
          </p:nvSpPr>
          <p:spPr>
            <a:xfrm>
              <a:off x="123825" y="514350"/>
              <a:ext cx="2382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S5</a:t>
              </a:r>
              <a:endParaRPr b="0" sz="9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271" name="Google Shape;1271;p39"/>
            <p:cNvSpPr txBox="1"/>
            <p:nvPr/>
          </p:nvSpPr>
          <p:spPr>
            <a:xfrm>
              <a:off x="428625" y="514350"/>
              <a:ext cx="10668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620">
                  <a:solidFill>
                    <a:srgbClr val="55555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PROPRIETARY LABS</a:t>
              </a:r>
              <a:endParaRPr b="0" sz="620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891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Access Friction</a:t>
              </a:r>
              <a:endParaRPr b="0" sz="891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736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Highly restricted usage rights coupled with intense access friction.</a:t>
              </a:r>
              <a:endParaRPr b="0" sz="736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272" name="Google Shape;1272;p39"/>
          <p:cNvGrpSpPr/>
          <p:nvPr/>
        </p:nvGrpSpPr>
        <p:grpSpPr>
          <a:xfrm>
            <a:off x="2190750" y="2905125"/>
            <a:ext cx="1619100" cy="1666800"/>
            <a:chOff x="0" y="0"/>
            <a:chExt cx="1619100" cy="1666800"/>
          </a:xfrm>
        </p:grpSpPr>
        <p:sp>
          <p:nvSpPr>
            <p:cNvPr id="1273" name="Google Shape;1273;p39"/>
            <p:cNvSpPr/>
            <p:nvPr/>
          </p:nvSpPr>
          <p:spPr>
            <a:xfrm>
              <a:off x="0" y="0"/>
              <a:ext cx="1619100" cy="1666800"/>
            </a:xfrm>
            <a:prstGeom prst="roundRect">
              <a:avLst>
                <a:gd fmla="val 3529" name="adj"/>
              </a:avLst>
            </a:prstGeom>
            <a:solidFill>
              <a:srgbClr val="111111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39"/>
            <p:cNvSpPr/>
            <p:nvPr/>
          </p:nvSpPr>
          <p:spPr>
            <a:xfrm>
              <a:off x="0" y="0"/>
              <a:ext cx="1619100" cy="1666800"/>
            </a:xfrm>
            <a:prstGeom prst="roundRect">
              <a:avLst>
                <a:gd fmla="val 3529" name="adj"/>
              </a:avLst>
            </a:prstGeom>
            <a:solidFill>
              <a:srgbClr val="FFFFFF"/>
            </a:solidFill>
            <a:ln cap="flat" cmpd="sng" w="28575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39"/>
            <p:cNvSpPr/>
            <p:nvPr/>
          </p:nvSpPr>
          <p:spPr>
            <a:xfrm>
              <a:off x="123825" y="123825"/>
              <a:ext cx="1371600" cy="266700"/>
            </a:xfrm>
            <a:prstGeom prst="roundRect">
              <a:avLst>
                <a:gd fmla="val 14285" name="adj"/>
              </a:avLst>
            </a:prstGeom>
            <a:solidFill>
              <a:srgbClr val="00E676"/>
            </a:solidFill>
            <a:ln cap="flat" cmpd="sng" w="1905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39"/>
            <p:cNvSpPr txBox="1"/>
            <p:nvPr/>
          </p:nvSpPr>
          <p:spPr>
            <a:xfrm>
              <a:off x="123825" y="123825"/>
              <a:ext cx="13716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SCRAPED PATHS</a:t>
              </a:r>
              <a:endParaRPr b="0" sz="925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277" name="Google Shape;1277;p39"/>
            <p:cNvSpPr/>
            <p:nvPr/>
          </p:nvSpPr>
          <p:spPr>
            <a:xfrm>
              <a:off x="123825" y="514350"/>
              <a:ext cx="238200" cy="238200"/>
            </a:xfrm>
            <a:prstGeom prst="roundRect">
              <a:avLst>
                <a:gd fmla="val 16000" name="adj"/>
              </a:avLst>
            </a:prstGeom>
            <a:solidFill>
              <a:srgbClr val="0044FF"/>
            </a:solidFill>
            <a:ln cap="flat" cmpd="sng" w="1905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39"/>
            <p:cNvSpPr txBox="1"/>
            <p:nvPr/>
          </p:nvSpPr>
          <p:spPr>
            <a:xfrm>
              <a:off x="123825" y="514350"/>
              <a:ext cx="2382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S6</a:t>
              </a:r>
              <a:endParaRPr b="0" sz="9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279" name="Google Shape;1279;p39"/>
            <p:cNvSpPr txBox="1"/>
            <p:nvPr/>
          </p:nvSpPr>
          <p:spPr>
            <a:xfrm>
              <a:off x="428625" y="514350"/>
              <a:ext cx="10668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620">
                  <a:solidFill>
                    <a:srgbClr val="55555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REVERSE ENGINEERING</a:t>
              </a:r>
              <a:endParaRPr b="0" sz="620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891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Broken Links</a:t>
              </a:r>
              <a:endParaRPr b="0" sz="891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736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Undocumented schemas combined with volatile, broken resource links.</a:t>
              </a:r>
              <a:endParaRPr b="0" sz="736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280" name="Google Shape;1280;p39"/>
          <p:cNvGrpSpPr/>
          <p:nvPr/>
        </p:nvGrpSpPr>
        <p:grpSpPr>
          <a:xfrm>
            <a:off x="3905250" y="2905125"/>
            <a:ext cx="1619100" cy="1666800"/>
            <a:chOff x="0" y="0"/>
            <a:chExt cx="1619100" cy="1666800"/>
          </a:xfrm>
        </p:grpSpPr>
        <p:sp>
          <p:nvSpPr>
            <p:cNvPr id="1281" name="Google Shape;1281;p39"/>
            <p:cNvSpPr/>
            <p:nvPr/>
          </p:nvSpPr>
          <p:spPr>
            <a:xfrm>
              <a:off x="0" y="0"/>
              <a:ext cx="1619100" cy="1666800"/>
            </a:xfrm>
            <a:prstGeom prst="roundRect">
              <a:avLst>
                <a:gd fmla="val 3529" name="adj"/>
              </a:avLst>
            </a:prstGeom>
            <a:solidFill>
              <a:srgbClr val="111111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39"/>
            <p:cNvSpPr/>
            <p:nvPr/>
          </p:nvSpPr>
          <p:spPr>
            <a:xfrm>
              <a:off x="0" y="0"/>
              <a:ext cx="1619100" cy="1666800"/>
            </a:xfrm>
            <a:prstGeom prst="roundRect">
              <a:avLst>
                <a:gd fmla="val 3529" name="adj"/>
              </a:avLst>
            </a:prstGeom>
            <a:solidFill>
              <a:srgbClr val="FFFFFF"/>
            </a:solidFill>
            <a:ln cap="flat" cmpd="sng" w="28575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39"/>
            <p:cNvSpPr/>
            <p:nvPr/>
          </p:nvSpPr>
          <p:spPr>
            <a:xfrm>
              <a:off x="123825" y="123825"/>
              <a:ext cx="1371600" cy="266700"/>
            </a:xfrm>
            <a:prstGeom prst="roundRect">
              <a:avLst>
                <a:gd fmla="val 14285" name="adj"/>
              </a:avLst>
            </a:prstGeom>
            <a:solidFill>
              <a:srgbClr val="FFCC00"/>
            </a:solidFill>
            <a:ln cap="flat" cmpd="sng" w="1905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4" name="Google Shape;1284;p39"/>
            <p:cNvSpPr txBox="1"/>
            <p:nvPr/>
          </p:nvSpPr>
          <p:spPr>
            <a:xfrm>
              <a:off x="123825" y="123825"/>
              <a:ext cx="13716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HYBRID MIXING</a:t>
              </a:r>
              <a:endParaRPr b="0" sz="925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285" name="Google Shape;1285;p39"/>
            <p:cNvSpPr/>
            <p:nvPr/>
          </p:nvSpPr>
          <p:spPr>
            <a:xfrm>
              <a:off x="123825" y="514350"/>
              <a:ext cx="238200" cy="238200"/>
            </a:xfrm>
            <a:prstGeom prst="roundRect">
              <a:avLst>
                <a:gd fmla="val 16000" name="adj"/>
              </a:avLst>
            </a:prstGeom>
            <a:solidFill>
              <a:srgbClr val="111111"/>
            </a:solidFill>
            <a:ln cap="flat" cmpd="sng" w="1905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39"/>
            <p:cNvSpPr txBox="1"/>
            <p:nvPr/>
          </p:nvSpPr>
          <p:spPr>
            <a:xfrm>
              <a:off x="123825" y="514350"/>
              <a:ext cx="2382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S7</a:t>
              </a:r>
              <a:endParaRPr b="0" sz="9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287" name="Google Shape;1287;p39"/>
            <p:cNvSpPr txBox="1"/>
            <p:nvPr/>
          </p:nvSpPr>
          <p:spPr>
            <a:xfrm>
              <a:off x="428625" y="514350"/>
              <a:ext cx="10668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620">
                  <a:solidFill>
                    <a:srgbClr val="55555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COALITION DATA</a:t>
              </a:r>
              <a:endParaRPr b="0" sz="620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891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Schema Mismatch</a:t>
              </a:r>
              <a:endParaRPr b="0" sz="891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736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Severe formatting mismatches paired with complex per-source license risk.</a:t>
              </a:r>
              <a:endParaRPr b="0" sz="736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288" name="Google Shape;1288;p39"/>
          <p:cNvGrpSpPr/>
          <p:nvPr/>
        </p:nvGrpSpPr>
        <p:grpSpPr>
          <a:xfrm>
            <a:off x="5619750" y="2905125"/>
            <a:ext cx="1619100" cy="1666800"/>
            <a:chOff x="0" y="0"/>
            <a:chExt cx="1619100" cy="1666800"/>
          </a:xfrm>
        </p:grpSpPr>
        <p:sp>
          <p:nvSpPr>
            <p:cNvPr id="1289" name="Google Shape;1289;p39"/>
            <p:cNvSpPr/>
            <p:nvPr/>
          </p:nvSpPr>
          <p:spPr>
            <a:xfrm>
              <a:off x="0" y="0"/>
              <a:ext cx="1619100" cy="1666800"/>
            </a:xfrm>
            <a:prstGeom prst="roundRect">
              <a:avLst>
                <a:gd fmla="val 3529" name="adj"/>
              </a:avLst>
            </a:prstGeom>
            <a:solidFill>
              <a:srgbClr val="111111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39"/>
            <p:cNvSpPr/>
            <p:nvPr/>
          </p:nvSpPr>
          <p:spPr>
            <a:xfrm>
              <a:off x="0" y="0"/>
              <a:ext cx="1619100" cy="1666800"/>
            </a:xfrm>
            <a:prstGeom prst="roundRect">
              <a:avLst>
                <a:gd fmla="val 3529" name="adj"/>
              </a:avLst>
            </a:prstGeom>
            <a:solidFill>
              <a:srgbClr val="FFFFFF"/>
            </a:solidFill>
            <a:ln cap="flat" cmpd="sng" w="28575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39"/>
            <p:cNvSpPr/>
            <p:nvPr/>
          </p:nvSpPr>
          <p:spPr>
            <a:xfrm>
              <a:off x="123825" y="123825"/>
              <a:ext cx="1371600" cy="266700"/>
            </a:xfrm>
            <a:prstGeom prst="roundRect">
              <a:avLst>
                <a:gd fmla="val 14285" name="adj"/>
              </a:avLst>
            </a:prstGeom>
            <a:solidFill>
              <a:srgbClr val="00E676"/>
            </a:solidFill>
            <a:ln cap="flat" cmpd="sng" w="1905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39"/>
            <p:cNvSpPr txBox="1"/>
            <p:nvPr/>
          </p:nvSpPr>
          <p:spPr>
            <a:xfrm>
              <a:off x="123825" y="123825"/>
              <a:ext cx="13716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BESPOKE BUILDS</a:t>
              </a:r>
              <a:endParaRPr b="0" sz="925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293" name="Google Shape;1293;p39"/>
            <p:cNvSpPr/>
            <p:nvPr/>
          </p:nvSpPr>
          <p:spPr>
            <a:xfrm>
              <a:off x="123825" y="514350"/>
              <a:ext cx="238200" cy="238200"/>
            </a:xfrm>
            <a:prstGeom prst="roundRect">
              <a:avLst>
                <a:gd fmla="val 16000" name="adj"/>
              </a:avLst>
            </a:prstGeom>
            <a:solidFill>
              <a:srgbClr val="0044FF"/>
            </a:solidFill>
            <a:ln cap="flat" cmpd="sng" w="1905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39"/>
            <p:cNvSpPr txBox="1"/>
            <p:nvPr/>
          </p:nvSpPr>
          <p:spPr>
            <a:xfrm>
              <a:off x="123825" y="514350"/>
              <a:ext cx="2382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S8</a:t>
              </a:r>
              <a:endParaRPr b="0" sz="9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295" name="Google Shape;1295;p39"/>
            <p:cNvSpPr txBox="1"/>
            <p:nvPr/>
          </p:nvSpPr>
          <p:spPr>
            <a:xfrm>
              <a:off x="428625" y="514350"/>
              <a:ext cx="10668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620">
                  <a:solidFill>
                    <a:srgbClr val="55555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BUILD YOUR OWN</a:t>
              </a:r>
              <a:endParaRPr b="0" sz="620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891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Highest Effort</a:t>
              </a:r>
              <a:endParaRPr b="0" sz="891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736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Massive resource sink with zero external benchmarks for validation.</a:t>
              </a:r>
              <a:endParaRPr b="0" sz="736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1296" name="Google Shape;1296;p39"/>
          <p:cNvSpPr txBox="1"/>
          <p:nvPr/>
        </p:nvSpPr>
        <p:spPr>
          <a:xfrm>
            <a:off x="7572375" y="1047750"/>
            <a:ext cx="14289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900">
                <a:solidFill>
                  <a:srgbClr val="F4F4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"Every model is a data problem before it's a model problem."</a:t>
            </a:r>
            <a:endParaRPr b="0" i="1" sz="900">
              <a:solidFill>
                <a:srgbClr val="F4F4F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SOURCES</a:t>
            </a:r>
            <a:endParaRPr b="0" sz="24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75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F4F4F0"/>
                </a:solidFill>
                <a:latin typeface="Inter Medium"/>
                <a:ea typeface="Inter Medium"/>
                <a:cs typeface="Inter Medium"/>
                <a:sym typeface="Inter Medium"/>
              </a:rPr>
              <a:t>Limitations</a:t>
            </a:r>
            <a:endParaRPr b="0" sz="900">
              <a:solidFill>
                <a:srgbClr val="F4F4F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Vetting</a:t>
            </a:r>
            <a:endParaRPr b="0" sz="24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75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F4F4F0"/>
                </a:solidFill>
                <a:latin typeface="Inter Medium"/>
                <a:ea typeface="Inter Medium"/>
                <a:cs typeface="Inter Medium"/>
                <a:sym typeface="Inter Medium"/>
              </a:rPr>
              <a:t>Bottlenecks</a:t>
            </a:r>
            <a:endParaRPr b="0" sz="900">
              <a:solidFill>
                <a:srgbClr val="F4F4F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" sz="7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* Without thorough evaluation, models inherit invisible structural vulnerabilities from their origin pipeline.</a:t>
            </a:r>
            <a:endParaRPr b="0" sz="700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p4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4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40"/>
          <p:cNvSpPr/>
          <p:nvPr/>
        </p:nvSpPr>
        <p:spPr>
          <a:xfrm>
            <a:off x="7429500" y="0"/>
            <a:ext cx="1714500" cy="5143500"/>
          </a:xfrm>
          <a:prstGeom prst="rect">
            <a:avLst/>
          </a:prstGeom>
          <a:solidFill>
            <a:srgbClr val="0044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03" name="Google Shape;1303;p40"/>
          <p:cNvCxnSpPr/>
          <p:nvPr/>
        </p:nvCxnSpPr>
        <p:spPr>
          <a:xfrm>
            <a:off x="7429500" y="0"/>
            <a:ext cx="0" cy="5143500"/>
          </a:xfrm>
          <a:prstGeom prst="straightConnector1">
            <a:avLst/>
          </a:prstGeom>
          <a:solidFill>
            <a:srgbClr val="FFFFFF"/>
          </a:solidFill>
          <a:ln cap="flat" cmpd="sng" w="762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4" name="Google Shape;1304;p40"/>
          <p:cNvSpPr/>
          <p:nvPr/>
        </p:nvSpPr>
        <p:spPr>
          <a:xfrm>
            <a:off x="190500" y="190500"/>
            <a:ext cx="8763000" cy="4762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381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05" name="Google Shape;1305;p40"/>
          <p:cNvGrpSpPr/>
          <p:nvPr/>
        </p:nvGrpSpPr>
        <p:grpSpPr>
          <a:xfrm>
            <a:off x="8001000" y="381000"/>
            <a:ext cx="457200" cy="457200"/>
            <a:chOff x="0" y="0"/>
            <a:chExt cx="457200" cy="457200"/>
          </a:xfrm>
        </p:grpSpPr>
        <p:sp>
          <p:nvSpPr>
            <p:cNvPr id="1306" name="Google Shape;1306;p40"/>
            <p:cNvSpPr/>
            <p:nvPr/>
          </p:nvSpPr>
          <p:spPr>
            <a:xfrm>
              <a:off x="0" y="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40"/>
            <p:cNvSpPr/>
            <p:nvPr/>
          </p:nvSpPr>
          <p:spPr>
            <a:xfrm>
              <a:off x="190500" y="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40"/>
            <p:cNvSpPr/>
            <p:nvPr/>
          </p:nvSpPr>
          <p:spPr>
            <a:xfrm>
              <a:off x="381000" y="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40"/>
            <p:cNvSpPr/>
            <p:nvPr/>
          </p:nvSpPr>
          <p:spPr>
            <a:xfrm>
              <a:off x="0" y="19050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40"/>
            <p:cNvSpPr/>
            <p:nvPr/>
          </p:nvSpPr>
          <p:spPr>
            <a:xfrm>
              <a:off x="190500" y="19050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40"/>
            <p:cNvSpPr/>
            <p:nvPr/>
          </p:nvSpPr>
          <p:spPr>
            <a:xfrm>
              <a:off x="381000" y="19050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40"/>
            <p:cNvSpPr/>
            <p:nvPr/>
          </p:nvSpPr>
          <p:spPr>
            <a:xfrm>
              <a:off x="0" y="38100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40"/>
            <p:cNvSpPr/>
            <p:nvPr/>
          </p:nvSpPr>
          <p:spPr>
            <a:xfrm>
              <a:off x="190500" y="38100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40"/>
            <p:cNvSpPr/>
            <p:nvPr/>
          </p:nvSpPr>
          <p:spPr>
            <a:xfrm>
              <a:off x="381000" y="38100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15" name="Google Shape;1315;p40"/>
          <p:cNvGrpSpPr/>
          <p:nvPr/>
        </p:nvGrpSpPr>
        <p:grpSpPr>
          <a:xfrm>
            <a:off x="7905750" y="4000500"/>
            <a:ext cx="762000" cy="713400"/>
            <a:chOff x="0" y="0"/>
            <a:chExt cx="762000" cy="713400"/>
          </a:xfrm>
        </p:grpSpPr>
        <p:sp>
          <p:nvSpPr>
            <p:cNvPr id="1316" name="Google Shape;1316;p40"/>
            <p:cNvSpPr/>
            <p:nvPr/>
          </p:nvSpPr>
          <p:spPr>
            <a:xfrm>
              <a:off x="0" y="0"/>
              <a:ext cx="762000" cy="713400"/>
            </a:xfrm>
            <a:custGeom>
              <a:rect b="b" l="l" r="r" t="t"/>
              <a:pathLst>
                <a:path extrusionOk="0" h="120000" w="120000">
                  <a:moveTo>
                    <a:pt x="0" y="31883"/>
                  </a:moveTo>
                  <a:lnTo>
                    <a:pt x="0" y="95968"/>
                  </a:lnTo>
                  <a:cubicBezTo>
                    <a:pt x="0" y="108785"/>
                    <a:pt x="27000" y="120000"/>
                    <a:pt x="60000" y="120000"/>
                  </a:cubicBezTo>
                  <a:cubicBezTo>
                    <a:pt x="93000" y="120000"/>
                    <a:pt x="120000" y="108785"/>
                    <a:pt x="120000" y="95968"/>
                  </a:cubicBezTo>
                  <a:lnTo>
                    <a:pt x="120000" y="0"/>
                  </a:lnTo>
                </a:path>
              </a:pathLst>
            </a:custGeom>
            <a:solidFill>
              <a:srgbClr val="00E676"/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40"/>
            <p:cNvSpPr/>
            <p:nvPr/>
          </p:nvSpPr>
          <p:spPr>
            <a:xfrm>
              <a:off x="0" y="0"/>
              <a:ext cx="762000" cy="285900"/>
            </a:xfrm>
            <a:prstGeom prst="ellipse">
              <a:avLst/>
            </a:prstGeom>
            <a:solidFill>
              <a:srgbClr val="00E676"/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40"/>
            <p:cNvSpPr/>
            <p:nvPr/>
          </p:nvSpPr>
          <p:spPr>
            <a:xfrm>
              <a:off x="0" y="190500"/>
              <a:ext cx="762000" cy="285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9" name="Google Shape;1319;p40"/>
          <p:cNvSpPr txBox="1"/>
          <p:nvPr/>
        </p:nvSpPr>
        <p:spPr>
          <a:xfrm>
            <a:off x="476250" y="428625"/>
            <a:ext cx="6667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rPr>
              <a:t>EVALUATION: COMMON PITFALLS</a:t>
            </a:r>
            <a:endParaRPr b="0" sz="2600">
              <a:solidFill>
                <a:srgbClr val="11111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1320" name="Google Shape;1320;p40"/>
          <p:cNvGrpSpPr/>
          <p:nvPr/>
        </p:nvGrpSpPr>
        <p:grpSpPr>
          <a:xfrm>
            <a:off x="476250" y="1143000"/>
            <a:ext cx="3143400" cy="3429000"/>
            <a:chOff x="0" y="0"/>
            <a:chExt cx="3143400" cy="3429000"/>
          </a:xfrm>
        </p:grpSpPr>
        <p:sp>
          <p:nvSpPr>
            <p:cNvPr id="1321" name="Google Shape;1321;p40"/>
            <p:cNvSpPr/>
            <p:nvPr/>
          </p:nvSpPr>
          <p:spPr>
            <a:xfrm>
              <a:off x="0" y="0"/>
              <a:ext cx="3143400" cy="3429000"/>
            </a:xfrm>
            <a:prstGeom prst="roundRect">
              <a:avLst>
                <a:gd fmla="val 1818" name="adj"/>
              </a:avLst>
            </a:prstGeom>
            <a:solidFill>
              <a:srgbClr val="111111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40"/>
            <p:cNvSpPr/>
            <p:nvPr/>
          </p:nvSpPr>
          <p:spPr>
            <a:xfrm>
              <a:off x="0" y="0"/>
              <a:ext cx="3143400" cy="3429000"/>
            </a:xfrm>
            <a:prstGeom prst="roundRect">
              <a:avLst>
                <a:gd fmla="val 1818" name="adj"/>
              </a:avLst>
            </a:prstGeom>
            <a:solidFill>
              <a:srgbClr val="FFFFFF"/>
            </a:solidFill>
            <a:ln cap="flat" cmpd="sng" w="28575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40"/>
            <p:cNvSpPr/>
            <p:nvPr/>
          </p:nvSpPr>
          <p:spPr>
            <a:xfrm>
              <a:off x="142875" y="142875"/>
              <a:ext cx="2857500" cy="333300"/>
            </a:xfrm>
            <a:prstGeom prst="roundRect">
              <a:avLst>
                <a:gd fmla="val 11428" name="adj"/>
              </a:avLst>
            </a:prstGeom>
            <a:solidFill>
              <a:srgbClr val="00E676"/>
            </a:solidFill>
            <a:ln cap="flat" cmpd="sng" w="1905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40"/>
            <p:cNvSpPr txBox="1"/>
            <p:nvPr/>
          </p:nvSpPr>
          <p:spPr>
            <a:xfrm>
              <a:off x="142875" y="142875"/>
              <a:ext cx="2857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INTEGRITY &amp; LEAKAGE</a:t>
              </a:r>
              <a:endParaRPr b="0" sz="1100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25" name="Google Shape;1325;p40"/>
            <p:cNvSpPr/>
            <p:nvPr/>
          </p:nvSpPr>
          <p:spPr>
            <a:xfrm>
              <a:off x="142875" y="619125"/>
              <a:ext cx="238200" cy="238200"/>
            </a:xfrm>
            <a:prstGeom prst="roundRect">
              <a:avLst>
                <a:gd fmla="val 16000" name="adj"/>
              </a:avLst>
            </a:prstGeom>
            <a:solidFill>
              <a:srgbClr val="0044FF"/>
            </a:solidFill>
            <a:ln cap="flat" cmpd="sng" w="1905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40"/>
            <p:cNvSpPr txBox="1"/>
            <p:nvPr/>
          </p:nvSpPr>
          <p:spPr>
            <a:xfrm>
              <a:off x="142875" y="619125"/>
              <a:ext cx="2382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P1</a:t>
              </a:r>
              <a:endParaRPr b="0" sz="10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27" name="Google Shape;1327;p40"/>
            <p:cNvSpPr txBox="1"/>
            <p:nvPr/>
          </p:nvSpPr>
          <p:spPr>
            <a:xfrm>
              <a:off x="476250" y="619125"/>
              <a:ext cx="25242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650">
                  <a:solidFill>
                    <a:srgbClr val="55555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DATA CLEANLINESS</a:t>
              </a:r>
              <a:endParaRPr b="0" sz="650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Contamination Risks</a:t>
              </a:r>
              <a:endParaRPr b="0" sz="1150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Train/Test Leakage:</a:t>
              </a:r>
              <a:r>
                <a:rPr b="0" lang="en" sz="105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Information accidentally shared between splits invalidates performance validation and inflates metrics.</a:t>
              </a:r>
              <a:endParaRPr b="0" sz="1050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900"/>
                </a:spcAft>
                <a:buNone/>
              </a:pPr>
              <a:r>
                <a:rPr b="1" lang="en" sz="10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Near-Duplicate Samples:</a:t>
              </a:r>
              <a:r>
                <a:rPr b="0" lang="en" sz="105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Redundant entries bias models and artificially blow up accuracy scores without generalizability.</a:t>
              </a:r>
              <a:endParaRPr b="0" sz="1050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328" name="Google Shape;1328;p40"/>
          <p:cNvGrpSpPr/>
          <p:nvPr/>
        </p:nvGrpSpPr>
        <p:grpSpPr>
          <a:xfrm>
            <a:off x="3905250" y="1143000"/>
            <a:ext cx="3143400" cy="3429000"/>
            <a:chOff x="0" y="0"/>
            <a:chExt cx="3143400" cy="3429000"/>
          </a:xfrm>
        </p:grpSpPr>
        <p:sp>
          <p:nvSpPr>
            <p:cNvPr id="1329" name="Google Shape;1329;p40"/>
            <p:cNvSpPr/>
            <p:nvPr/>
          </p:nvSpPr>
          <p:spPr>
            <a:xfrm>
              <a:off x="0" y="0"/>
              <a:ext cx="3143400" cy="3429000"/>
            </a:xfrm>
            <a:prstGeom prst="roundRect">
              <a:avLst>
                <a:gd fmla="val 1818" name="adj"/>
              </a:avLst>
            </a:prstGeom>
            <a:solidFill>
              <a:srgbClr val="111111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40"/>
            <p:cNvSpPr/>
            <p:nvPr/>
          </p:nvSpPr>
          <p:spPr>
            <a:xfrm>
              <a:off x="0" y="0"/>
              <a:ext cx="3143400" cy="3429000"/>
            </a:xfrm>
            <a:prstGeom prst="roundRect">
              <a:avLst>
                <a:gd fmla="val 1818" name="adj"/>
              </a:avLst>
            </a:prstGeom>
            <a:solidFill>
              <a:srgbClr val="FFFFFF"/>
            </a:solidFill>
            <a:ln cap="flat" cmpd="sng" w="28575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40"/>
            <p:cNvSpPr/>
            <p:nvPr/>
          </p:nvSpPr>
          <p:spPr>
            <a:xfrm>
              <a:off x="142875" y="142875"/>
              <a:ext cx="2857500" cy="333300"/>
            </a:xfrm>
            <a:prstGeom prst="roundRect">
              <a:avLst>
                <a:gd fmla="val 11428" name="adj"/>
              </a:avLst>
            </a:prstGeom>
            <a:solidFill>
              <a:srgbClr val="FFCC00"/>
            </a:solidFill>
            <a:ln cap="flat" cmpd="sng" w="1905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40"/>
            <p:cNvSpPr txBox="1"/>
            <p:nvPr/>
          </p:nvSpPr>
          <p:spPr>
            <a:xfrm>
              <a:off x="142875" y="142875"/>
              <a:ext cx="2857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ALIGNMENT &amp; VIABILITY</a:t>
              </a:r>
              <a:endParaRPr b="0" sz="1100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33" name="Google Shape;1333;p40"/>
            <p:cNvSpPr/>
            <p:nvPr/>
          </p:nvSpPr>
          <p:spPr>
            <a:xfrm>
              <a:off x="142875" y="619125"/>
              <a:ext cx="238200" cy="238200"/>
            </a:xfrm>
            <a:prstGeom prst="roundRect">
              <a:avLst>
                <a:gd fmla="val 16000" name="adj"/>
              </a:avLst>
            </a:prstGeom>
            <a:solidFill>
              <a:srgbClr val="111111"/>
            </a:solidFill>
            <a:ln cap="flat" cmpd="sng" w="1905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40"/>
            <p:cNvSpPr txBox="1"/>
            <p:nvPr/>
          </p:nvSpPr>
          <p:spPr>
            <a:xfrm>
              <a:off x="142875" y="619125"/>
              <a:ext cx="2382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P2</a:t>
              </a:r>
              <a:endParaRPr b="0" sz="10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35" name="Google Shape;1335;p40"/>
            <p:cNvSpPr txBox="1"/>
            <p:nvPr/>
          </p:nvSpPr>
          <p:spPr>
            <a:xfrm>
              <a:off x="476250" y="619125"/>
              <a:ext cx="25242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650">
                  <a:solidFill>
                    <a:srgbClr val="55555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OPERATIONAL EXPOSURES</a:t>
              </a:r>
              <a:endParaRPr b="0" sz="650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Distribution &amp; Rights</a:t>
              </a:r>
              <a:endParaRPr b="0" sz="1150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Train-Serve Skew:</a:t>
              </a:r>
              <a:r>
                <a:rPr b="0" lang="en" sz="105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Unrepresentative sampling creates critical performance drops in dynamic real-world pipelines.</a:t>
              </a:r>
              <a:endParaRPr b="0" sz="1050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Stale Data &amp; Decay:</a:t>
              </a:r>
              <a:r>
                <a:rPr b="0" lang="en" sz="105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The modern environment shifts while stagnant static datasets quickly lose semantic alignment.</a:t>
              </a:r>
              <a:endParaRPr b="0" sz="1050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900"/>
                </a:spcAft>
                <a:buNone/>
              </a:pPr>
              <a:r>
                <a:rPr b="1" lang="en" sz="10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License Infringements:</a:t>
              </a:r>
              <a:r>
                <a:rPr b="0" lang="en" sz="105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Ignoring usage limitations introduces severe legal liabilities to operational systems.</a:t>
              </a:r>
              <a:endParaRPr b="0" sz="1050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1336" name="Google Shape;1336;p40"/>
          <p:cNvSpPr txBox="1"/>
          <p:nvPr/>
        </p:nvSpPr>
        <p:spPr>
          <a:xfrm>
            <a:off x="7572375" y="1047750"/>
            <a:ext cx="14289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95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"Every model is a data problem before it's a model problem."</a:t>
            </a:r>
            <a:endParaRPr b="0" i="1" sz="95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i="1" lang="en" sz="2600">
                <a:solidFill>
                  <a:srgbClr val="FFCC00"/>
                </a:solidFill>
                <a:latin typeface="Space Grotesk"/>
                <a:ea typeface="Space Grotesk"/>
                <a:cs typeface="Space Grotesk"/>
                <a:sym typeface="Space Grotesk"/>
              </a:rPr>
              <a:t>RISK</a:t>
            </a:r>
            <a:endParaRPr b="0" i="1" sz="2600">
              <a:solidFill>
                <a:srgbClr val="FFCC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60"/>
              </a:spcBef>
              <a:spcAft>
                <a:spcPts val="0"/>
              </a:spcAft>
              <a:buNone/>
            </a:pPr>
            <a:r>
              <a:rPr b="0" i="1" lang="en" sz="900">
                <a:solidFill>
                  <a:srgbClr val="F4F4F0"/>
                </a:solidFill>
                <a:latin typeface="Inter Medium"/>
                <a:ea typeface="Inter Medium"/>
                <a:cs typeface="Inter Medium"/>
                <a:sym typeface="Inter Medium"/>
              </a:rPr>
              <a:t>Data Quality</a:t>
            </a:r>
            <a:endParaRPr b="0" i="1" sz="900">
              <a:solidFill>
                <a:srgbClr val="F4F4F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i="1" lang="en" sz="2600">
                <a:solidFill>
                  <a:srgbClr val="FFCC00"/>
                </a:solidFill>
                <a:latin typeface="Space Grotesk"/>
                <a:ea typeface="Space Grotesk"/>
                <a:cs typeface="Space Grotesk"/>
                <a:sym typeface="Space Grotesk"/>
              </a:rPr>
              <a:t>FAIL</a:t>
            </a:r>
            <a:endParaRPr b="0" i="1" sz="2600">
              <a:solidFill>
                <a:srgbClr val="FFCC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60"/>
              </a:spcBef>
              <a:spcAft>
                <a:spcPts val="0"/>
              </a:spcAft>
              <a:buNone/>
            </a:pPr>
            <a:r>
              <a:rPr b="0" i="1" lang="en" sz="900">
                <a:solidFill>
                  <a:srgbClr val="F4F4F0"/>
                </a:solidFill>
                <a:latin typeface="Inter Medium"/>
                <a:ea typeface="Inter Medium"/>
                <a:cs typeface="Inter Medium"/>
                <a:sym typeface="Inter Medium"/>
              </a:rPr>
              <a:t>Silent Drift</a:t>
            </a:r>
            <a:endParaRPr b="0" i="1" sz="900">
              <a:solidFill>
                <a:srgbClr val="F4F4F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i="1" lang="en" sz="700">
                <a:solidFill>
                  <a:srgbClr val="FFCC00"/>
                </a:solidFill>
                <a:latin typeface="Inter Medium"/>
                <a:ea typeface="Inter Medium"/>
                <a:cs typeface="Inter Medium"/>
                <a:sym typeface="Inter Medium"/>
              </a:rPr>
              <a:t>* Failing to anticipate structural leaks and target drift guarantees systemic failure under standard production conditions.</a:t>
            </a:r>
            <a:endParaRPr b="0" i="1" sz="700">
              <a:solidFill>
                <a:srgbClr val="FFCC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0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p4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4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2" name="Google Shape;1342;p41"/>
          <p:cNvSpPr/>
          <p:nvPr/>
        </p:nvSpPr>
        <p:spPr>
          <a:xfrm>
            <a:off x="7429500" y="0"/>
            <a:ext cx="1714500" cy="5143500"/>
          </a:xfrm>
          <a:prstGeom prst="rect">
            <a:avLst/>
          </a:prstGeom>
          <a:solidFill>
            <a:srgbClr val="0044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43" name="Google Shape;1343;p41"/>
          <p:cNvCxnSpPr/>
          <p:nvPr/>
        </p:nvCxnSpPr>
        <p:spPr>
          <a:xfrm>
            <a:off x="7429500" y="0"/>
            <a:ext cx="0" cy="5143500"/>
          </a:xfrm>
          <a:prstGeom prst="straightConnector1">
            <a:avLst/>
          </a:prstGeom>
          <a:solidFill>
            <a:srgbClr val="FFFFFF"/>
          </a:solidFill>
          <a:ln cap="flat" cmpd="sng" w="762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44" name="Google Shape;1344;p41"/>
          <p:cNvSpPr/>
          <p:nvPr/>
        </p:nvSpPr>
        <p:spPr>
          <a:xfrm>
            <a:off x="190500" y="190500"/>
            <a:ext cx="8763000" cy="4762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381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45" name="Google Shape;1345;p41"/>
          <p:cNvGrpSpPr/>
          <p:nvPr/>
        </p:nvGrpSpPr>
        <p:grpSpPr>
          <a:xfrm>
            <a:off x="8001000" y="381000"/>
            <a:ext cx="457200" cy="457200"/>
            <a:chOff x="0" y="0"/>
            <a:chExt cx="457200" cy="457200"/>
          </a:xfrm>
        </p:grpSpPr>
        <p:sp>
          <p:nvSpPr>
            <p:cNvPr id="1346" name="Google Shape;1346;p41"/>
            <p:cNvSpPr/>
            <p:nvPr/>
          </p:nvSpPr>
          <p:spPr>
            <a:xfrm>
              <a:off x="0" y="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41"/>
            <p:cNvSpPr/>
            <p:nvPr/>
          </p:nvSpPr>
          <p:spPr>
            <a:xfrm>
              <a:off x="190500" y="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41"/>
            <p:cNvSpPr/>
            <p:nvPr/>
          </p:nvSpPr>
          <p:spPr>
            <a:xfrm>
              <a:off x="381000" y="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9" name="Google Shape;1349;p41"/>
            <p:cNvSpPr/>
            <p:nvPr/>
          </p:nvSpPr>
          <p:spPr>
            <a:xfrm>
              <a:off x="0" y="19050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41"/>
            <p:cNvSpPr/>
            <p:nvPr/>
          </p:nvSpPr>
          <p:spPr>
            <a:xfrm>
              <a:off x="190500" y="19050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41"/>
            <p:cNvSpPr/>
            <p:nvPr/>
          </p:nvSpPr>
          <p:spPr>
            <a:xfrm>
              <a:off x="381000" y="19050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41"/>
            <p:cNvSpPr/>
            <p:nvPr/>
          </p:nvSpPr>
          <p:spPr>
            <a:xfrm>
              <a:off x="0" y="38100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41"/>
            <p:cNvSpPr/>
            <p:nvPr/>
          </p:nvSpPr>
          <p:spPr>
            <a:xfrm>
              <a:off x="190500" y="38100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41"/>
            <p:cNvSpPr/>
            <p:nvPr/>
          </p:nvSpPr>
          <p:spPr>
            <a:xfrm>
              <a:off x="381000" y="38100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55" name="Google Shape;1355;p41"/>
          <p:cNvGrpSpPr/>
          <p:nvPr/>
        </p:nvGrpSpPr>
        <p:grpSpPr>
          <a:xfrm>
            <a:off x="7905750" y="4000500"/>
            <a:ext cx="762000" cy="713400"/>
            <a:chOff x="0" y="0"/>
            <a:chExt cx="762000" cy="713400"/>
          </a:xfrm>
        </p:grpSpPr>
        <p:sp>
          <p:nvSpPr>
            <p:cNvPr id="1356" name="Google Shape;1356;p41"/>
            <p:cNvSpPr/>
            <p:nvPr/>
          </p:nvSpPr>
          <p:spPr>
            <a:xfrm>
              <a:off x="0" y="0"/>
              <a:ext cx="762000" cy="713400"/>
            </a:xfrm>
            <a:custGeom>
              <a:rect b="b" l="l" r="r" t="t"/>
              <a:pathLst>
                <a:path extrusionOk="0" h="120000" w="120000">
                  <a:moveTo>
                    <a:pt x="0" y="31883"/>
                  </a:moveTo>
                  <a:lnTo>
                    <a:pt x="0" y="95968"/>
                  </a:lnTo>
                  <a:cubicBezTo>
                    <a:pt x="0" y="108785"/>
                    <a:pt x="27000" y="120000"/>
                    <a:pt x="60000" y="120000"/>
                  </a:cubicBezTo>
                  <a:cubicBezTo>
                    <a:pt x="93000" y="120000"/>
                    <a:pt x="120000" y="108785"/>
                    <a:pt x="120000" y="95968"/>
                  </a:cubicBezTo>
                  <a:lnTo>
                    <a:pt x="120000" y="0"/>
                  </a:lnTo>
                </a:path>
              </a:pathLst>
            </a:custGeom>
            <a:solidFill>
              <a:srgbClr val="00E676"/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41"/>
            <p:cNvSpPr/>
            <p:nvPr/>
          </p:nvSpPr>
          <p:spPr>
            <a:xfrm>
              <a:off x="0" y="0"/>
              <a:ext cx="762000" cy="285900"/>
            </a:xfrm>
            <a:prstGeom prst="ellipse">
              <a:avLst/>
            </a:prstGeom>
            <a:solidFill>
              <a:srgbClr val="00E676"/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41"/>
            <p:cNvSpPr/>
            <p:nvPr/>
          </p:nvSpPr>
          <p:spPr>
            <a:xfrm>
              <a:off x="0" y="190500"/>
              <a:ext cx="762000" cy="285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59" name="Google Shape;1359;p41"/>
          <p:cNvSpPr txBox="1"/>
          <p:nvPr/>
        </p:nvSpPr>
        <p:spPr>
          <a:xfrm>
            <a:off x="476250" y="381000"/>
            <a:ext cx="6667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rPr>
              <a:t>TAKEAWAY CHEAT SHEET</a:t>
            </a:r>
            <a:endParaRPr b="0" sz="2400">
              <a:solidFill>
                <a:srgbClr val="11111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1360" name="Google Shape;1360;p41"/>
          <p:cNvGrpSpPr/>
          <p:nvPr/>
        </p:nvGrpSpPr>
        <p:grpSpPr>
          <a:xfrm>
            <a:off x="476250" y="1047750"/>
            <a:ext cx="3143400" cy="3524400"/>
            <a:chOff x="0" y="0"/>
            <a:chExt cx="3143400" cy="3524400"/>
          </a:xfrm>
        </p:grpSpPr>
        <p:sp>
          <p:nvSpPr>
            <p:cNvPr id="1361" name="Google Shape;1361;p41"/>
            <p:cNvSpPr/>
            <p:nvPr/>
          </p:nvSpPr>
          <p:spPr>
            <a:xfrm>
              <a:off x="0" y="0"/>
              <a:ext cx="3143400" cy="3524400"/>
            </a:xfrm>
            <a:prstGeom prst="roundRect">
              <a:avLst>
                <a:gd fmla="val 1818" name="adj"/>
              </a:avLst>
            </a:prstGeom>
            <a:solidFill>
              <a:srgbClr val="111111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41"/>
            <p:cNvSpPr/>
            <p:nvPr/>
          </p:nvSpPr>
          <p:spPr>
            <a:xfrm>
              <a:off x="0" y="0"/>
              <a:ext cx="3143400" cy="3524400"/>
            </a:xfrm>
            <a:prstGeom prst="roundRect">
              <a:avLst>
                <a:gd fmla="val 1818" name="adj"/>
              </a:avLst>
            </a:prstGeom>
            <a:solidFill>
              <a:srgbClr val="FFFFFF"/>
            </a:solidFill>
            <a:ln cap="flat" cmpd="sng" w="28575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41"/>
            <p:cNvSpPr/>
            <p:nvPr/>
          </p:nvSpPr>
          <p:spPr>
            <a:xfrm>
              <a:off x="142875" y="142875"/>
              <a:ext cx="2857500" cy="333300"/>
            </a:xfrm>
            <a:prstGeom prst="roundRect">
              <a:avLst>
                <a:gd fmla="val 11428" name="adj"/>
              </a:avLst>
            </a:prstGeom>
            <a:solidFill>
              <a:srgbClr val="00E676"/>
            </a:solidFill>
            <a:ln cap="flat" cmpd="sng" w="1905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41"/>
            <p:cNvSpPr txBox="1"/>
            <p:nvPr/>
          </p:nvSpPr>
          <p:spPr>
            <a:xfrm>
              <a:off x="142875" y="142875"/>
              <a:ext cx="2857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ACQUISITION COMPLEXITY</a:t>
              </a:r>
              <a:endParaRPr b="0" sz="1000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65" name="Google Shape;1365;p41"/>
            <p:cNvSpPr/>
            <p:nvPr/>
          </p:nvSpPr>
          <p:spPr>
            <a:xfrm>
              <a:off x="142875" y="619125"/>
              <a:ext cx="238200" cy="238200"/>
            </a:xfrm>
            <a:prstGeom prst="roundRect">
              <a:avLst>
                <a:gd fmla="val 16000" name="adj"/>
              </a:avLst>
            </a:prstGeom>
            <a:solidFill>
              <a:srgbClr val="0044FF"/>
            </a:solidFill>
            <a:ln cap="flat" cmpd="sng" w="1905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41"/>
            <p:cNvSpPr txBox="1"/>
            <p:nvPr/>
          </p:nvSpPr>
          <p:spPr>
            <a:xfrm>
              <a:off x="142875" y="619125"/>
              <a:ext cx="2382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E1</a:t>
              </a:r>
              <a:endParaRPr b="0" sz="10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67" name="Google Shape;1367;p41"/>
            <p:cNvSpPr txBox="1"/>
            <p:nvPr/>
          </p:nvSpPr>
          <p:spPr>
            <a:xfrm>
              <a:off x="476250" y="619125"/>
              <a:ext cx="25242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648">
                  <a:solidFill>
                    <a:srgbClr val="55555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EASIEST → HARDEST</a:t>
              </a:r>
              <a:endParaRPr b="0" sz="648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018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The Pipeline Spectrum</a:t>
              </a:r>
              <a:endParaRPr b="0" sz="1018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786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Synthetic AI:</a:t>
              </a:r>
              <a:r>
                <a:rPr b="0" lang="en" sz="786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Fastest setup but prone to unrealistic bias.</a:t>
              </a:r>
              <a:endParaRPr b="0" sz="786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786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Kaggle/HF Hubs:</a:t>
              </a:r>
              <a:r>
                <a:rPr b="0" lang="en" sz="786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Centralized but variable licensing clarity.</a:t>
              </a:r>
              <a:endParaRPr b="0" sz="786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786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UCI/Gov Repos:</a:t>
              </a:r>
              <a:r>
                <a:rPr b="0" lang="en" sz="786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Stable origins but often outdated formats.</a:t>
              </a:r>
              <a:endParaRPr b="0" sz="786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786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Augmentation:</a:t>
              </a:r>
              <a:r>
                <a:rPr b="0" lang="en" sz="786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Easy multiplier that amplifies baseline seed error.</a:t>
              </a:r>
              <a:endParaRPr b="0" sz="786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786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Closed Research:</a:t>
              </a:r>
              <a:r>
                <a:rPr b="0" lang="en" sz="786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High friction access under restricted use.</a:t>
              </a:r>
              <a:endParaRPr b="0" sz="786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786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Reverse-Engineered:</a:t>
              </a:r>
              <a:r>
                <a:rPr b="0" lang="en" sz="786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High risk of broken resource links.</a:t>
              </a:r>
              <a:endParaRPr b="0" sz="786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786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Mixed/Bespoke:</a:t>
              </a:r>
              <a:r>
                <a:rPr b="0" lang="en" sz="786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Complex per-source licensing schema clashes.</a:t>
              </a:r>
              <a:endParaRPr b="0" sz="786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786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Build-Your-Own:</a:t>
              </a:r>
              <a:r>
                <a:rPr b="0" lang="en" sz="786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Highest effort with zero validation baseline.</a:t>
              </a:r>
              <a:endParaRPr b="0" sz="786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368" name="Google Shape;1368;p41"/>
          <p:cNvGrpSpPr/>
          <p:nvPr/>
        </p:nvGrpSpPr>
        <p:grpSpPr>
          <a:xfrm>
            <a:off x="3905250" y="1047750"/>
            <a:ext cx="3143400" cy="3524400"/>
            <a:chOff x="0" y="0"/>
            <a:chExt cx="3143400" cy="3524400"/>
          </a:xfrm>
        </p:grpSpPr>
        <p:sp>
          <p:nvSpPr>
            <p:cNvPr id="1369" name="Google Shape;1369;p41"/>
            <p:cNvSpPr/>
            <p:nvPr/>
          </p:nvSpPr>
          <p:spPr>
            <a:xfrm>
              <a:off x="0" y="0"/>
              <a:ext cx="3143400" cy="3524400"/>
            </a:xfrm>
            <a:prstGeom prst="roundRect">
              <a:avLst>
                <a:gd fmla="val 1818" name="adj"/>
              </a:avLst>
            </a:prstGeom>
            <a:solidFill>
              <a:srgbClr val="111111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41"/>
            <p:cNvSpPr/>
            <p:nvPr/>
          </p:nvSpPr>
          <p:spPr>
            <a:xfrm>
              <a:off x="0" y="0"/>
              <a:ext cx="3143400" cy="3524400"/>
            </a:xfrm>
            <a:prstGeom prst="roundRect">
              <a:avLst>
                <a:gd fmla="val 1818" name="adj"/>
              </a:avLst>
            </a:prstGeom>
            <a:solidFill>
              <a:srgbClr val="FFFFFF"/>
            </a:solidFill>
            <a:ln cap="flat" cmpd="sng" w="28575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41"/>
            <p:cNvSpPr/>
            <p:nvPr/>
          </p:nvSpPr>
          <p:spPr>
            <a:xfrm>
              <a:off x="142875" y="142875"/>
              <a:ext cx="2857500" cy="333300"/>
            </a:xfrm>
            <a:prstGeom prst="roundRect">
              <a:avLst>
                <a:gd fmla="val 11428" name="adj"/>
              </a:avLst>
            </a:prstGeom>
            <a:solidFill>
              <a:srgbClr val="FFCC00"/>
            </a:solidFill>
            <a:ln cap="flat" cmpd="sng" w="1905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41"/>
            <p:cNvSpPr txBox="1"/>
            <p:nvPr/>
          </p:nvSpPr>
          <p:spPr>
            <a:xfrm>
              <a:off x="142875" y="142875"/>
              <a:ext cx="2857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VETTING FRAMEWORK</a:t>
              </a:r>
              <a:endParaRPr b="0" sz="1000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73" name="Google Shape;1373;p41"/>
            <p:cNvSpPr/>
            <p:nvPr/>
          </p:nvSpPr>
          <p:spPr>
            <a:xfrm>
              <a:off x="142875" y="619125"/>
              <a:ext cx="238200" cy="238200"/>
            </a:xfrm>
            <a:prstGeom prst="roundRect">
              <a:avLst>
                <a:gd fmla="val 16000" name="adj"/>
              </a:avLst>
            </a:prstGeom>
            <a:solidFill>
              <a:srgbClr val="111111"/>
            </a:solidFill>
            <a:ln cap="flat" cmpd="sng" w="1905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41"/>
            <p:cNvSpPr txBox="1"/>
            <p:nvPr/>
          </p:nvSpPr>
          <p:spPr>
            <a:xfrm>
              <a:off x="142875" y="619125"/>
              <a:ext cx="2382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E2</a:t>
              </a:r>
              <a:endParaRPr b="0" sz="10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75" name="Google Shape;1375;p41"/>
            <p:cNvSpPr txBox="1"/>
            <p:nvPr/>
          </p:nvSpPr>
          <p:spPr>
            <a:xfrm>
              <a:off x="476250" y="619125"/>
              <a:ext cx="25242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648">
                  <a:solidFill>
                    <a:srgbClr val="55555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EVALUATION METRICS</a:t>
              </a:r>
              <a:endParaRPr b="0" sz="648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018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5-Point Safety Audit</a:t>
              </a:r>
              <a:endParaRPr b="0" sz="1018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786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Dataset Size:</a:t>
              </a:r>
              <a:r>
                <a:rPr b="0" lang="en" sz="786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Validate structural representation thresholds and balance before model design begins.</a:t>
              </a:r>
              <a:endParaRPr b="0" sz="786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786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Explicit Labels:</a:t>
              </a:r>
              <a:r>
                <a:rPr b="0" lang="en" sz="786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Audit for clean class alignments to prevent contamination and target leakage.</a:t>
              </a:r>
              <a:endParaRPr b="0" sz="786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786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Systemic Bias:</a:t>
              </a:r>
              <a:r>
                <a:rPr b="0" lang="en" sz="786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Identify and mitigate unrepresentative sampling and amplified seed bias.</a:t>
              </a:r>
              <a:endParaRPr b="0" sz="786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786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Clear Licensing:</a:t>
              </a:r>
              <a:r>
                <a:rPr b="0" lang="en" sz="786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Thoroughly vet terms of use to prevent silent operational liabilities.</a:t>
              </a:r>
              <a:endParaRPr b="0" sz="786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786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Documentation:</a:t>
              </a:r>
              <a:r>
                <a:rPr b="0" lang="en" sz="786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Require standard datasheets or model cards to track pipeline provenance.</a:t>
              </a:r>
              <a:endParaRPr b="0" sz="786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1376" name="Google Shape;1376;p41"/>
          <p:cNvSpPr txBox="1"/>
          <p:nvPr/>
        </p:nvSpPr>
        <p:spPr>
          <a:xfrm>
            <a:off x="7572375" y="1047750"/>
            <a:ext cx="14289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95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"Every model is a data problem before it's a model problem."</a:t>
            </a:r>
            <a:endParaRPr b="0" i="1" sz="95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825"/>
              </a:spcBef>
              <a:spcAft>
                <a:spcPts val="0"/>
              </a:spcAft>
              <a:buNone/>
            </a:pPr>
            <a:r>
              <a:rPr b="0" i="1" lang="en" sz="2600">
                <a:solidFill>
                  <a:srgbClr val="FFCC00"/>
                </a:solidFill>
                <a:latin typeface="Space Grotesk"/>
                <a:ea typeface="Space Grotesk"/>
                <a:cs typeface="Space Grotesk"/>
                <a:sym typeface="Space Grotesk"/>
              </a:rPr>
              <a:t>GUIDE</a:t>
            </a:r>
            <a:endParaRPr b="0" i="1" sz="95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75"/>
              </a:spcBef>
              <a:spcAft>
                <a:spcPts val="0"/>
              </a:spcAft>
              <a:buNone/>
            </a:pPr>
            <a:r>
              <a:rPr b="0" i="1" lang="en" sz="900">
                <a:solidFill>
                  <a:srgbClr val="F4F4F0"/>
                </a:solidFill>
                <a:latin typeface="Inter Medium"/>
                <a:ea typeface="Inter Medium"/>
                <a:cs typeface="Inter Medium"/>
                <a:sym typeface="Inter Medium"/>
              </a:rPr>
              <a:t>Quick Reference</a:t>
            </a:r>
            <a:endParaRPr b="0" i="1" sz="900">
              <a:solidFill>
                <a:srgbClr val="F4F4F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825"/>
              </a:spcBef>
              <a:spcAft>
                <a:spcPts val="0"/>
              </a:spcAft>
              <a:buNone/>
            </a:pPr>
            <a:r>
              <a:rPr b="0" i="1" lang="en" sz="2600">
                <a:solidFill>
                  <a:srgbClr val="FFCC00"/>
                </a:solidFill>
                <a:latin typeface="Space Grotesk"/>
                <a:ea typeface="Space Grotesk"/>
                <a:cs typeface="Space Grotesk"/>
                <a:sym typeface="Space Grotesk"/>
              </a:rPr>
              <a:t>SAVE</a:t>
            </a:r>
            <a:endParaRPr b="0" i="1" sz="95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75"/>
              </a:spcBef>
              <a:spcAft>
                <a:spcPts val="0"/>
              </a:spcAft>
              <a:buNone/>
            </a:pPr>
            <a:r>
              <a:rPr b="0" i="1" lang="en" sz="900">
                <a:solidFill>
                  <a:srgbClr val="F4F4F0"/>
                </a:solidFill>
                <a:latin typeface="Inter Medium"/>
                <a:ea typeface="Inter Medium"/>
                <a:cs typeface="Inter Medium"/>
                <a:sym typeface="Inter Medium"/>
              </a:rPr>
              <a:t>Screenshot Spec</a:t>
            </a:r>
            <a:endParaRPr b="0" i="1" sz="900">
              <a:solidFill>
                <a:srgbClr val="F4F4F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825"/>
              </a:spcBef>
              <a:spcAft>
                <a:spcPts val="0"/>
              </a:spcAft>
              <a:buNone/>
            </a:pPr>
            <a:r>
              <a:rPr b="0" i="1" lang="en" sz="648">
                <a:solidFill>
                  <a:srgbClr val="FFCC00"/>
                </a:solidFill>
                <a:latin typeface="Inter Medium"/>
                <a:ea typeface="Inter Medium"/>
                <a:cs typeface="Inter Medium"/>
                <a:sym typeface="Inter Medium"/>
              </a:rPr>
              <a:t>* Always audit structural data limits and downstream compliance rights before starting training pipelines.</a:t>
            </a:r>
            <a:endParaRPr b="0" i="1" sz="648">
              <a:solidFill>
                <a:srgbClr val="FFCC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0" name="Shape 1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Google Shape;1381;p4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4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2" name="Google Shape;1382;p42"/>
          <p:cNvSpPr/>
          <p:nvPr/>
        </p:nvSpPr>
        <p:spPr>
          <a:xfrm>
            <a:off x="7429500" y="0"/>
            <a:ext cx="1714500" cy="5143500"/>
          </a:xfrm>
          <a:prstGeom prst="rect">
            <a:avLst/>
          </a:prstGeom>
          <a:solidFill>
            <a:srgbClr val="0044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83" name="Google Shape;1383;p42"/>
          <p:cNvCxnSpPr/>
          <p:nvPr/>
        </p:nvCxnSpPr>
        <p:spPr>
          <a:xfrm>
            <a:off x="7429500" y="0"/>
            <a:ext cx="0" cy="5143500"/>
          </a:xfrm>
          <a:prstGeom prst="straightConnector1">
            <a:avLst/>
          </a:prstGeom>
          <a:solidFill>
            <a:srgbClr val="FFFFFF"/>
          </a:solidFill>
          <a:ln cap="flat" cmpd="sng" w="762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84" name="Google Shape;1384;p42"/>
          <p:cNvSpPr/>
          <p:nvPr/>
        </p:nvSpPr>
        <p:spPr>
          <a:xfrm>
            <a:off x="190500" y="190500"/>
            <a:ext cx="8763000" cy="4762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381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5" name="Google Shape;1385;p42"/>
          <p:cNvGrpSpPr/>
          <p:nvPr/>
        </p:nvGrpSpPr>
        <p:grpSpPr>
          <a:xfrm>
            <a:off x="8001000" y="381000"/>
            <a:ext cx="457200" cy="457200"/>
            <a:chOff x="0" y="0"/>
            <a:chExt cx="457200" cy="457200"/>
          </a:xfrm>
        </p:grpSpPr>
        <p:sp>
          <p:nvSpPr>
            <p:cNvPr id="1386" name="Google Shape;1386;p42"/>
            <p:cNvSpPr/>
            <p:nvPr/>
          </p:nvSpPr>
          <p:spPr>
            <a:xfrm>
              <a:off x="0" y="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42"/>
            <p:cNvSpPr/>
            <p:nvPr/>
          </p:nvSpPr>
          <p:spPr>
            <a:xfrm>
              <a:off x="190500" y="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42"/>
            <p:cNvSpPr/>
            <p:nvPr/>
          </p:nvSpPr>
          <p:spPr>
            <a:xfrm>
              <a:off x="381000" y="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42"/>
            <p:cNvSpPr/>
            <p:nvPr/>
          </p:nvSpPr>
          <p:spPr>
            <a:xfrm>
              <a:off x="0" y="19050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42"/>
            <p:cNvSpPr/>
            <p:nvPr/>
          </p:nvSpPr>
          <p:spPr>
            <a:xfrm>
              <a:off x="190500" y="19050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42"/>
            <p:cNvSpPr/>
            <p:nvPr/>
          </p:nvSpPr>
          <p:spPr>
            <a:xfrm>
              <a:off x="381000" y="19050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42"/>
            <p:cNvSpPr/>
            <p:nvPr/>
          </p:nvSpPr>
          <p:spPr>
            <a:xfrm>
              <a:off x="0" y="38100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42"/>
            <p:cNvSpPr/>
            <p:nvPr/>
          </p:nvSpPr>
          <p:spPr>
            <a:xfrm>
              <a:off x="190500" y="38100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42"/>
            <p:cNvSpPr/>
            <p:nvPr/>
          </p:nvSpPr>
          <p:spPr>
            <a:xfrm>
              <a:off x="381000" y="381000"/>
              <a:ext cx="76200" cy="762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95" name="Google Shape;1395;p42"/>
          <p:cNvGrpSpPr/>
          <p:nvPr/>
        </p:nvGrpSpPr>
        <p:grpSpPr>
          <a:xfrm>
            <a:off x="7905750" y="4000500"/>
            <a:ext cx="762000" cy="713400"/>
            <a:chOff x="0" y="0"/>
            <a:chExt cx="762000" cy="713400"/>
          </a:xfrm>
        </p:grpSpPr>
        <p:sp>
          <p:nvSpPr>
            <p:cNvPr id="1396" name="Google Shape;1396;p42"/>
            <p:cNvSpPr/>
            <p:nvPr/>
          </p:nvSpPr>
          <p:spPr>
            <a:xfrm>
              <a:off x="0" y="0"/>
              <a:ext cx="762000" cy="713400"/>
            </a:xfrm>
            <a:custGeom>
              <a:rect b="b" l="l" r="r" t="t"/>
              <a:pathLst>
                <a:path extrusionOk="0" h="120000" w="120000">
                  <a:moveTo>
                    <a:pt x="0" y="31884"/>
                  </a:moveTo>
                  <a:lnTo>
                    <a:pt x="0" y="95967"/>
                  </a:lnTo>
                  <a:cubicBezTo>
                    <a:pt x="0" y="108785"/>
                    <a:pt x="27000" y="120000"/>
                    <a:pt x="60000" y="120000"/>
                  </a:cubicBezTo>
                  <a:cubicBezTo>
                    <a:pt x="93000" y="120000"/>
                    <a:pt x="120000" y="108785"/>
                    <a:pt x="120000" y="95967"/>
                  </a:cubicBezTo>
                  <a:lnTo>
                    <a:pt x="120000" y="0"/>
                  </a:lnTo>
                </a:path>
              </a:pathLst>
            </a:custGeom>
            <a:solidFill>
              <a:srgbClr val="00E676"/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42"/>
            <p:cNvSpPr/>
            <p:nvPr/>
          </p:nvSpPr>
          <p:spPr>
            <a:xfrm>
              <a:off x="0" y="0"/>
              <a:ext cx="762000" cy="285900"/>
            </a:xfrm>
            <a:prstGeom prst="ellipse">
              <a:avLst/>
            </a:prstGeom>
            <a:solidFill>
              <a:srgbClr val="00E676"/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42"/>
            <p:cNvSpPr/>
            <p:nvPr/>
          </p:nvSpPr>
          <p:spPr>
            <a:xfrm>
              <a:off x="0" y="190500"/>
              <a:ext cx="762000" cy="285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381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9" name="Google Shape;1399;p42"/>
          <p:cNvSpPr txBox="1"/>
          <p:nvPr/>
        </p:nvSpPr>
        <p:spPr>
          <a:xfrm>
            <a:off x="476250" y="381000"/>
            <a:ext cx="6667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rPr>
              <a:t>THANK YOU! </a:t>
            </a:r>
            <a:endParaRPr b="0" sz="2400">
              <a:solidFill>
                <a:srgbClr val="11111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1400" name="Google Shape;1400;p42"/>
          <p:cNvGrpSpPr/>
          <p:nvPr/>
        </p:nvGrpSpPr>
        <p:grpSpPr>
          <a:xfrm>
            <a:off x="476250" y="1047750"/>
            <a:ext cx="3143400" cy="3524400"/>
            <a:chOff x="0" y="0"/>
            <a:chExt cx="3143400" cy="3524400"/>
          </a:xfrm>
        </p:grpSpPr>
        <p:sp>
          <p:nvSpPr>
            <p:cNvPr id="1401" name="Google Shape;1401;p42"/>
            <p:cNvSpPr/>
            <p:nvPr/>
          </p:nvSpPr>
          <p:spPr>
            <a:xfrm>
              <a:off x="0" y="0"/>
              <a:ext cx="3143400" cy="3524400"/>
            </a:xfrm>
            <a:prstGeom prst="roundRect">
              <a:avLst>
                <a:gd fmla="val 1818" name="adj"/>
              </a:avLst>
            </a:prstGeom>
            <a:solidFill>
              <a:srgbClr val="111111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42"/>
            <p:cNvSpPr/>
            <p:nvPr/>
          </p:nvSpPr>
          <p:spPr>
            <a:xfrm>
              <a:off x="0" y="0"/>
              <a:ext cx="3143400" cy="3524400"/>
            </a:xfrm>
            <a:prstGeom prst="roundRect">
              <a:avLst>
                <a:gd fmla="val 1818" name="adj"/>
              </a:avLst>
            </a:prstGeom>
            <a:solidFill>
              <a:srgbClr val="FFFFFF"/>
            </a:solidFill>
            <a:ln cap="flat" cmpd="sng" w="28575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42"/>
            <p:cNvSpPr/>
            <p:nvPr/>
          </p:nvSpPr>
          <p:spPr>
            <a:xfrm>
              <a:off x="142875" y="142875"/>
              <a:ext cx="2857500" cy="333300"/>
            </a:xfrm>
            <a:prstGeom prst="roundRect">
              <a:avLst>
                <a:gd fmla="val 11428" name="adj"/>
              </a:avLst>
            </a:prstGeom>
            <a:solidFill>
              <a:srgbClr val="00E676"/>
            </a:solidFill>
            <a:ln cap="flat" cmpd="sng" w="1905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42"/>
            <p:cNvSpPr txBox="1"/>
            <p:nvPr/>
          </p:nvSpPr>
          <p:spPr>
            <a:xfrm>
              <a:off x="142875" y="142875"/>
              <a:ext cx="2857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CODE &amp; WORKSPACE</a:t>
              </a:r>
              <a:endParaRPr b="0" sz="1000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405" name="Google Shape;1405;p42"/>
            <p:cNvSpPr/>
            <p:nvPr/>
          </p:nvSpPr>
          <p:spPr>
            <a:xfrm>
              <a:off x="142875" y="619125"/>
              <a:ext cx="238200" cy="238200"/>
            </a:xfrm>
            <a:prstGeom prst="roundRect">
              <a:avLst>
                <a:gd fmla="val 16000" name="adj"/>
              </a:avLst>
            </a:prstGeom>
            <a:solidFill>
              <a:srgbClr val="0044FF"/>
            </a:solidFill>
            <a:ln cap="flat" cmpd="sng" w="1905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42"/>
            <p:cNvSpPr txBox="1"/>
            <p:nvPr/>
          </p:nvSpPr>
          <p:spPr>
            <a:xfrm>
              <a:off x="142875" y="619125"/>
              <a:ext cx="2382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R1</a:t>
              </a:r>
              <a:endParaRPr b="0" sz="10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407" name="Google Shape;1407;p42"/>
            <p:cNvSpPr txBox="1"/>
            <p:nvPr/>
          </p:nvSpPr>
          <p:spPr>
            <a:xfrm>
              <a:off x="476250" y="619125"/>
              <a:ext cx="25242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650">
                  <a:solidFill>
                    <a:srgbClr val="55555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SOURCE DIRECTORY</a:t>
              </a:r>
              <a:endParaRPr b="0" sz="650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281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Workspace &amp; Files</a:t>
              </a:r>
              <a:endParaRPr b="0" sz="1150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675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Live Resources:</a:t>
              </a:r>
              <a:r>
                <a:rPr b="0" lang="en" sz="105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All URLs shown live are compiled and collected in one clean repository place.</a:t>
              </a:r>
              <a:endParaRPr b="0" sz="1050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Slides &amp; Demos:</a:t>
              </a:r>
              <a:r>
                <a:rPr b="0" lang="en" sz="105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Access presentation slides plus interactive demo notebooks.</a:t>
              </a:r>
              <a:endParaRPr b="0" sz="1050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GitHub Path:</a:t>
              </a:r>
              <a:br>
                <a:rPr b="0" lang="en" sz="105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</a:br>
              <a:r>
                <a:rPr b="1" lang="en" sz="1050" u="sng">
                  <a:solidFill>
                    <a:schemeClr val="hlink"/>
                  </a:solidFill>
                  <a:latin typeface="Inter"/>
                  <a:ea typeface="Inter"/>
                  <a:cs typeface="Inter"/>
                  <a:sym typeface="Inter"/>
                  <a:hlinkClick r:id="rId3"/>
                </a:rPr>
                <a:t>github.com/pgokul695/</a:t>
              </a:r>
              <a:r>
                <a:rPr lang="en" sz="1050" u="sng">
                  <a:solidFill>
                    <a:schemeClr val="hlink"/>
                  </a:solidFill>
                  <a:latin typeface="Inter Medium"/>
                  <a:ea typeface="Inter Medium"/>
                  <a:cs typeface="Inter Medium"/>
                  <a:sym typeface="Inter Medium"/>
                  <a:hlinkClick r:id="rId4"/>
                </a:rPr>
                <a:t>Where_does_AI_gets_its_data</a:t>
              </a:r>
              <a:endParaRPr b="0" sz="1050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408" name="Google Shape;1408;p42"/>
          <p:cNvGrpSpPr/>
          <p:nvPr/>
        </p:nvGrpSpPr>
        <p:grpSpPr>
          <a:xfrm>
            <a:off x="3905250" y="1047750"/>
            <a:ext cx="3143400" cy="3524400"/>
            <a:chOff x="0" y="0"/>
            <a:chExt cx="3143400" cy="3524400"/>
          </a:xfrm>
        </p:grpSpPr>
        <p:sp>
          <p:nvSpPr>
            <p:cNvPr id="1409" name="Google Shape;1409;p42"/>
            <p:cNvSpPr/>
            <p:nvPr/>
          </p:nvSpPr>
          <p:spPr>
            <a:xfrm>
              <a:off x="0" y="0"/>
              <a:ext cx="3143400" cy="3524400"/>
            </a:xfrm>
            <a:prstGeom prst="roundRect">
              <a:avLst>
                <a:gd fmla="val 1818" name="adj"/>
              </a:avLst>
            </a:prstGeom>
            <a:solidFill>
              <a:srgbClr val="111111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42"/>
            <p:cNvSpPr/>
            <p:nvPr/>
          </p:nvSpPr>
          <p:spPr>
            <a:xfrm>
              <a:off x="0" y="0"/>
              <a:ext cx="3143400" cy="3524400"/>
            </a:xfrm>
            <a:prstGeom prst="roundRect">
              <a:avLst>
                <a:gd fmla="val 1818" name="adj"/>
              </a:avLst>
            </a:prstGeom>
            <a:solidFill>
              <a:srgbClr val="FFFFFF"/>
            </a:solidFill>
            <a:ln cap="flat" cmpd="sng" w="28575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42"/>
            <p:cNvSpPr/>
            <p:nvPr/>
          </p:nvSpPr>
          <p:spPr>
            <a:xfrm>
              <a:off x="142875" y="142875"/>
              <a:ext cx="2857500" cy="333300"/>
            </a:xfrm>
            <a:prstGeom prst="roundRect">
              <a:avLst>
                <a:gd fmla="val 11428" name="adj"/>
              </a:avLst>
            </a:prstGeom>
            <a:solidFill>
              <a:srgbClr val="FFCC00"/>
            </a:solidFill>
            <a:ln cap="flat" cmpd="sng" w="1905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42"/>
            <p:cNvSpPr txBox="1"/>
            <p:nvPr/>
          </p:nvSpPr>
          <p:spPr>
            <a:xfrm>
              <a:off x="142875" y="142875"/>
              <a:ext cx="2857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CONTACT &amp; SOCIAL</a:t>
              </a:r>
              <a:endParaRPr b="0" sz="1000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413" name="Google Shape;1413;p42"/>
            <p:cNvSpPr/>
            <p:nvPr/>
          </p:nvSpPr>
          <p:spPr>
            <a:xfrm>
              <a:off x="142875" y="619125"/>
              <a:ext cx="238200" cy="238200"/>
            </a:xfrm>
            <a:prstGeom prst="roundRect">
              <a:avLst>
                <a:gd fmla="val 16000" name="adj"/>
              </a:avLst>
            </a:prstGeom>
            <a:solidFill>
              <a:srgbClr val="111111"/>
            </a:solidFill>
            <a:ln cap="flat" cmpd="sng" w="1905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42"/>
            <p:cNvSpPr txBox="1"/>
            <p:nvPr/>
          </p:nvSpPr>
          <p:spPr>
            <a:xfrm>
              <a:off x="142875" y="619125"/>
              <a:ext cx="2382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R2</a:t>
              </a:r>
              <a:endParaRPr b="0" sz="10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415" name="Google Shape;1415;p42"/>
            <p:cNvSpPr txBox="1"/>
            <p:nvPr/>
          </p:nvSpPr>
          <p:spPr>
            <a:xfrm>
              <a:off x="476250" y="619125"/>
              <a:ext cx="25242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650">
                  <a:solidFill>
                    <a:srgbClr val="55555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GET IN TOUCH</a:t>
              </a:r>
              <a:endParaRPr b="0" sz="650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281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Connect Directly</a:t>
              </a:r>
              <a:endParaRPr b="0" sz="1150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675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Website:</a:t>
              </a:r>
              <a:r>
                <a:rPr b="0" lang="en" sz="105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b="1" lang="en" sz="1050">
                  <a:solidFill>
                    <a:srgbClr val="111111"/>
                  </a:solidFill>
                  <a:uFill>
                    <a:noFill/>
                  </a:uFill>
                  <a:latin typeface="Inter"/>
                  <a:ea typeface="Inter"/>
                  <a:cs typeface="Inter"/>
                  <a:sym typeface="Inter"/>
                  <a:hlinkClick r:id="rId5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gokulp.in</a:t>
              </a:r>
              <a:endParaRPr b="0" sz="1050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675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Email:</a:t>
              </a:r>
              <a:r>
                <a:rPr b="0" lang="en" sz="105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b="1" lang="en" sz="1050">
                  <a:solidFill>
                    <a:srgbClr val="111111"/>
                  </a:solidFill>
                  <a:uFill>
                    <a:noFill/>
                  </a:uFill>
                  <a:latin typeface="Inter"/>
                  <a:ea typeface="Inter"/>
                  <a:cs typeface="Inter"/>
                  <a:sym typeface="Inter"/>
                  <a:hlinkClick r:id="rId6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me@gokulp.in</a:t>
              </a:r>
              <a:endParaRPr b="0" sz="1050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675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LinkedIn:</a:t>
              </a:r>
              <a:r>
                <a:rPr b="0" lang="en" sz="105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b="1" lang="en" sz="1050">
                  <a:solidFill>
                    <a:srgbClr val="111111"/>
                  </a:solidFill>
                  <a:uFill>
                    <a:noFill/>
                  </a:uFill>
                  <a:latin typeface="Inter"/>
                  <a:ea typeface="Inter"/>
                  <a:cs typeface="Inter"/>
                  <a:sym typeface="Inter"/>
                  <a:hlinkClick r:id="rId7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linkedin.com/in/pgokul695</a:t>
              </a:r>
              <a:endParaRPr b="0" sz="1050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675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GitHub:</a:t>
              </a:r>
              <a:r>
                <a:rPr b="0" lang="en" sz="105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b="1" lang="en" sz="1050">
                  <a:solidFill>
                    <a:srgbClr val="111111"/>
                  </a:solidFill>
                  <a:uFill>
                    <a:noFill/>
                  </a:uFill>
                  <a:latin typeface="Inter"/>
                  <a:ea typeface="Inter"/>
                  <a:cs typeface="Inter"/>
                  <a:sym typeface="Inter"/>
                  <a:hlinkClick r:id="rId8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github.com/pgokul695</a:t>
              </a:r>
              <a:endParaRPr b="0" sz="1050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1416" name="Google Shape;1416;p42"/>
          <p:cNvSpPr txBox="1"/>
          <p:nvPr/>
        </p:nvSpPr>
        <p:spPr>
          <a:xfrm>
            <a:off x="7572375" y="1047750"/>
            <a:ext cx="14289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648">
              <a:solidFill>
                <a:srgbClr val="FFCC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